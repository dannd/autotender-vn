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1.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2.xml" ContentType="application/vnd.openxmlformats-officedocument.drawingml.chart+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6" d="100"/>
          <a:sy n="86" d="100"/>
        </p:scale>
        <p:origin x="533"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7212B"/>
                </a:solidFill>
                <a:latin typeface="Arial"/>
              </a:defRPr>
            </a:pPr>
            <a:r>
              <a:rPr sz="1300" b="0" i="0" u="none" strike="noStrike">
                <a:solidFill>
                  <a:srgbClr val="17212B"/>
                </a:solidFill>
                <a:latin typeface="Arial"/>
              </a:rPr>
              <a:t>Độ tách biệt không gian embedding</a:t>
            </a:r>
          </a:p>
        </c:rich>
      </c:tx>
      <c:overlay val="0"/>
    </c:title>
    <c:autoTitleDeleted val="0"/>
    <c:plotArea>
      <c:layout/>
      <c:barChart>
        <c:barDir val="col"/>
        <c:grouping val="clustered"/>
        <c:varyColors val="0"/>
        <c:ser>
          <c:idx val="0"/>
          <c:order val="0"/>
          <c:tx>
            <c:strRef>
              <c:f>Sheet1!$B$1</c:f>
              <c:strCache>
                <c:ptCount val="1"/>
                <c:pt idx="0">
                  <c:v>Độ tách biệt (intra − inter)</c:v>
                </c:pt>
              </c:strCache>
            </c:strRef>
          </c:tx>
          <c:spPr>
            <a:solidFill>
              <a:srgbClr val="2B6E62"/>
            </a:solidFill>
            <a:effectLst/>
          </c:spPr>
          <c:invertIfNegative val="0"/>
          <c:dLbls>
            <c:numFmt formatCode="0.0000" sourceLinked="0"/>
            <c:spPr>
              <a:noFill/>
              <a:ln>
                <a:noFill/>
              </a:ln>
              <a:effectLst/>
            </c:spPr>
            <c:txPr>
              <a:bodyPr/>
              <a:lstStyle/>
              <a:p>
                <a:pPr>
                  <a:defRPr sz="1200" b="0" i="0" u="none" strike="noStrike">
                    <a:solidFill>
                      <a:srgbClr val="17212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vi_bi_encoder
(768d, SimCSE tiếng Việt)</c:v>
                </c:pt>
                <c:pt idx="1">
                  <c:v>multilingual_minilm
(384d, đa ngôn ngữ)</c:v>
                </c:pt>
                <c:pt idx="2">
                  <c:v>bge-m3
(1024d, ngữ cảnh dài)</c:v>
                </c:pt>
              </c:strCache>
            </c:strRef>
          </c:cat>
          <c:val>
            <c:numRef>
              <c:f>Sheet1!$B$2:$B$4</c:f>
              <c:numCache>
                <c:formatCode>General</c:formatCode>
                <c:ptCount val="3"/>
                <c:pt idx="0">
                  <c:v>0.18360000000000001</c:v>
                </c:pt>
                <c:pt idx="1">
                  <c:v>0.16739999999999999</c:v>
                </c:pt>
                <c:pt idx="2">
                  <c:v>0.11550000000000001</c:v>
                </c:pt>
              </c:numCache>
            </c:numRef>
          </c:val>
          <c:extLst>
            <c:ext xmlns:c16="http://schemas.microsoft.com/office/drawing/2014/chart" uri="{C3380CC4-5D6E-409C-BE32-E72D297353CC}">
              <c16:uniqueId val="{00000000-F413-4992-BA96-50D88B9FF331}"/>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5B6672"/>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9525" cap="flat">
              <a:solidFill>
                <a:srgbClr val="D9D4C5"/>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6672"/>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Recall@5</c:v>
                </c:pt>
              </c:strCache>
            </c:strRef>
          </c:tx>
          <c:spPr>
            <a:solidFill>
              <a:srgbClr val="5B6672"/>
            </a:solidFill>
            <a:effectLst/>
          </c:spPr>
          <c:invertIfNegative val="0"/>
          <c:dLbls>
            <c:numFmt formatCode="0.00" sourceLinked="0"/>
            <c:spPr>
              <a:noFill/>
              <a:ln>
                <a:noFill/>
              </a:ln>
              <a:effectLst/>
            </c:spPr>
            <c:txPr>
              <a:bodyPr/>
              <a:lstStyle/>
              <a:p>
                <a:pPr>
                  <a:defRPr sz="900" b="0" i="0" u="none" strike="noStrike">
                    <a:solidFill>
                      <a:srgbClr val="17212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BM25</c:v>
                </c:pt>
                <c:pt idx="1">
                  <c:v>Dense</c:v>
                </c:pt>
                <c:pt idx="2">
                  <c:v>Hybrid RRF</c:v>
                </c:pt>
                <c:pt idx="3">
                  <c:v>Hybrid+Rerank</c:v>
                </c:pt>
              </c:strCache>
            </c:strRef>
          </c:cat>
          <c:val>
            <c:numRef>
              <c:f>Sheet1!$B$2:$B$5</c:f>
              <c:numCache>
                <c:formatCode>General</c:formatCode>
                <c:ptCount val="4"/>
                <c:pt idx="0">
                  <c:v>0.56499999999999995</c:v>
                </c:pt>
                <c:pt idx="1">
                  <c:v>0.69599999999999995</c:v>
                </c:pt>
                <c:pt idx="2">
                  <c:v>0.67400000000000004</c:v>
                </c:pt>
                <c:pt idx="3">
                  <c:v>0.76100000000000001</c:v>
                </c:pt>
              </c:numCache>
            </c:numRef>
          </c:val>
          <c:extLst>
            <c:ext xmlns:c16="http://schemas.microsoft.com/office/drawing/2014/chart" uri="{C3380CC4-5D6E-409C-BE32-E72D297353CC}">
              <c16:uniqueId val="{00000000-B019-48BF-A512-01180258AEA2}"/>
            </c:ext>
          </c:extLst>
        </c:ser>
        <c:ser>
          <c:idx val="1"/>
          <c:order val="1"/>
          <c:tx>
            <c:strRef>
              <c:f>Sheet1!$C$1</c:f>
              <c:strCache>
                <c:ptCount val="1"/>
                <c:pt idx="0">
                  <c:v>MRR</c:v>
                </c:pt>
              </c:strCache>
            </c:strRef>
          </c:tx>
          <c:spPr>
            <a:solidFill>
              <a:srgbClr val="2B6E62"/>
            </a:solidFill>
            <a:effectLst/>
          </c:spPr>
          <c:invertIfNegative val="0"/>
          <c:dLbls>
            <c:numFmt formatCode="0.00" sourceLinked="0"/>
            <c:spPr>
              <a:noFill/>
              <a:ln>
                <a:noFill/>
              </a:ln>
              <a:effectLst/>
            </c:spPr>
            <c:txPr>
              <a:bodyPr/>
              <a:lstStyle/>
              <a:p>
                <a:pPr>
                  <a:defRPr sz="900" b="0" i="0" u="none" strike="noStrike">
                    <a:solidFill>
                      <a:srgbClr val="17212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BM25</c:v>
                </c:pt>
                <c:pt idx="1">
                  <c:v>Dense</c:v>
                </c:pt>
                <c:pt idx="2">
                  <c:v>Hybrid RRF</c:v>
                </c:pt>
                <c:pt idx="3">
                  <c:v>Hybrid+Rerank</c:v>
                </c:pt>
              </c:strCache>
            </c:strRef>
          </c:cat>
          <c:val>
            <c:numRef>
              <c:f>Sheet1!$C$2:$C$5</c:f>
              <c:numCache>
                <c:formatCode>General</c:formatCode>
                <c:ptCount val="4"/>
                <c:pt idx="0">
                  <c:v>0.38500000000000001</c:v>
                </c:pt>
                <c:pt idx="1">
                  <c:v>0.54600000000000004</c:v>
                </c:pt>
                <c:pt idx="2">
                  <c:v>0.53700000000000003</c:v>
                </c:pt>
                <c:pt idx="3">
                  <c:v>0.58699999999999997</c:v>
                </c:pt>
              </c:numCache>
            </c:numRef>
          </c:val>
          <c:extLst>
            <c:ext xmlns:c16="http://schemas.microsoft.com/office/drawing/2014/chart" uri="{C3380CC4-5D6E-409C-BE32-E72D297353CC}">
              <c16:uniqueId val="{00000001-B019-48BF-A512-01180258AEA2}"/>
            </c:ext>
          </c:extLst>
        </c:ser>
        <c:ser>
          <c:idx val="2"/>
          <c:order val="2"/>
          <c:tx>
            <c:strRef>
              <c:f>Sheet1!$D$1</c:f>
              <c:strCache>
                <c:ptCount val="1"/>
                <c:pt idx="0">
                  <c:v>nDCG@5</c:v>
                </c:pt>
              </c:strCache>
            </c:strRef>
          </c:tx>
          <c:spPr>
            <a:solidFill>
              <a:srgbClr val="B8863B"/>
            </a:solidFill>
            <a:effectLst/>
          </c:spPr>
          <c:invertIfNegative val="0"/>
          <c:dLbls>
            <c:numFmt formatCode="0.00" sourceLinked="0"/>
            <c:spPr>
              <a:noFill/>
              <a:ln>
                <a:noFill/>
              </a:ln>
              <a:effectLst/>
            </c:spPr>
            <c:txPr>
              <a:bodyPr/>
              <a:lstStyle/>
              <a:p>
                <a:pPr>
                  <a:defRPr sz="900" b="0" i="0" u="none" strike="noStrike">
                    <a:solidFill>
                      <a:srgbClr val="17212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BM25</c:v>
                </c:pt>
                <c:pt idx="1">
                  <c:v>Dense</c:v>
                </c:pt>
                <c:pt idx="2">
                  <c:v>Hybrid RRF</c:v>
                </c:pt>
                <c:pt idx="3">
                  <c:v>Hybrid+Rerank</c:v>
                </c:pt>
              </c:strCache>
            </c:strRef>
          </c:cat>
          <c:val>
            <c:numRef>
              <c:f>Sheet1!$D$2:$D$5</c:f>
              <c:numCache>
                <c:formatCode>General</c:formatCode>
                <c:ptCount val="4"/>
                <c:pt idx="0">
                  <c:v>0.42599999999999999</c:v>
                </c:pt>
                <c:pt idx="1">
                  <c:v>0.57999999999999996</c:v>
                </c:pt>
                <c:pt idx="2">
                  <c:v>0.56399999999999995</c:v>
                </c:pt>
                <c:pt idx="3">
                  <c:v>0.627</c:v>
                </c:pt>
              </c:numCache>
            </c:numRef>
          </c:val>
          <c:extLst>
            <c:ext xmlns:c16="http://schemas.microsoft.com/office/drawing/2014/chart" uri="{C3380CC4-5D6E-409C-BE32-E72D297353CC}">
              <c16:uniqueId val="{00000002-B019-48BF-A512-01180258AEA2}"/>
            </c:ext>
          </c:extLst>
        </c:ser>
        <c:dLbls>
          <c:showLegendKey val="0"/>
          <c:showVal val="1"/>
          <c:showCatName val="0"/>
          <c:showSerName val="0"/>
          <c:showPercent val="0"/>
          <c:showBubbleSize val="0"/>
        </c:dLbls>
        <c:gapWidth val="4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50" b="0" i="0" u="none" strike="noStrike">
                <a:solidFill>
                  <a:srgbClr val="17212B"/>
                </a:solidFill>
                <a:latin typeface="Arial"/>
              </a:defRPr>
            </a:pPr>
            <a:endParaRPr lang="en-US"/>
          </a:p>
        </c:txPr>
        <c:crossAx val="2094734552"/>
        <c:crosses val="autoZero"/>
        <c:auto val="1"/>
        <c:lblAlgn val="ctr"/>
        <c:lblOffset val="100"/>
        <c:noMultiLvlLbl val="1"/>
      </c:catAx>
      <c:valAx>
        <c:axId val="2094734552"/>
        <c:scaling>
          <c:orientation val="minMax"/>
          <c:max val="0.9"/>
        </c:scaling>
        <c:delete val="0"/>
        <c:axPos val="l"/>
        <c:majorGridlines>
          <c:spPr>
            <a:ln w="9525" cap="flat">
              <a:solidFill>
                <a:srgbClr val="D9D4C5"/>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6672"/>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17212B"/>
              </a:solidFill>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992311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212B"/>
        </a:solidFill>
        <a:effectLst/>
      </p:bgPr>
    </p:bg>
    <p:spTree>
      <p:nvGrpSpPr>
        <p:cNvPr id="1" name=""/>
        <p:cNvGrpSpPr/>
        <p:nvPr/>
      </p:nvGrpSpPr>
      <p:grpSpPr>
        <a:xfrm>
          <a:off x="0" y="0"/>
          <a:ext cx="0" cy="0"/>
          <a:chOff x="0" y="0"/>
          <a:chExt cx="0" cy="0"/>
        </a:xfrm>
      </p:grpSpPr>
      <p:sp>
        <p:nvSpPr>
          <p:cNvPr id="2" name="Text 0"/>
          <p:cNvSpPr/>
          <p:nvPr/>
        </p:nvSpPr>
        <p:spPr>
          <a:xfrm>
            <a:off x="822960" y="1371600"/>
            <a:ext cx="10515600" cy="365760"/>
          </a:xfrm>
          <a:prstGeom prst="rect">
            <a:avLst/>
          </a:prstGeom>
          <a:noFill/>
          <a:ln/>
        </p:spPr>
        <p:txBody>
          <a:bodyPr wrap="square" rtlCol="0" anchor="ctr"/>
          <a:lstStyle/>
          <a:p>
            <a:pPr marL="0" indent="0">
              <a:buNone/>
            </a:pPr>
            <a:r>
              <a:rPr lang="en-US" sz="1300" b="1" kern="0" spc="200" dirty="0">
                <a:solidFill>
                  <a:srgbClr val="2B6E62"/>
                </a:solidFill>
                <a:latin typeface="Calibri" pitchFamily="34" charset="0"/>
                <a:ea typeface="Calibri" pitchFamily="34" charset="-122"/>
                <a:cs typeface="Calibri" pitchFamily="34" charset="-120"/>
              </a:rPr>
              <a:t>ĐỒ ÁN CUỐI MÔN · DEEP LEARNING · BẬC THẠC SĨ</a:t>
            </a:r>
            <a:endParaRPr lang="en-US" sz="1300" dirty="0"/>
          </a:p>
        </p:txBody>
      </p:sp>
      <p:sp>
        <p:nvSpPr>
          <p:cNvPr id="3" name="Text 1"/>
          <p:cNvSpPr/>
          <p:nvPr/>
        </p:nvSpPr>
        <p:spPr>
          <a:xfrm>
            <a:off x="822960" y="1783080"/>
            <a:ext cx="10515600" cy="1097280"/>
          </a:xfrm>
          <a:prstGeom prst="rect">
            <a:avLst/>
          </a:prstGeom>
          <a:noFill/>
          <a:ln/>
        </p:spPr>
        <p:txBody>
          <a:bodyPr wrap="square" rtlCol="0" anchor="ctr"/>
          <a:lstStyle/>
          <a:p>
            <a:pPr marL="0" indent="0">
              <a:buNone/>
            </a:pPr>
            <a:r>
              <a:rPr lang="en-US" sz="5400" b="1" dirty="0">
                <a:solidFill>
                  <a:srgbClr val="FFFFFF"/>
                </a:solidFill>
                <a:latin typeface="Cambria" pitchFamily="34" charset="0"/>
                <a:ea typeface="Cambria" pitchFamily="34" charset="-122"/>
                <a:cs typeface="Cambria" pitchFamily="34" charset="-120"/>
              </a:rPr>
              <a:t>AutoTender-VN</a:t>
            </a:r>
            <a:endParaRPr lang="en-US" sz="5400" dirty="0"/>
          </a:p>
        </p:txBody>
      </p:sp>
      <p:sp>
        <p:nvSpPr>
          <p:cNvPr id="4" name="Text 2"/>
          <p:cNvSpPr/>
          <p:nvPr/>
        </p:nvSpPr>
        <p:spPr>
          <a:xfrm>
            <a:off x="822960" y="2880360"/>
            <a:ext cx="9875520" cy="1005840"/>
          </a:xfrm>
          <a:prstGeom prst="rect">
            <a:avLst/>
          </a:prstGeom>
          <a:noFill/>
          <a:ln/>
        </p:spPr>
        <p:txBody>
          <a:bodyPr wrap="square" rtlCol="0" anchor="ctr"/>
          <a:lstStyle/>
          <a:p>
            <a:pPr marL="0" indent="0">
              <a:lnSpc>
                <a:spcPts val="2600"/>
              </a:lnSpc>
              <a:buNone/>
            </a:pPr>
            <a:r>
              <a:rPr lang="en-US" sz="1900" dirty="0">
                <a:solidFill>
                  <a:srgbClr val="CFE0DC"/>
                </a:solidFill>
                <a:latin typeface="Calibri" pitchFamily="34" charset="0"/>
                <a:ea typeface="Calibri" pitchFamily="34" charset="-122"/>
                <a:cs typeface="Calibri" pitchFamily="34" charset="-120"/>
              </a:rPr>
              <a:t>Hệ thống RAG hỗ trợ soạn thảo Hồ sơ mời thầu Công nghệ thông tin</a:t>
            </a:r>
            <a:endParaRPr lang="en-US" sz="1900" dirty="0"/>
          </a:p>
          <a:p>
            <a:pPr marL="0" indent="0">
              <a:lnSpc>
                <a:spcPts val="2600"/>
              </a:lnSpc>
              <a:buNone/>
            </a:pPr>
            <a:r>
              <a:rPr lang="en-US" sz="1900" dirty="0">
                <a:solidFill>
                  <a:srgbClr val="CFE0DC"/>
                </a:solidFill>
                <a:latin typeface="Calibri" pitchFamily="34" charset="0"/>
                <a:ea typeface="Calibri" pitchFamily="34" charset="-122"/>
                <a:cs typeface="Calibri" pitchFamily="34" charset="-120"/>
              </a:rPr>
              <a:t>dựa trên Kho tri thức Pháp luật Đấu thầu Việt Nam</a:t>
            </a:r>
            <a:endParaRPr lang="en-US" sz="1900" dirty="0"/>
          </a:p>
        </p:txBody>
      </p:sp>
      <p:sp>
        <p:nvSpPr>
          <p:cNvPr id="5" name="Shape 3"/>
          <p:cNvSpPr/>
          <p:nvPr/>
        </p:nvSpPr>
        <p:spPr>
          <a:xfrm>
            <a:off x="822960" y="4160520"/>
            <a:ext cx="2926080" cy="0"/>
          </a:xfrm>
          <a:prstGeom prst="line">
            <a:avLst/>
          </a:prstGeom>
          <a:noFill/>
          <a:ln w="31750">
            <a:solidFill>
              <a:srgbClr val="2B6E62"/>
            </a:solidFill>
            <a:prstDash val="solid"/>
          </a:ln>
        </p:spPr>
      </p:sp>
      <p:sp>
        <p:nvSpPr>
          <p:cNvPr id="6" name="Text 4"/>
          <p:cNvSpPr/>
          <p:nvPr/>
        </p:nvSpPr>
        <p:spPr>
          <a:xfrm>
            <a:off x="822960" y="4434840"/>
            <a:ext cx="10515600" cy="457200"/>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Nguyễn Đình Đán  •  Nguyễn Văn Vũ  •  </a:t>
            </a:r>
            <a:r>
              <a:rPr lang="en-US" sz="1500" b="1" dirty="0" err="1">
                <a:solidFill>
                  <a:srgbClr val="FFFFFF"/>
                </a:solidFill>
                <a:latin typeface="Calibri" pitchFamily="34" charset="0"/>
                <a:ea typeface="Calibri" pitchFamily="34" charset="-122"/>
                <a:cs typeface="Calibri" pitchFamily="34" charset="-120"/>
              </a:rPr>
              <a:t>Trần</a:t>
            </a:r>
            <a:r>
              <a:rPr lang="en-US" sz="1500" b="1" dirty="0">
                <a:solidFill>
                  <a:srgbClr val="FFFFFF"/>
                </a:solidFill>
                <a:latin typeface="Calibri" pitchFamily="34" charset="0"/>
                <a:ea typeface="Calibri" pitchFamily="34" charset="-122"/>
                <a:cs typeface="Calibri" pitchFamily="34" charset="-120"/>
              </a:rPr>
              <a:t> Việt Hoa  •  Hoàng Xuân Sơn  •  Nguyễn Thái Thịnh</a:t>
            </a:r>
            <a:endParaRPr lang="en-US" sz="1500" dirty="0"/>
          </a:p>
        </p:txBody>
      </p:sp>
      <p:sp>
        <p:nvSpPr>
          <p:cNvPr id="7" name="Text 5"/>
          <p:cNvSpPr/>
          <p:nvPr/>
        </p:nvSpPr>
        <p:spPr>
          <a:xfrm>
            <a:off x="822960" y="4846320"/>
            <a:ext cx="10515600" cy="365760"/>
          </a:xfrm>
          <a:prstGeom prst="rect">
            <a:avLst/>
          </a:prstGeom>
          <a:noFill/>
          <a:ln/>
        </p:spPr>
        <p:txBody>
          <a:bodyPr wrap="square" rtlCol="0" anchor="ctr"/>
          <a:lstStyle/>
          <a:p>
            <a:pPr marL="0" indent="0">
              <a:buNone/>
            </a:pPr>
            <a:r>
              <a:rPr lang="en-US" sz="1300" i="1" dirty="0">
                <a:solidFill>
                  <a:srgbClr val="9FB0AB"/>
                </a:solidFill>
                <a:latin typeface="Calibri" pitchFamily="34" charset="0"/>
                <a:ea typeface="Calibri" pitchFamily="34" charset="-122"/>
                <a:cs typeface="Calibri" pitchFamily="34" charset="-120"/>
              </a:rPr>
              <a:t>Trường Kinh doanh FSB, Đại học FPT</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F0E9"/>
        </a:solidFill>
        <a:effectLst/>
      </p:bgPr>
    </p:bg>
    <p:spTree>
      <p:nvGrpSpPr>
        <p:cNvPr id="1" name=""/>
        <p:cNvGrpSpPr/>
        <p:nvPr/>
      </p:nvGrpSpPr>
      <p:grpSpPr>
        <a:xfrm>
          <a:off x="0" y="0"/>
          <a:ext cx="0" cy="0"/>
          <a:chOff x="0" y="0"/>
          <a:chExt cx="0" cy="0"/>
        </a:xfrm>
      </p:grpSpPr>
      <p:sp>
        <p:nvSpPr>
          <p:cNvPr id="2" name="Text 0"/>
          <p:cNvSpPr/>
          <p:nvPr/>
        </p:nvSpPr>
        <p:spPr>
          <a:xfrm>
            <a:off x="548640" y="365760"/>
            <a:ext cx="7315200" cy="365760"/>
          </a:xfrm>
          <a:prstGeom prst="rect">
            <a:avLst/>
          </a:prstGeom>
          <a:noFill/>
          <a:ln/>
        </p:spPr>
        <p:txBody>
          <a:bodyPr wrap="square" rtlCol="0" anchor="ctr"/>
          <a:lstStyle/>
          <a:p>
            <a:pPr marL="0" indent="0">
              <a:buNone/>
            </a:pPr>
            <a:r>
              <a:rPr lang="en-US" sz="1200" b="1" kern="0" spc="200" dirty="0">
                <a:solidFill>
                  <a:srgbClr val="2B6E62"/>
                </a:solidFill>
                <a:latin typeface="Calibri" pitchFamily="34" charset="0"/>
                <a:ea typeface="Calibri" pitchFamily="34" charset="-122"/>
                <a:cs typeface="Calibri" pitchFamily="34" charset="-120"/>
              </a:rPr>
              <a:t>VẤN ĐỀ &amp; ĐỘNG LỰC</a:t>
            </a:r>
            <a:endParaRPr lang="en-US" sz="1200" dirty="0"/>
          </a:p>
        </p:txBody>
      </p:sp>
      <p:sp>
        <p:nvSpPr>
          <p:cNvPr id="3" name="Text 1"/>
          <p:cNvSpPr/>
          <p:nvPr/>
        </p:nvSpPr>
        <p:spPr>
          <a:xfrm>
            <a:off x="548640" y="685800"/>
            <a:ext cx="11064240" cy="822960"/>
          </a:xfrm>
          <a:prstGeom prst="rect">
            <a:avLst/>
          </a:prstGeom>
          <a:noFill/>
          <a:ln/>
        </p:spPr>
        <p:txBody>
          <a:bodyPr wrap="square" rtlCol="0" anchor="ctr"/>
          <a:lstStyle/>
          <a:p>
            <a:pPr marL="0" indent="0" algn="l">
              <a:buNone/>
            </a:pPr>
            <a:r>
              <a:rPr lang="en-US" sz="3200" b="1" dirty="0">
                <a:solidFill>
                  <a:srgbClr val="17212B"/>
                </a:solidFill>
                <a:latin typeface="Cambria" pitchFamily="34" charset="0"/>
                <a:ea typeface="Cambria" pitchFamily="34" charset="-122"/>
                <a:cs typeface="Cambria" pitchFamily="34" charset="-120"/>
              </a:rPr>
              <a:t>Soạn HSMT đúng luật là việc chậm, rủi ro, và khó tự động hoá an toàn</a:t>
            </a:r>
            <a:endParaRPr lang="en-US" sz="3200" dirty="0"/>
          </a:p>
        </p:txBody>
      </p:sp>
      <p:sp>
        <p:nvSpPr>
          <p:cNvPr id="4" name="Shape 2"/>
          <p:cNvSpPr/>
          <p:nvPr/>
        </p:nvSpPr>
        <p:spPr>
          <a:xfrm>
            <a:off x="548640" y="2148840"/>
            <a:ext cx="3520440" cy="2834640"/>
          </a:xfrm>
          <a:prstGeom prst="roundRect">
            <a:avLst>
              <a:gd name="adj" fmla="val 2581"/>
            </a:avLst>
          </a:prstGeom>
          <a:solidFill>
            <a:srgbClr val="FFFFFF"/>
          </a:solidFill>
          <a:ln/>
          <a:effectLst>
            <a:outerShdw blurRad="76200" dist="25400" dir="5400000" algn="bl" rotWithShape="0">
              <a:srgbClr val="000000">
                <a:alpha val="12000"/>
              </a:srgbClr>
            </a:outerShdw>
          </a:effectLst>
        </p:spPr>
      </p:sp>
      <p:sp>
        <p:nvSpPr>
          <p:cNvPr id="5" name="Shape 3"/>
          <p:cNvSpPr/>
          <p:nvPr/>
        </p:nvSpPr>
        <p:spPr>
          <a:xfrm>
            <a:off x="868680" y="2468880"/>
            <a:ext cx="548640" cy="548640"/>
          </a:xfrm>
          <a:prstGeom prst="ellipse">
            <a:avLst/>
          </a:prstGeom>
          <a:solidFill>
            <a:srgbClr val="2B6E62"/>
          </a:solidFill>
          <a:ln/>
        </p:spPr>
      </p:sp>
      <p:sp>
        <p:nvSpPr>
          <p:cNvPr id="6" name="Text 4"/>
          <p:cNvSpPr/>
          <p:nvPr/>
        </p:nvSpPr>
        <p:spPr>
          <a:xfrm>
            <a:off x="868680" y="2468880"/>
            <a:ext cx="548640" cy="548640"/>
          </a:xfrm>
          <a:prstGeom prst="rect">
            <a:avLst/>
          </a:prstGeom>
          <a:noFill/>
          <a:ln/>
        </p:spPr>
        <p:txBody>
          <a:bodyPr wrap="square"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7" name="Text 5"/>
          <p:cNvSpPr/>
          <p:nvPr/>
        </p:nvSpPr>
        <p:spPr>
          <a:xfrm>
            <a:off x="868680" y="3200400"/>
            <a:ext cx="2880360" cy="685800"/>
          </a:xfrm>
          <a:prstGeom prst="rect">
            <a:avLst/>
          </a:prstGeom>
          <a:noFill/>
          <a:ln/>
        </p:spPr>
        <p:txBody>
          <a:bodyPr wrap="square" rtlCol="0" anchor="ctr"/>
          <a:lstStyle/>
          <a:p>
            <a:pPr marL="0" indent="0">
              <a:buNone/>
            </a:pPr>
            <a:r>
              <a:rPr lang="en-US" sz="1700" b="1" dirty="0">
                <a:solidFill>
                  <a:srgbClr val="17212B"/>
                </a:solidFill>
                <a:latin typeface="Cambria" pitchFamily="34" charset="0"/>
                <a:ea typeface="Cambria" pitchFamily="34" charset="-122"/>
                <a:cs typeface="Cambria" pitchFamily="34" charset="-120"/>
              </a:rPr>
              <a:t>Pháp luật thay đổi liên tục</a:t>
            </a:r>
            <a:endParaRPr lang="en-US" sz="1700" dirty="0"/>
          </a:p>
        </p:txBody>
      </p:sp>
      <p:sp>
        <p:nvSpPr>
          <p:cNvPr id="8" name="Text 6"/>
          <p:cNvSpPr/>
          <p:nvPr/>
        </p:nvSpPr>
        <p:spPr>
          <a:xfrm>
            <a:off x="868680" y="3840480"/>
            <a:ext cx="2880360" cy="1005840"/>
          </a:xfrm>
          <a:prstGeom prst="rect">
            <a:avLst/>
          </a:prstGeom>
          <a:noFill/>
          <a:ln/>
        </p:spPr>
        <p:txBody>
          <a:bodyPr wrap="square" rtlCol="0" anchor="ctr"/>
          <a:lstStyle/>
          <a:p>
            <a:pPr marL="0" indent="0">
              <a:lnSpc>
                <a:spcPts val="1700"/>
              </a:lnSpc>
              <a:buNone/>
            </a:pPr>
            <a:r>
              <a:rPr lang="en-US" sz="1250" dirty="0">
                <a:solidFill>
                  <a:srgbClr val="5B6672"/>
                </a:solidFill>
                <a:latin typeface="Calibri" pitchFamily="34" charset="0"/>
                <a:ea typeface="Calibri" pitchFamily="34" charset="-122"/>
                <a:cs typeface="Calibri" pitchFamily="34" charset="-120"/>
              </a:rPr>
              <a:t>Luật gốc + 2 luật sửa đổi + nghị định + thông tư — người soạn phải đối chiếu nhiều văn bản cùng lúc.</a:t>
            </a:r>
            <a:endParaRPr lang="en-US" sz="1250" dirty="0"/>
          </a:p>
        </p:txBody>
      </p:sp>
      <p:sp>
        <p:nvSpPr>
          <p:cNvPr id="9" name="Shape 7"/>
          <p:cNvSpPr/>
          <p:nvPr/>
        </p:nvSpPr>
        <p:spPr>
          <a:xfrm>
            <a:off x="4389120" y="2148840"/>
            <a:ext cx="3520440" cy="2834640"/>
          </a:xfrm>
          <a:prstGeom prst="roundRect">
            <a:avLst>
              <a:gd name="adj" fmla="val 2581"/>
            </a:avLst>
          </a:prstGeom>
          <a:solidFill>
            <a:srgbClr val="FFFFFF"/>
          </a:solidFill>
          <a:ln/>
          <a:effectLst>
            <a:outerShdw blurRad="76200" dist="25400" dir="5400000" algn="bl" rotWithShape="0">
              <a:srgbClr val="000000">
                <a:alpha val="12000"/>
              </a:srgbClr>
            </a:outerShdw>
          </a:effectLst>
        </p:spPr>
      </p:sp>
      <p:sp>
        <p:nvSpPr>
          <p:cNvPr id="10" name="Shape 8"/>
          <p:cNvSpPr/>
          <p:nvPr/>
        </p:nvSpPr>
        <p:spPr>
          <a:xfrm>
            <a:off x="4709160" y="2468880"/>
            <a:ext cx="548640" cy="548640"/>
          </a:xfrm>
          <a:prstGeom prst="ellipse">
            <a:avLst/>
          </a:prstGeom>
          <a:solidFill>
            <a:srgbClr val="2B6E62"/>
          </a:solidFill>
          <a:ln/>
        </p:spPr>
      </p:sp>
      <p:sp>
        <p:nvSpPr>
          <p:cNvPr id="11" name="Text 9"/>
          <p:cNvSpPr/>
          <p:nvPr/>
        </p:nvSpPr>
        <p:spPr>
          <a:xfrm>
            <a:off x="4709160" y="2468880"/>
            <a:ext cx="548640" cy="548640"/>
          </a:xfrm>
          <a:prstGeom prst="rect">
            <a:avLst/>
          </a:prstGeom>
          <a:noFill/>
          <a:ln/>
        </p:spPr>
        <p:txBody>
          <a:bodyPr wrap="square"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2" name="Text 10"/>
          <p:cNvSpPr/>
          <p:nvPr/>
        </p:nvSpPr>
        <p:spPr>
          <a:xfrm>
            <a:off x="4709160" y="3200400"/>
            <a:ext cx="2880360" cy="685800"/>
          </a:xfrm>
          <a:prstGeom prst="rect">
            <a:avLst/>
          </a:prstGeom>
          <a:noFill/>
          <a:ln/>
        </p:spPr>
        <p:txBody>
          <a:bodyPr wrap="square" rtlCol="0" anchor="ctr"/>
          <a:lstStyle/>
          <a:p>
            <a:pPr marL="0" indent="0">
              <a:buNone/>
            </a:pPr>
            <a:r>
              <a:rPr lang="en-US" sz="1700" b="1" dirty="0">
                <a:solidFill>
                  <a:srgbClr val="17212B"/>
                </a:solidFill>
                <a:latin typeface="Cambria" pitchFamily="34" charset="0"/>
                <a:ea typeface="Cambria" pitchFamily="34" charset="-122"/>
                <a:cs typeface="Cambria" pitchFamily="34" charset="-120"/>
              </a:rPr>
              <a:t>Sai sót có hậu quả pháp lý</a:t>
            </a:r>
            <a:endParaRPr lang="en-US" sz="1700" dirty="0"/>
          </a:p>
        </p:txBody>
      </p:sp>
      <p:sp>
        <p:nvSpPr>
          <p:cNvPr id="13" name="Text 11"/>
          <p:cNvSpPr/>
          <p:nvPr/>
        </p:nvSpPr>
        <p:spPr>
          <a:xfrm>
            <a:off x="4709160" y="3840480"/>
            <a:ext cx="2880360" cy="1005840"/>
          </a:xfrm>
          <a:prstGeom prst="rect">
            <a:avLst/>
          </a:prstGeom>
          <a:noFill/>
          <a:ln/>
        </p:spPr>
        <p:txBody>
          <a:bodyPr wrap="square" rtlCol="0" anchor="ctr"/>
          <a:lstStyle/>
          <a:p>
            <a:pPr marL="0" indent="0">
              <a:lnSpc>
                <a:spcPts val="1700"/>
              </a:lnSpc>
              <a:buNone/>
            </a:pPr>
            <a:r>
              <a:rPr lang="en-US" sz="1250" dirty="0">
                <a:solidFill>
                  <a:srgbClr val="5B6672"/>
                </a:solidFill>
                <a:latin typeface="Calibri" pitchFamily="34" charset="0"/>
                <a:ea typeface="Calibri" pitchFamily="34" charset="-122"/>
                <a:cs typeface="Calibri" pitchFamily="34" charset="-120"/>
              </a:rPr>
              <a:t>Trích dẫn sai điều khoản hoặc dùng văn bản hết hiệu lực không đơn thuần là lỗi văn bản.</a:t>
            </a:r>
            <a:endParaRPr lang="en-US" sz="1250" dirty="0"/>
          </a:p>
        </p:txBody>
      </p:sp>
      <p:sp>
        <p:nvSpPr>
          <p:cNvPr id="14" name="Shape 12"/>
          <p:cNvSpPr/>
          <p:nvPr/>
        </p:nvSpPr>
        <p:spPr>
          <a:xfrm>
            <a:off x="8229600" y="2148840"/>
            <a:ext cx="3520440" cy="2834640"/>
          </a:xfrm>
          <a:prstGeom prst="roundRect">
            <a:avLst>
              <a:gd name="adj" fmla="val 2581"/>
            </a:avLst>
          </a:prstGeom>
          <a:solidFill>
            <a:srgbClr val="FFFFFF"/>
          </a:solidFill>
          <a:ln/>
          <a:effectLst>
            <a:outerShdw blurRad="76200" dist="25400" dir="5400000" algn="bl" rotWithShape="0">
              <a:srgbClr val="000000">
                <a:alpha val="12000"/>
              </a:srgbClr>
            </a:outerShdw>
          </a:effectLst>
        </p:spPr>
      </p:sp>
      <p:sp>
        <p:nvSpPr>
          <p:cNvPr id="15" name="Shape 13"/>
          <p:cNvSpPr/>
          <p:nvPr/>
        </p:nvSpPr>
        <p:spPr>
          <a:xfrm>
            <a:off x="8549640" y="2468880"/>
            <a:ext cx="548640" cy="548640"/>
          </a:xfrm>
          <a:prstGeom prst="ellipse">
            <a:avLst/>
          </a:prstGeom>
          <a:solidFill>
            <a:srgbClr val="2B6E62"/>
          </a:solidFill>
          <a:ln/>
        </p:spPr>
      </p:sp>
      <p:sp>
        <p:nvSpPr>
          <p:cNvPr id="16" name="Text 14"/>
          <p:cNvSpPr/>
          <p:nvPr/>
        </p:nvSpPr>
        <p:spPr>
          <a:xfrm>
            <a:off x="8549640" y="2468880"/>
            <a:ext cx="548640" cy="548640"/>
          </a:xfrm>
          <a:prstGeom prst="rect">
            <a:avLst/>
          </a:prstGeom>
          <a:noFill/>
          <a:ln/>
        </p:spPr>
        <p:txBody>
          <a:bodyPr wrap="square"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7" name="Text 15"/>
          <p:cNvSpPr/>
          <p:nvPr/>
        </p:nvSpPr>
        <p:spPr>
          <a:xfrm>
            <a:off x="8549640" y="3200400"/>
            <a:ext cx="2880360" cy="685800"/>
          </a:xfrm>
          <a:prstGeom prst="rect">
            <a:avLst/>
          </a:prstGeom>
          <a:noFill/>
          <a:ln/>
        </p:spPr>
        <p:txBody>
          <a:bodyPr wrap="square" rtlCol="0" anchor="ctr"/>
          <a:lstStyle/>
          <a:p>
            <a:pPr marL="0" indent="0">
              <a:buNone/>
            </a:pPr>
            <a:r>
              <a:rPr lang="en-US" sz="1700" b="1" dirty="0">
                <a:solidFill>
                  <a:srgbClr val="17212B"/>
                </a:solidFill>
                <a:latin typeface="Cambria" pitchFamily="34" charset="0"/>
                <a:ea typeface="Cambria" pitchFamily="34" charset="-122"/>
                <a:cs typeface="Cambria" pitchFamily="34" charset="-120"/>
              </a:rPr>
              <a:t>Gọi thẳng LLM không đủ an toàn</a:t>
            </a:r>
            <a:endParaRPr lang="en-US" sz="1700" dirty="0"/>
          </a:p>
        </p:txBody>
      </p:sp>
      <p:sp>
        <p:nvSpPr>
          <p:cNvPr id="18" name="Text 16"/>
          <p:cNvSpPr/>
          <p:nvPr/>
        </p:nvSpPr>
        <p:spPr>
          <a:xfrm>
            <a:off x="8549640" y="3840480"/>
            <a:ext cx="2880360" cy="1005840"/>
          </a:xfrm>
          <a:prstGeom prst="rect">
            <a:avLst/>
          </a:prstGeom>
          <a:noFill/>
          <a:ln/>
        </p:spPr>
        <p:txBody>
          <a:bodyPr wrap="square" rtlCol="0" anchor="ctr"/>
          <a:lstStyle/>
          <a:p>
            <a:pPr marL="0" indent="0">
              <a:lnSpc>
                <a:spcPts val="1700"/>
              </a:lnSpc>
              <a:buNone/>
            </a:pPr>
            <a:r>
              <a:rPr lang="en-US" sz="1250" dirty="0">
                <a:solidFill>
                  <a:srgbClr val="5B6672"/>
                </a:solidFill>
                <a:latin typeface="Calibri" pitchFamily="34" charset="0"/>
                <a:ea typeface="Calibri" pitchFamily="34" charset="-122"/>
                <a:cs typeface="Calibri" pitchFamily="34" charset="-120"/>
              </a:rPr>
              <a:t>Mô hình ngôn ngữ có thể “ảo giác” — tự bịa điều khoản nghe hợp lý nhưng không có thật.</a:t>
            </a:r>
            <a:endParaRPr lang="en-US" sz="1250" dirty="0"/>
          </a:p>
        </p:txBody>
      </p:sp>
      <p:sp>
        <p:nvSpPr>
          <p:cNvPr id="19" name="Text 17"/>
          <p:cNvSpPr/>
          <p:nvPr/>
        </p:nvSpPr>
        <p:spPr>
          <a:xfrm>
            <a:off x="11548872" y="6400800"/>
            <a:ext cx="365760" cy="274320"/>
          </a:xfrm>
          <a:prstGeom prst="rect">
            <a:avLst/>
          </a:prstGeom>
          <a:noFill/>
          <a:ln/>
        </p:spPr>
        <p:txBody>
          <a:bodyPr wrap="square" rtlCol="0" anchor="ctr"/>
          <a:lstStyle/>
          <a:p>
            <a:pPr marL="0" indent="0" algn="r">
              <a:buNone/>
            </a:pPr>
            <a:r>
              <a:rPr lang="en-US" sz="1000" dirty="0">
                <a:solidFill>
                  <a:srgbClr val="5B6672"/>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F0E9"/>
        </a:solidFill>
        <a:effectLst/>
      </p:bgPr>
    </p:bg>
    <p:spTree>
      <p:nvGrpSpPr>
        <p:cNvPr id="1" name=""/>
        <p:cNvGrpSpPr/>
        <p:nvPr/>
      </p:nvGrpSpPr>
      <p:grpSpPr>
        <a:xfrm>
          <a:off x="0" y="0"/>
          <a:ext cx="0" cy="0"/>
          <a:chOff x="0" y="0"/>
          <a:chExt cx="0" cy="0"/>
        </a:xfrm>
      </p:grpSpPr>
      <p:sp>
        <p:nvSpPr>
          <p:cNvPr id="2" name="Text 0"/>
          <p:cNvSpPr/>
          <p:nvPr/>
        </p:nvSpPr>
        <p:spPr>
          <a:xfrm>
            <a:off x="548640" y="365760"/>
            <a:ext cx="7315200" cy="365760"/>
          </a:xfrm>
          <a:prstGeom prst="rect">
            <a:avLst/>
          </a:prstGeom>
          <a:noFill/>
          <a:ln/>
        </p:spPr>
        <p:txBody>
          <a:bodyPr wrap="square" rtlCol="0" anchor="ctr"/>
          <a:lstStyle/>
          <a:p>
            <a:pPr marL="0" indent="0">
              <a:buNone/>
            </a:pPr>
            <a:r>
              <a:rPr lang="en-US" sz="1200" b="1" kern="0" spc="200" dirty="0">
                <a:solidFill>
                  <a:srgbClr val="2B6E62"/>
                </a:solidFill>
                <a:latin typeface="Calibri" pitchFamily="34" charset="0"/>
                <a:ea typeface="Calibri" pitchFamily="34" charset="-122"/>
                <a:cs typeface="Calibri" pitchFamily="34" charset="-120"/>
              </a:rPr>
              <a:t>HƯỚNG TIẾP CẬN</a:t>
            </a:r>
            <a:endParaRPr lang="en-US" sz="1200" dirty="0"/>
          </a:p>
        </p:txBody>
      </p:sp>
      <p:sp>
        <p:nvSpPr>
          <p:cNvPr id="3" name="Text 1"/>
          <p:cNvSpPr/>
          <p:nvPr/>
        </p:nvSpPr>
        <p:spPr>
          <a:xfrm>
            <a:off x="548640" y="685800"/>
            <a:ext cx="11064240" cy="822960"/>
          </a:xfrm>
          <a:prstGeom prst="rect">
            <a:avLst/>
          </a:prstGeom>
          <a:noFill/>
          <a:ln/>
        </p:spPr>
        <p:txBody>
          <a:bodyPr wrap="square" rtlCol="0" anchor="ctr"/>
          <a:lstStyle/>
          <a:p>
            <a:pPr marL="0" indent="0" algn="l">
              <a:buNone/>
            </a:pPr>
            <a:r>
              <a:rPr lang="en-US" sz="3200" b="1" dirty="0">
                <a:solidFill>
                  <a:srgbClr val="17212B"/>
                </a:solidFill>
                <a:latin typeface="Cambria" pitchFamily="34" charset="0"/>
                <a:ea typeface="Cambria" pitchFamily="34" charset="-122"/>
                <a:cs typeface="Cambria" pitchFamily="34" charset="-120"/>
              </a:rPr>
              <a:t>RAG: buộc mô hình tra cứu văn bản thật trước khi trả lời</a:t>
            </a:r>
            <a:endParaRPr lang="en-US" sz="3200" dirty="0"/>
          </a:p>
        </p:txBody>
      </p:sp>
      <p:sp>
        <p:nvSpPr>
          <p:cNvPr id="4" name="Shape 2"/>
          <p:cNvSpPr/>
          <p:nvPr/>
        </p:nvSpPr>
        <p:spPr>
          <a:xfrm>
            <a:off x="548640" y="2148840"/>
            <a:ext cx="5486400" cy="3977640"/>
          </a:xfrm>
          <a:prstGeom prst="roundRect">
            <a:avLst>
              <a:gd name="adj" fmla="val 1839"/>
            </a:avLst>
          </a:prstGeom>
          <a:solidFill>
            <a:srgbClr val="E4EEEC"/>
          </a:solidFill>
          <a:ln/>
          <a:effectLst>
            <a:outerShdw blurRad="76200" dist="25400" dir="5400000" algn="bl" rotWithShape="0">
              <a:srgbClr val="000000">
                <a:alpha val="12000"/>
              </a:srgbClr>
            </a:outerShdw>
          </a:effectLst>
        </p:spPr>
      </p:sp>
      <p:sp>
        <p:nvSpPr>
          <p:cNvPr id="5" name="Text 3"/>
          <p:cNvSpPr/>
          <p:nvPr/>
        </p:nvSpPr>
        <p:spPr>
          <a:xfrm>
            <a:off x="914400" y="2468880"/>
            <a:ext cx="4754880" cy="502920"/>
          </a:xfrm>
          <a:prstGeom prst="rect">
            <a:avLst/>
          </a:prstGeom>
          <a:noFill/>
          <a:ln/>
        </p:spPr>
        <p:txBody>
          <a:bodyPr wrap="square" rtlCol="0" anchor="ctr"/>
          <a:lstStyle/>
          <a:p>
            <a:pPr marL="0" indent="0">
              <a:buNone/>
            </a:pPr>
            <a:r>
              <a:rPr lang="en-US" sz="1800" b="1" dirty="0">
                <a:solidFill>
                  <a:srgbClr val="2B6E62"/>
                </a:solidFill>
                <a:latin typeface="Cambria" pitchFamily="34" charset="0"/>
                <a:ea typeface="Cambria" pitchFamily="34" charset="-122"/>
                <a:cs typeface="Cambria" pitchFamily="34" charset="-120"/>
              </a:rPr>
              <a:t>Thi mở sách, không phải thi đóng sách</a:t>
            </a:r>
            <a:endParaRPr lang="en-US" sz="1800" dirty="0"/>
          </a:p>
        </p:txBody>
      </p:sp>
      <p:sp>
        <p:nvSpPr>
          <p:cNvPr id="6" name="Text 4"/>
          <p:cNvSpPr/>
          <p:nvPr/>
        </p:nvSpPr>
        <p:spPr>
          <a:xfrm>
            <a:off x="914400" y="3063240"/>
            <a:ext cx="4754880" cy="1828800"/>
          </a:xfrm>
          <a:prstGeom prst="rect">
            <a:avLst/>
          </a:prstGeom>
          <a:noFill/>
          <a:ln/>
        </p:spPr>
        <p:txBody>
          <a:bodyPr wrap="square" rtlCol="0" anchor="ctr"/>
          <a:lstStyle/>
          <a:p>
            <a:pPr marL="0" indent="0">
              <a:lnSpc>
                <a:spcPts val="1900"/>
              </a:lnSpc>
              <a:buNone/>
            </a:pPr>
            <a:r>
              <a:rPr lang="en-US" sz="1350" dirty="0">
                <a:solidFill>
                  <a:srgbClr val="17212B"/>
                </a:solidFill>
                <a:latin typeface="Calibri" pitchFamily="34" charset="0"/>
                <a:ea typeface="Calibri" pitchFamily="34" charset="-122"/>
                <a:cs typeface="Calibri" pitchFamily="34" charset="-120"/>
              </a:rPr>
              <a:t>LLM có tri thức cố định tại thời điểm huấn luyện — không biết điều luật ban hành sau đó, dễ “bịa” khi thiếu căn cứ. RAG chèn đúng đoạn luật liên quan vào ngữ cảnh trước khi mô hình soạn câu trả lời, và bắt buộc trích dẫn nguồn cho mọi khẳng định.</a:t>
            </a:r>
            <a:endParaRPr lang="en-US" sz="1350" dirty="0"/>
          </a:p>
        </p:txBody>
      </p:sp>
      <p:sp>
        <p:nvSpPr>
          <p:cNvPr id="7" name="Text 5"/>
          <p:cNvSpPr/>
          <p:nvPr/>
        </p:nvSpPr>
        <p:spPr>
          <a:xfrm>
            <a:off x="914400" y="5029200"/>
            <a:ext cx="4754880" cy="822960"/>
          </a:xfrm>
          <a:prstGeom prst="rect">
            <a:avLst/>
          </a:prstGeom>
          <a:noFill/>
          <a:ln/>
        </p:spPr>
        <p:txBody>
          <a:bodyPr wrap="square" rtlCol="0" anchor="ctr"/>
          <a:lstStyle/>
          <a:p>
            <a:pPr marL="0" indent="0">
              <a:buNone/>
            </a:pPr>
            <a:r>
              <a:rPr lang="en-US" sz="1200" i="1" dirty="0">
                <a:solidFill>
                  <a:srgbClr val="2B6E62"/>
                </a:solidFill>
                <a:latin typeface="Calibri" pitchFamily="34" charset="0"/>
                <a:ea typeface="Calibri" pitchFamily="34" charset="-122"/>
                <a:cs typeface="Calibri" pitchFamily="34" charset="-120"/>
              </a:rPr>
              <a:t>Không sinh trọn bộ HSMT bằng 1 prompt — hệ thống là trợ lý soạn từng mục, có căn cứ.</a:t>
            </a:r>
            <a:endParaRPr lang="en-US" sz="1200" dirty="0"/>
          </a:p>
        </p:txBody>
      </p:sp>
      <p:sp>
        <p:nvSpPr>
          <p:cNvPr id="8" name="Shape 6"/>
          <p:cNvSpPr/>
          <p:nvPr/>
        </p:nvSpPr>
        <p:spPr>
          <a:xfrm>
            <a:off x="6400800" y="2148840"/>
            <a:ext cx="5212080" cy="1143000"/>
          </a:xfrm>
          <a:prstGeom prst="roundRect">
            <a:avLst>
              <a:gd name="adj" fmla="val 6400"/>
            </a:avLst>
          </a:prstGeom>
          <a:solidFill>
            <a:srgbClr val="FFFFFF"/>
          </a:solidFill>
          <a:ln/>
          <a:effectLst>
            <a:outerShdw blurRad="76200" dist="25400" dir="5400000" algn="bl" rotWithShape="0">
              <a:srgbClr val="000000">
                <a:alpha val="12000"/>
              </a:srgbClr>
            </a:outerShdw>
          </a:effectLst>
        </p:spPr>
      </p:sp>
      <p:sp>
        <p:nvSpPr>
          <p:cNvPr id="9" name="Shape 7"/>
          <p:cNvSpPr/>
          <p:nvPr/>
        </p:nvSpPr>
        <p:spPr>
          <a:xfrm>
            <a:off x="6675120" y="2404872"/>
            <a:ext cx="594360" cy="594360"/>
          </a:xfrm>
          <a:prstGeom prst="ellipse">
            <a:avLst/>
          </a:prstGeom>
          <a:solidFill>
            <a:srgbClr val="B8863B"/>
          </a:solidFill>
          <a:ln/>
        </p:spPr>
      </p:sp>
      <p:sp>
        <p:nvSpPr>
          <p:cNvPr id="10" name="Text 8"/>
          <p:cNvSpPr/>
          <p:nvPr/>
        </p:nvSpPr>
        <p:spPr>
          <a:xfrm>
            <a:off x="6675120" y="2404872"/>
            <a:ext cx="594360" cy="594360"/>
          </a:xfrm>
          <a:prstGeom prst="rect">
            <a:avLst/>
          </a:prstGeom>
          <a:noFill/>
          <a:ln/>
        </p:spPr>
        <p:txBody>
          <a:bodyPr wrap="square"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11" name="Text 9"/>
          <p:cNvSpPr/>
          <p:nvPr/>
        </p:nvSpPr>
        <p:spPr>
          <a:xfrm>
            <a:off x="7452360" y="2267712"/>
            <a:ext cx="4023360" cy="365760"/>
          </a:xfrm>
          <a:prstGeom prst="rect">
            <a:avLst/>
          </a:prstGeom>
          <a:noFill/>
          <a:ln/>
        </p:spPr>
        <p:txBody>
          <a:bodyPr wrap="square" rtlCol="0" anchor="ctr"/>
          <a:lstStyle/>
          <a:p>
            <a:pPr marL="0" indent="0">
              <a:buNone/>
            </a:pPr>
            <a:r>
              <a:rPr lang="en-US" sz="1500" b="1" dirty="0">
                <a:solidFill>
                  <a:srgbClr val="17212B"/>
                </a:solidFill>
                <a:latin typeface="Cambria" pitchFamily="34" charset="0"/>
                <a:ea typeface="Cambria" pitchFamily="34" charset="-122"/>
                <a:cs typeface="Cambria" pitchFamily="34" charset="-120"/>
              </a:rPr>
              <a:t>Retrieval</a:t>
            </a:r>
            <a:endParaRPr lang="en-US" sz="1500" dirty="0"/>
          </a:p>
        </p:txBody>
      </p:sp>
      <p:sp>
        <p:nvSpPr>
          <p:cNvPr id="12" name="Text 10"/>
          <p:cNvSpPr/>
          <p:nvPr/>
        </p:nvSpPr>
        <p:spPr>
          <a:xfrm>
            <a:off x="7452360" y="2633472"/>
            <a:ext cx="4023360" cy="594360"/>
          </a:xfrm>
          <a:prstGeom prst="rect">
            <a:avLst/>
          </a:prstGeom>
          <a:noFill/>
          <a:ln/>
        </p:spPr>
        <p:txBody>
          <a:bodyPr wrap="square" rtlCol="0" anchor="ctr"/>
          <a:lstStyle/>
          <a:p>
            <a:pPr marL="0" indent="0">
              <a:lnSpc>
                <a:spcPts val="1500"/>
              </a:lnSpc>
              <a:buNone/>
            </a:pPr>
            <a:r>
              <a:rPr lang="en-US" sz="1150" dirty="0">
                <a:solidFill>
                  <a:srgbClr val="5B6672"/>
                </a:solidFill>
                <a:latin typeface="Calibri" pitchFamily="34" charset="0"/>
                <a:ea typeface="Calibri" pitchFamily="34" charset="-122"/>
                <a:cs typeface="Calibri" pitchFamily="34" charset="-120"/>
              </a:rPr>
              <a:t>Tìm đoạn luật liên quan nhất bằng so khớp ngữ nghĩa + từ khoá</a:t>
            </a:r>
            <a:endParaRPr lang="en-US" sz="1150" dirty="0"/>
          </a:p>
        </p:txBody>
      </p:sp>
      <p:sp>
        <p:nvSpPr>
          <p:cNvPr id="13" name="Shape 11"/>
          <p:cNvSpPr/>
          <p:nvPr/>
        </p:nvSpPr>
        <p:spPr>
          <a:xfrm>
            <a:off x="6400800" y="3520440"/>
            <a:ext cx="5212080" cy="1143000"/>
          </a:xfrm>
          <a:prstGeom prst="roundRect">
            <a:avLst>
              <a:gd name="adj" fmla="val 6400"/>
            </a:avLst>
          </a:prstGeom>
          <a:solidFill>
            <a:srgbClr val="FFFFFF"/>
          </a:solidFill>
          <a:ln/>
          <a:effectLst>
            <a:outerShdw blurRad="76200" dist="25400" dir="5400000" algn="bl" rotWithShape="0">
              <a:srgbClr val="000000">
                <a:alpha val="12000"/>
              </a:srgbClr>
            </a:outerShdw>
          </a:effectLst>
        </p:spPr>
      </p:sp>
      <p:sp>
        <p:nvSpPr>
          <p:cNvPr id="14" name="Shape 12"/>
          <p:cNvSpPr/>
          <p:nvPr/>
        </p:nvSpPr>
        <p:spPr>
          <a:xfrm>
            <a:off x="6675120" y="3776472"/>
            <a:ext cx="594360" cy="594360"/>
          </a:xfrm>
          <a:prstGeom prst="ellipse">
            <a:avLst/>
          </a:prstGeom>
          <a:solidFill>
            <a:srgbClr val="B8863B"/>
          </a:solidFill>
          <a:ln/>
        </p:spPr>
      </p:sp>
      <p:sp>
        <p:nvSpPr>
          <p:cNvPr id="15" name="Text 13"/>
          <p:cNvSpPr/>
          <p:nvPr/>
        </p:nvSpPr>
        <p:spPr>
          <a:xfrm>
            <a:off x="6675120" y="3776472"/>
            <a:ext cx="594360" cy="594360"/>
          </a:xfrm>
          <a:prstGeom prst="rect">
            <a:avLst/>
          </a:prstGeom>
          <a:noFill/>
          <a:ln/>
        </p:spPr>
        <p:txBody>
          <a:bodyPr wrap="square"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6" name="Text 14"/>
          <p:cNvSpPr/>
          <p:nvPr/>
        </p:nvSpPr>
        <p:spPr>
          <a:xfrm>
            <a:off x="7452360" y="3639312"/>
            <a:ext cx="4023360" cy="365760"/>
          </a:xfrm>
          <a:prstGeom prst="rect">
            <a:avLst/>
          </a:prstGeom>
          <a:noFill/>
          <a:ln/>
        </p:spPr>
        <p:txBody>
          <a:bodyPr wrap="square" rtlCol="0" anchor="ctr"/>
          <a:lstStyle/>
          <a:p>
            <a:pPr marL="0" indent="0">
              <a:buNone/>
            </a:pPr>
            <a:r>
              <a:rPr lang="en-US" sz="1500" b="1" dirty="0">
                <a:solidFill>
                  <a:srgbClr val="17212B"/>
                </a:solidFill>
                <a:latin typeface="Cambria" pitchFamily="34" charset="0"/>
                <a:ea typeface="Cambria" pitchFamily="34" charset="-122"/>
                <a:cs typeface="Cambria" pitchFamily="34" charset="-120"/>
              </a:rPr>
              <a:t>Augmentation</a:t>
            </a:r>
            <a:endParaRPr lang="en-US" sz="1500" dirty="0"/>
          </a:p>
        </p:txBody>
      </p:sp>
      <p:sp>
        <p:nvSpPr>
          <p:cNvPr id="17" name="Text 15"/>
          <p:cNvSpPr/>
          <p:nvPr/>
        </p:nvSpPr>
        <p:spPr>
          <a:xfrm>
            <a:off x="7452360" y="4005072"/>
            <a:ext cx="4023360" cy="594360"/>
          </a:xfrm>
          <a:prstGeom prst="rect">
            <a:avLst/>
          </a:prstGeom>
          <a:noFill/>
          <a:ln/>
        </p:spPr>
        <p:txBody>
          <a:bodyPr wrap="square" rtlCol="0" anchor="ctr"/>
          <a:lstStyle/>
          <a:p>
            <a:pPr marL="0" indent="0">
              <a:lnSpc>
                <a:spcPts val="1500"/>
              </a:lnSpc>
              <a:buNone/>
            </a:pPr>
            <a:r>
              <a:rPr lang="en-US" sz="1150" dirty="0">
                <a:solidFill>
                  <a:srgbClr val="5B6672"/>
                </a:solidFill>
                <a:latin typeface="Calibri" pitchFamily="34" charset="0"/>
                <a:ea typeface="Calibri" pitchFamily="34" charset="-122"/>
                <a:cs typeface="Calibri" pitchFamily="34" charset="-120"/>
              </a:rPr>
              <a:t>Nhét các đoạn tìm được vào prompt làm ngữ cảnh</a:t>
            </a:r>
            <a:endParaRPr lang="en-US" sz="1150" dirty="0"/>
          </a:p>
        </p:txBody>
      </p:sp>
      <p:sp>
        <p:nvSpPr>
          <p:cNvPr id="18" name="Shape 16"/>
          <p:cNvSpPr/>
          <p:nvPr/>
        </p:nvSpPr>
        <p:spPr>
          <a:xfrm>
            <a:off x="6400800" y="4892040"/>
            <a:ext cx="5212080" cy="1143000"/>
          </a:xfrm>
          <a:prstGeom prst="roundRect">
            <a:avLst>
              <a:gd name="adj" fmla="val 6400"/>
            </a:avLst>
          </a:prstGeom>
          <a:solidFill>
            <a:srgbClr val="FFFFFF"/>
          </a:solidFill>
          <a:ln/>
          <a:effectLst>
            <a:outerShdw blurRad="76200" dist="25400" dir="5400000" algn="bl" rotWithShape="0">
              <a:srgbClr val="000000">
                <a:alpha val="12000"/>
              </a:srgbClr>
            </a:outerShdw>
          </a:effectLst>
        </p:spPr>
      </p:sp>
      <p:sp>
        <p:nvSpPr>
          <p:cNvPr id="19" name="Shape 17"/>
          <p:cNvSpPr/>
          <p:nvPr/>
        </p:nvSpPr>
        <p:spPr>
          <a:xfrm>
            <a:off x="6675120" y="5148072"/>
            <a:ext cx="594360" cy="594360"/>
          </a:xfrm>
          <a:prstGeom prst="ellipse">
            <a:avLst/>
          </a:prstGeom>
          <a:solidFill>
            <a:srgbClr val="B8863B"/>
          </a:solidFill>
          <a:ln/>
        </p:spPr>
      </p:sp>
      <p:sp>
        <p:nvSpPr>
          <p:cNvPr id="20" name="Text 18"/>
          <p:cNvSpPr/>
          <p:nvPr/>
        </p:nvSpPr>
        <p:spPr>
          <a:xfrm>
            <a:off x="6675120" y="5148072"/>
            <a:ext cx="594360" cy="594360"/>
          </a:xfrm>
          <a:prstGeom prst="rect">
            <a:avLst/>
          </a:prstGeom>
          <a:noFill/>
          <a:ln/>
        </p:spPr>
        <p:txBody>
          <a:bodyPr wrap="square"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21" name="Text 19"/>
          <p:cNvSpPr/>
          <p:nvPr/>
        </p:nvSpPr>
        <p:spPr>
          <a:xfrm>
            <a:off x="7452360" y="5010912"/>
            <a:ext cx="4023360" cy="365760"/>
          </a:xfrm>
          <a:prstGeom prst="rect">
            <a:avLst/>
          </a:prstGeom>
          <a:noFill/>
          <a:ln/>
        </p:spPr>
        <p:txBody>
          <a:bodyPr wrap="square" rtlCol="0" anchor="ctr"/>
          <a:lstStyle/>
          <a:p>
            <a:pPr marL="0" indent="0">
              <a:buNone/>
            </a:pPr>
            <a:r>
              <a:rPr lang="en-US" sz="1500" b="1" dirty="0">
                <a:solidFill>
                  <a:srgbClr val="17212B"/>
                </a:solidFill>
                <a:latin typeface="Cambria" pitchFamily="34" charset="0"/>
                <a:ea typeface="Cambria" pitchFamily="34" charset="-122"/>
                <a:cs typeface="Cambria" pitchFamily="34" charset="-120"/>
              </a:rPr>
              <a:t>Generation</a:t>
            </a:r>
            <a:endParaRPr lang="en-US" sz="1500" dirty="0"/>
          </a:p>
        </p:txBody>
      </p:sp>
      <p:sp>
        <p:nvSpPr>
          <p:cNvPr id="22" name="Text 20"/>
          <p:cNvSpPr/>
          <p:nvPr/>
        </p:nvSpPr>
        <p:spPr>
          <a:xfrm>
            <a:off x="7452360" y="5376672"/>
            <a:ext cx="4023360" cy="594360"/>
          </a:xfrm>
          <a:prstGeom prst="rect">
            <a:avLst/>
          </a:prstGeom>
          <a:noFill/>
          <a:ln/>
        </p:spPr>
        <p:txBody>
          <a:bodyPr wrap="square" rtlCol="0" anchor="ctr"/>
          <a:lstStyle/>
          <a:p>
            <a:pPr marL="0" indent="0">
              <a:lnSpc>
                <a:spcPts val="1500"/>
              </a:lnSpc>
              <a:buNone/>
            </a:pPr>
            <a:r>
              <a:rPr lang="en-US" sz="1150" dirty="0">
                <a:solidFill>
                  <a:srgbClr val="5B6672"/>
                </a:solidFill>
                <a:latin typeface="Calibri" pitchFamily="34" charset="0"/>
                <a:ea typeface="Calibri" pitchFamily="34" charset="-122"/>
                <a:cs typeface="Calibri" pitchFamily="34" charset="-120"/>
              </a:rPr>
              <a:t>LLM soạn câu trả lời dựa trên ngữ cảnh, kèm trích dẫn nguồn</a:t>
            </a:r>
            <a:endParaRPr lang="en-US" sz="1150" dirty="0"/>
          </a:p>
        </p:txBody>
      </p:sp>
      <p:sp>
        <p:nvSpPr>
          <p:cNvPr id="23" name="Text 21"/>
          <p:cNvSpPr/>
          <p:nvPr/>
        </p:nvSpPr>
        <p:spPr>
          <a:xfrm>
            <a:off x="11548872" y="6400800"/>
            <a:ext cx="365760" cy="274320"/>
          </a:xfrm>
          <a:prstGeom prst="rect">
            <a:avLst/>
          </a:prstGeom>
          <a:noFill/>
          <a:ln/>
        </p:spPr>
        <p:txBody>
          <a:bodyPr wrap="square" rtlCol="0" anchor="ctr"/>
          <a:lstStyle/>
          <a:p>
            <a:pPr marL="0" indent="0" algn="r">
              <a:buNone/>
            </a:pPr>
            <a:r>
              <a:rPr lang="en-US" sz="1000" dirty="0">
                <a:solidFill>
                  <a:srgbClr val="5B6672"/>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2F0E9"/>
        </a:solidFill>
        <a:effectLst/>
      </p:bgPr>
    </p:bg>
    <p:spTree>
      <p:nvGrpSpPr>
        <p:cNvPr id="1" name=""/>
        <p:cNvGrpSpPr/>
        <p:nvPr/>
      </p:nvGrpSpPr>
      <p:grpSpPr>
        <a:xfrm>
          <a:off x="0" y="0"/>
          <a:ext cx="0" cy="0"/>
          <a:chOff x="0" y="0"/>
          <a:chExt cx="0" cy="0"/>
        </a:xfrm>
      </p:grpSpPr>
      <p:sp>
        <p:nvSpPr>
          <p:cNvPr id="2" name="Text 0"/>
          <p:cNvSpPr/>
          <p:nvPr/>
        </p:nvSpPr>
        <p:spPr>
          <a:xfrm>
            <a:off x="548640" y="365760"/>
            <a:ext cx="7315200" cy="365760"/>
          </a:xfrm>
          <a:prstGeom prst="rect">
            <a:avLst/>
          </a:prstGeom>
          <a:noFill/>
          <a:ln/>
        </p:spPr>
        <p:txBody>
          <a:bodyPr wrap="square" rtlCol="0" anchor="ctr"/>
          <a:lstStyle/>
          <a:p>
            <a:pPr marL="0" indent="0">
              <a:buNone/>
            </a:pPr>
            <a:r>
              <a:rPr lang="en-US" sz="1200" b="1" kern="0" spc="200" dirty="0">
                <a:solidFill>
                  <a:srgbClr val="2B6E62"/>
                </a:solidFill>
                <a:latin typeface="Calibri" pitchFamily="34" charset="0"/>
                <a:ea typeface="Calibri" pitchFamily="34" charset="-122"/>
                <a:cs typeface="Calibri" pitchFamily="34" charset="-120"/>
              </a:rPr>
              <a:t>KIẾN TRÚC HỆ THỐNG — OFFLINE</a:t>
            </a:r>
            <a:endParaRPr lang="en-US" sz="1200" dirty="0"/>
          </a:p>
        </p:txBody>
      </p:sp>
      <p:sp>
        <p:nvSpPr>
          <p:cNvPr id="3" name="Text 1"/>
          <p:cNvSpPr/>
          <p:nvPr/>
        </p:nvSpPr>
        <p:spPr>
          <a:xfrm>
            <a:off x="548640" y="685800"/>
            <a:ext cx="11064240" cy="822960"/>
          </a:xfrm>
          <a:prstGeom prst="rect">
            <a:avLst/>
          </a:prstGeom>
          <a:noFill/>
          <a:ln/>
        </p:spPr>
        <p:txBody>
          <a:bodyPr wrap="square" rtlCol="0" anchor="ctr"/>
          <a:lstStyle/>
          <a:p>
            <a:pPr marL="0" indent="0" algn="l">
              <a:buNone/>
            </a:pPr>
            <a:r>
              <a:rPr lang="en-US" sz="3200" b="1" dirty="0">
                <a:solidFill>
                  <a:srgbClr val="17212B"/>
                </a:solidFill>
                <a:latin typeface="Cambria" pitchFamily="34" charset="0"/>
                <a:ea typeface="Cambria" pitchFamily="34" charset="-122"/>
                <a:cs typeface="Cambria" pitchFamily="34" charset="-120"/>
              </a:rPr>
              <a:t>Dựng kho tri thức: 5 văn bản luật thật, 326 Điều, 684 đoạn</a:t>
            </a:r>
            <a:endParaRPr lang="en-US" sz="3200" dirty="0"/>
          </a:p>
        </p:txBody>
      </p:sp>
      <p:sp>
        <p:nvSpPr>
          <p:cNvPr id="4" name="Shape 2"/>
          <p:cNvSpPr/>
          <p:nvPr/>
        </p:nvSpPr>
        <p:spPr>
          <a:xfrm>
            <a:off x="640080" y="2286000"/>
            <a:ext cx="2468880" cy="1371600"/>
          </a:xfrm>
          <a:prstGeom prst="roundRect">
            <a:avLst>
              <a:gd name="adj" fmla="val 5333"/>
            </a:avLst>
          </a:prstGeom>
          <a:solidFill>
            <a:srgbClr val="17212B"/>
          </a:solidFill>
          <a:ln/>
          <a:effectLst>
            <a:outerShdw blurRad="76200" dist="25400" dir="5400000" algn="bl" rotWithShape="0">
              <a:srgbClr val="000000">
                <a:alpha val="12000"/>
              </a:srgbClr>
            </a:outerShdw>
          </a:effectLst>
        </p:spPr>
      </p:sp>
      <p:sp>
        <p:nvSpPr>
          <p:cNvPr id="5" name="Text 3"/>
          <p:cNvSpPr/>
          <p:nvPr/>
        </p:nvSpPr>
        <p:spPr>
          <a:xfrm>
            <a:off x="777240" y="2286000"/>
            <a:ext cx="2194560" cy="1371600"/>
          </a:xfrm>
          <a:prstGeom prst="rect">
            <a:avLst/>
          </a:prstGeom>
          <a:noFill/>
          <a:ln/>
        </p:spPr>
        <p:txBody>
          <a:bodyPr wrap="square" rtlCol="0" anchor="ctr"/>
          <a:lstStyle/>
          <a:p>
            <a:pPr marL="0" indent="0" algn="ctr">
              <a:lnSpc>
                <a:spcPts val="1700"/>
              </a:lnSpc>
              <a:buNone/>
            </a:pPr>
            <a:r>
              <a:rPr lang="en-US" sz="1350" b="1" dirty="0">
                <a:solidFill>
                  <a:srgbClr val="FFFFFF"/>
                </a:solidFill>
                <a:latin typeface="Calibri" pitchFamily="34" charset="0"/>
                <a:ea typeface="Calibri" pitchFamily="34" charset="-122"/>
                <a:cs typeface="Calibri" pitchFamily="34" charset="-120"/>
              </a:rPr>
              <a:t>Kho tri thức</a:t>
            </a:r>
            <a:endParaRPr lang="en-US" sz="1350" dirty="0"/>
          </a:p>
          <a:p>
            <a:pPr marL="0" indent="0" algn="ctr">
              <a:lnSpc>
                <a:spcPts val="1700"/>
              </a:lnSpc>
              <a:buNone/>
            </a:pPr>
            <a:r>
              <a:rPr lang="en-US" sz="1350" b="1" dirty="0">
                <a:solidFill>
                  <a:srgbClr val="FFFFFF"/>
                </a:solidFill>
                <a:latin typeface="Calibri" pitchFamily="34" charset="0"/>
                <a:ea typeface="Calibri" pitchFamily="34" charset="-122"/>
                <a:cs typeface="Calibri" pitchFamily="34" charset="-120"/>
              </a:rPr>
              <a:t>(5 văn bản luật thật)</a:t>
            </a:r>
            <a:endParaRPr lang="en-US" sz="1350" dirty="0"/>
          </a:p>
        </p:txBody>
      </p:sp>
      <p:sp>
        <p:nvSpPr>
          <p:cNvPr id="6" name="Shape 4"/>
          <p:cNvSpPr/>
          <p:nvPr/>
        </p:nvSpPr>
        <p:spPr>
          <a:xfrm>
            <a:off x="3182112" y="2834640"/>
            <a:ext cx="356616" cy="274320"/>
          </a:xfrm>
          <a:prstGeom prst="rightArrow">
            <a:avLst/>
          </a:prstGeom>
          <a:solidFill>
            <a:srgbClr val="B8863B"/>
          </a:solidFill>
          <a:ln/>
        </p:spPr>
      </p:sp>
      <p:sp>
        <p:nvSpPr>
          <p:cNvPr id="7" name="Shape 5"/>
          <p:cNvSpPr/>
          <p:nvPr/>
        </p:nvSpPr>
        <p:spPr>
          <a:xfrm>
            <a:off x="3611880" y="2286000"/>
            <a:ext cx="2468880" cy="1371600"/>
          </a:xfrm>
          <a:prstGeom prst="roundRect">
            <a:avLst>
              <a:gd name="adj" fmla="val 5333"/>
            </a:avLst>
          </a:prstGeom>
          <a:solidFill>
            <a:srgbClr val="E4EEEC"/>
          </a:solidFill>
          <a:ln/>
          <a:effectLst>
            <a:outerShdw blurRad="76200" dist="25400" dir="5400000" algn="bl" rotWithShape="0">
              <a:srgbClr val="000000">
                <a:alpha val="12000"/>
              </a:srgbClr>
            </a:outerShdw>
          </a:effectLst>
        </p:spPr>
      </p:sp>
      <p:sp>
        <p:nvSpPr>
          <p:cNvPr id="8" name="Text 6"/>
          <p:cNvSpPr/>
          <p:nvPr/>
        </p:nvSpPr>
        <p:spPr>
          <a:xfrm>
            <a:off x="3749040" y="2286000"/>
            <a:ext cx="2194560" cy="1371600"/>
          </a:xfrm>
          <a:prstGeom prst="rect">
            <a:avLst/>
          </a:prstGeom>
          <a:noFill/>
          <a:ln/>
        </p:spPr>
        <p:txBody>
          <a:bodyPr wrap="square" rtlCol="0" anchor="ctr"/>
          <a:lstStyle/>
          <a:p>
            <a:pPr marL="0" indent="0" algn="ctr">
              <a:lnSpc>
                <a:spcPts val="1700"/>
              </a:lnSpc>
              <a:buNone/>
            </a:pPr>
            <a:r>
              <a:rPr lang="en-US" sz="1350" b="1" dirty="0">
                <a:solidFill>
                  <a:srgbClr val="17212B"/>
                </a:solidFill>
                <a:latin typeface="Calibri" pitchFamily="34" charset="0"/>
                <a:ea typeface="Calibri" pitchFamily="34" charset="-122"/>
                <a:cs typeface="Calibri" pitchFamily="34" charset="-120"/>
              </a:rPr>
              <a:t>Chunk</a:t>
            </a:r>
            <a:endParaRPr lang="en-US" sz="1350" dirty="0"/>
          </a:p>
          <a:p>
            <a:pPr marL="0" indent="0" algn="ctr">
              <a:lnSpc>
                <a:spcPts val="1700"/>
              </a:lnSpc>
              <a:buNone/>
            </a:pPr>
            <a:r>
              <a:rPr lang="en-US" sz="1350" b="1" dirty="0">
                <a:solidFill>
                  <a:srgbClr val="17212B"/>
                </a:solidFill>
                <a:latin typeface="Calibri" pitchFamily="34" charset="0"/>
                <a:ea typeface="Calibri" pitchFamily="34" charset="-122"/>
                <a:cs typeface="Calibri" pitchFamily="34" charset="-120"/>
              </a:rPr>
              <a:t>theo Điều/Khoản</a:t>
            </a:r>
            <a:endParaRPr lang="en-US" sz="1350" dirty="0"/>
          </a:p>
        </p:txBody>
      </p:sp>
      <p:sp>
        <p:nvSpPr>
          <p:cNvPr id="9" name="Shape 7"/>
          <p:cNvSpPr/>
          <p:nvPr/>
        </p:nvSpPr>
        <p:spPr>
          <a:xfrm>
            <a:off x="6153912" y="2834640"/>
            <a:ext cx="356616" cy="274320"/>
          </a:xfrm>
          <a:prstGeom prst="rightArrow">
            <a:avLst/>
          </a:prstGeom>
          <a:solidFill>
            <a:srgbClr val="B8863B"/>
          </a:solidFill>
          <a:ln/>
        </p:spPr>
      </p:sp>
      <p:sp>
        <p:nvSpPr>
          <p:cNvPr id="10" name="Shape 8"/>
          <p:cNvSpPr/>
          <p:nvPr/>
        </p:nvSpPr>
        <p:spPr>
          <a:xfrm>
            <a:off x="6583680" y="2286000"/>
            <a:ext cx="2468880" cy="1371600"/>
          </a:xfrm>
          <a:prstGeom prst="roundRect">
            <a:avLst>
              <a:gd name="adj" fmla="val 5333"/>
            </a:avLst>
          </a:prstGeom>
          <a:solidFill>
            <a:srgbClr val="E4EEEC"/>
          </a:solidFill>
          <a:ln/>
          <a:effectLst>
            <a:outerShdw blurRad="76200" dist="25400" dir="5400000" algn="bl" rotWithShape="0">
              <a:srgbClr val="000000">
                <a:alpha val="12000"/>
              </a:srgbClr>
            </a:outerShdw>
          </a:effectLst>
        </p:spPr>
      </p:sp>
      <p:sp>
        <p:nvSpPr>
          <p:cNvPr id="11" name="Text 9"/>
          <p:cNvSpPr/>
          <p:nvPr/>
        </p:nvSpPr>
        <p:spPr>
          <a:xfrm>
            <a:off x="6720840" y="2286000"/>
            <a:ext cx="2194560" cy="1371600"/>
          </a:xfrm>
          <a:prstGeom prst="rect">
            <a:avLst/>
          </a:prstGeom>
          <a:noFill/>
          <a:ln/>
        </p:spPr>
        <p:txBody>
          <a:bodyPr wrap="square" rtlCol="0" anchor="ctr"/>
          <a:lstStyle/>
          <a:p>
            <a:pPr marL="0" indent="0" algn="ctr">
              <a:lnSpc>
                <a:spcPts val="1700"/>
              </a:lnSpc>
              <a:buNone/>
            </a:pPr>
            <a:r>
              <a:rPr lang="en-US" sz="1350" b="1" dirty="0">
                <a:solidFill>
                  <a:srgbClr val="17212B"/>
                </a:solidFill>
                <a:latin typeface="Calibri" pitchFamily="34" charset="0"/>
                <a:ea typeface="Calibri" pitchFamily="34" charset="-122"/>
                <a:cs typeface="Calibri" pitchFamily="34" charset="-120"/>
              </a:rPr>
              <a:t>Embed</a:t>
            </a:r>
            <a:endParaRPr lang="en-US" sz="1350" dirty="0"/>
          </a:p>
          <a:p>
            <a:pPr marL="0" indent="0" algn="ctr">
              <a:lnSpc>
                <a:spcPts val="1700"/>
              </a:lnSpc>
              <a:buNone/>
            </a:pPr>
            <a:r>
              <a:rPr lang="en-US" sz="1350" b="1" dirty="0">
                <a:solidFill>
                  <a:srgbClr val="17212B"/>
                </a:solidFill>
                <a:latin typeface="Calibri" pitchFamily="34" charset="0"/>
                <a:ea typeface="Calibri" pitchFamily="34" charset="-122"/>
                <a:cs typeface="Calibri" pitchFamily="34" charset="-120"/>
              </a:rPr>
              <a:t>(model mặc định)</a:t>
            </a:r>
            <a:endParaRPr lang="en-US" sz="1350" dirty="0"/>
          </a:p>
        </p:txBody>
      </p:sp>
      <p:sp>
        <p:nvSpPr>
          <p:cNvPr id="12" name="Shape 10"/>
          <p:cNvSpPr/>
          <p:nvPr/>
        </p:nvSpPr>
        <p:spPr>
          <a:xfrm>
            <a:off x="9125712" y="2834640"/>
            <a:ext cx="356616" cy="274320"/>
          </a:xfrm>
          <a:prstGeom prst="rightArrow">
            <a:avLst/>
          </a:prstGeom>
          <a:solidFill>
            <a:srgbClr val="B8863B"/>
          </a:solidFill>
          <a:ln/>
        </p:spPr>
      </p:sp>
      <p:sp>
        <p:nvSpPr>
          <p:cNvPr id="13" name="Shape 11"/>
          <p:cNvSpPr/>
          <p:nvPr/>
        </p:nvSpPr>
        <p:spPr>
          <a:xfrm>
            <a:off x="9555480" y="2286000"/>
            <a:ext cx="2468880" cy="1371600"/>
          </a:xfrm>
          <a:prstGeom prst="roundRect">
            <a:avLst>
              <a:gd name="adj" fmla="val 5333"/>
            </a:avLst>
          </a:prstGeom>
          <a:solidFill>
            <a:srgbClr val="E4EEEC"/>
          </a:solidFill>
          <a:ln/>
          <a:effectLst>
            <a:outerShdw blurRad="76200" dist="25400" dir="5400000" algn="bl" rotWithShape="0">
              <a:srgbClr val="000000">
                <a:alpha val="12000"/>
              </a:srgbClr>
            </a:outerShdw>
          </a:effectLst>
        </p:spPr>
      </p:sp>
      <p:sp>
        <p:nvSpPr>
          <p:cNvPr id="14" name="Text 12"/>
          <p:cNvSpPr/>
          <p:nvPr/>
        </p:nvSpPr>
        <p:spPr>
          <a:xfrm>
            <a:off x="9692640" y="2286000"/>
            <a:ext cx="2194560" cy="1371600"/>
          </a:xfrm>
          <a:prstGeom prst="rect">
            <a:avLst/>
          </a:prstGeom>
          <a:noFill/>
          <a:ln/>
        </p:spPr>
        <p:txBody>
          <a:bodyPr wrap="square" rtlCol="0" anchor="ctr"/>
          <a:lstStyle/>
          <a:p>
            <a:pPr marL="0" indent="0" algn="ctr">
              <a:lnSpc>
                <a:spcPts val="1700"/>
              </a:lnSpc>
              <a:buNone/>
            </a:pPr>
            <a:r>
              <a:rPr lang="en-US" sz="1350" b="1" dirty="0">
                <a:solidFill>
                  <a:srgbClr val="17212B"/>
                </a:solidFill>
                <a:latin typeface="Calibri" pitchFamily="34" charset="0"/>
                <a:ea typeface="Calibri" pitchFamily="34" charset="-122"/>
                <a:cs typeface="Calibri" pitchFamily="34" charset="-120"/>
              </a:rPr>
              <a:t>Index</a:t>
            </a:r>
            <a:endParaRPr lang="en-US" sz="1350" dirty="0"/>
          </a:p>
          <a:p>
            <a:pPr marL="0" indent="0" algn="ctr">
              <a:lnSpc>
                <a:spcPts val="1700"/>
              </a:lnSpc>
              <a:buNone/>
            </a:pPr>
            <a:r>
              <a:rPr lang="en-US" sz="1350" b="1" dirty="0">
                <a:solidFill>
                  <a:srgbClr val="17212B"/>
                </a:solidFill>
                <a:latin typeface="Calibri" pitchFamily="34" charset="0"/>
                <a:ea typeface="Calibri" pitchFamily="34" charset="-122"/>
                <a:cs typeface="Calibri" pitchFamily="34" charset="-120"/>
              </a:rPr>
              <a:t>FAISS + BM25</a:t>
            </a:r>
            <a:endParaRPr lang="en-US" sz="1350" dirty="0"/>
          </a:p>
        </p:txBody>
      </p:sp>
      <p:sp>
        <p:nvSpPr>
          <p:cNvPr id="15" name="Shape 13"/>
          <p:cNvSpPr/>
          <p:nvPr/>
        </p:nvSpPr>
        <p:spPr>
          <a:xfrm>
            <a:off x="640080" y="4114800"/>
            <a:ext cx="10881360" cy="2057400"/>
          </a:xfrm>
          <a:prstGeom prst="roundRect">
            <a:avLst>
              <a:gd name="adj" fmla="val 3556"/>
            </a:avLst>
          </a:prstGeom>
          <a:solidFill>
            <a:srgbClr val="FFFFFF"/>
          </a:solidFill>
          <a:ln/>
          <a:effectLst>
            <a:outerShdw blurRad="76200" dist="25400" dir="5400000" algn="bl" rotWithShape="0">
              <a:srgbClr val="000000">
                <a:alpha val="12000"/>
              </a:srgbClr>
            </a:outerShdw>
          </a:effectLst>
        </p:spPr>
      </p:sp>
      <p:sp>
        <p:nvSpPr>
          <p:cNvPr id="16" name="Text 14"/>
          <p:cNvSpPr/>
          <p:nvPr/>
        </p:nvSpPr>
        <p:spPr>
          <a:xfrm>
            <a:off x="914400" y="4251960"/>
            <a:ext cx="5486400" cy="320040"/>
          </a:xfrm>
          <a:prstGeom prst="rect">
            <a:avLst/>
          </a:prstGeom>
          <a:noFill/>
          <a:ln/>
        </p:spPr>
        <p:txBody>
          <a:bodyPr wrap="square" rtlCol="0" anchor="ctr"/>
          <a:lstStyle/>
          <a:p>
            <a:pPr marL="0" indent="0">
              <a:buNone/>
            </a:pPr>
            <a:r>
              <a:rPr lang="en-US" sz="1250" b="1" dirty="0">
                <a:solidFill>
                  <a:srgbClr val="2B6E62"/>
                </a:solidFill>
                <a:latin typeface="Calibri" pitchFamily="34" charset="0"/>
                <a:ea typeface="Calibri" pitchFamily="34" charset="-122"/>
                <a:cs typeface="Calibri" pitchFamily="34" charset="-120"/>
              </a:rPr>
              <a:t>Bốn nguồn văn bản thật:</a:t>
            </a:r>
            <a:endParaRPr lang="en-US" sz="1250" dirty="0"/>
          </a:p>
        </p:txBody>
      </p:sp>
      <p:sp>
        <p:nvSpPr>
          <p:cNvPr id="17" name="Text 15"/>
          <p:cNvSpPr/>
          <p:nvPr/>
        </p:nvSpPr>
        <p:spPr>
          <a:xfrm>
            <a:off x="914400" y="4572000"/>
            <a:ext cx="10332720" cy="365760"/>
          </a:xfrm>
          <a:prstGeom prst="rect">
            <a:avLst/>
          </a:prstGeom>
          <a:noFill/>
          <a:ln/>
        </p:spPr>
        <p:txBody>
          <a:bodyPr wrap="square" rtlCol="0" anchor="ctr"/>
          <a:lstStyle/>
          <a:p>
            <a:pPr marL="342900" indent="-342900">
              <a:buSzPct val="100000"/>
              <a:buChar char="•"/>
            </a:pPr>
            <a:r>
              <a:rPr lang="en-US" sz="1200" dirty="0">
                <a:solidFill>
                  <a:srgbClr val="17212B"/>
                </a:solidFill>
                <a:latin typeface="Calibri" pitchFamily="34" charset="0"/>
                <a:ea typeface="Calibri" pitchFamily="34" charset="-122"/>
                <a:cs typeface="Calibri" pitchFamily="34" charset="-120"/>
              </a:rPr>
              <a:t>Luật Đấu thầu 22/2023/QH15 (hợp nhất 57/2024, 90/2025) — 90 Điều</a:t>
            </a:r>
            <a:endParaRPr lang="en-US" sz="1200" dirty="0"/>
          </a:p>
        </p:txBody>
      </p:sp>
      <p:sp>
        <p:nvSpPr>
          <p:cNvPr id="18" name="Text 16"/>
          <p:cNvSpPr/>
          <p:nvPr/>
        </p:nvSpPr>
        <p:spPr>
          <a:xfrm>
            <a:off x="914400" y="4956048"/>
            <a:ext cx="10332720" cy="365760"/>
          </a:xfrm>
          <a:prstGeom prst="rect">
            <a:avLst/>
          </a:prstGeom>
          <a:noFill/>
          <a:ln/>
        </p:spPr>
        <p:txBody>
          <a:bodyPr wrap="square" rtlCol="0" anchor="ctr"/>
          <a:lstStyle/>
          <a:p>
            <a:pPr marL="342900" indent="-342900">
              <a:buSzPct val="100000"/>
              <a:buChar char="•"/>
            </a:pPr>
            <a:r>
              <a:rPr lang="en-US" sz="1200" dirty="0">
                <a:solidFill>
                  <a:srgbClr val="17212B"/>
                </a:solidFill>
                <a:latin typeface="Calibri" pitchFamily="34" charset="0"/>
                <a:ea typeface="Calibri" pitchFamily="34" charset="-122"/>
                <a:cs typeface="Calibri" pitchFamily="34" charset="-120"/>
              </a:rPr>
              <a:t>Nghị định 214/2025/NĐ-CP — 145 Điều</a:t>
            </a:r>
            <a:endParaRPr lang="en-US" sz="1200" dirty="0"/>
          </a:p>
        </p:txBody>
      </p:sp>
      <p:sp>
        <p:nvSpPr>
          <p:cNvPr id="19" name="Text 17"/>
          <p:cNvSpPr/>
          <p:nvPr/>
        </p:nvSpPr>
        <p:spPr>
          <a:xfrm>
            <a:off x="914400" y="5340096"/>
            <a:ext cx="10332720" cy="365760"/>
          </a:xfrm>
          <a:prstGeom prst="rect">
            <a:avLst/>
          </a:prstGeom>
          <a:noFill/>
          <a:ln/>
        </p:spPr>
        <p:txBody>
          <a:bodyPr wrap="square" rtlCol="0" anchor="ctr"/>
          <a:lstStyle/>
          <a:p>
            <a:pPr marL="342900" indent="-342900">
              <a:buSzPct val="100000"/>
              <a:buChar char="•"/>
            </a:pPr>
            <a:r>
              <a:rPr lang="en-US" sz="1200" dirty="0">
                <a:solidFill>
                  <a:srgbClr val="17212B"/>
                </a:solidFill>
                <a:latin typeface="Calibri" pitchFamily="34" charset="0"/>
                <a:ea typeface="Calibri" pitchFamily="34" charset="-122"/>
                <a:cs typeface="Calibri" pitchFamily="34" charset="-120"/>
              </a:rPr>
              <a:t>Thông tư 01/2024 &amp; 22/2024/TT-BKHĐT — 48 Điều</a:t>
            </a:r>
            <a:endParaRPr lang="en-US" sz="1200" dirty="0"/>
          </a:p>
        </p:txBody>
      </p:sp>
      <p:sp>
        <p:nvSpPr>
          <p:cNvPr id="20" name="Text 18"/>
          <p:cNvSpPr/>
          <p:nvPr/>
        </p:nvSpPr>
        <p:spPr>
          <a:xfrm>
            <a:off x="914400" y="5724144"/>
            <a:ext cx="10332720" cy="365760"/>
          </a:xfrm>
          <a:prstGeom prst="rect">
            <a:avLst/>
          </a:prstGeom>
          <a:noFill/>
          <a:ln/>
        </p:spPr>
        <p:txBody>
          <a:bodyPr wrap="square" rtlCol="0" anchor="ctr"/>
          <a:lstStyle/>
          <a:p>
            <a:pPr marL="342900" indent="-342900">
              <a:buSzPct val="100000"/>
              <a:buChar char="•"/>
            </a:pPr>
            <a:r>
              <a:rPr lang="en-US" sz="1200" dirty="0">
                <a:solidFill>
                  <a:srgbClr val="17212B"/>
                </a:solidFill>
                <a:latin typeface="Calibri" pitchFamily="34" charset="0"/>
                <a:ea typeface="Calibri" pitchFamily="34" charset="-122"/>
                <a:cs typeface="Calibri" pitchFamily="34" charset="-120"/>
              </a:rPr>
              <a:t>Nghị định 45/2026/NĐ-CP (chuyên ngành CNTT) — 43 Điều, khôi phục từ nguồn thay thế vì bản chính thức chỉ là PDF scan ảnh</a:t>
            </a:r>
            <a:endParaRPr lang="en-US" sz="1200" dirty="0"/>
          </a:p>
        </p:txBody>
      </p:sp>
      <p:sp>
        <p:nvSpPr>
          <p:cNvPr id="21" name="Text 19"/>
          <p:cNvSpPr/>
          <p:nvPr/>
        </p:nvSpPr>
        <p:spPr>
          <a:xfrm>
            <a:off x="11548872" y="6400800"/>
            <a:ext cx="365760" cy="274320"/>
          </a:xfrm>
          <a:prstGeom prst="rect">
            <a:avLst/>
          </a:prstGeom>
          <a:noFill/>
          <a:ln/>
        </p:spPr>
        <p:txBody>
          <a:bodyPr wrap="square" rtlCol="0" anchor="ctr"/>
          <a:lstStyle/>
          <a:p>
            <a:pPr marL="0" indent="0" algn="r">
              <a:buNone/>
            </a:pPr>
            <a:r>
              <a:rPr lang="en-US" sz="1000" dirty="0">
                <a:solidFill>
                  <a:srgbClr val="5B6672"/>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2F0E9"/>
        </a:solidFill>
        <a:effectLst/>
      </p:bgPr>
    </p:bg>
    <p:spTree>
      <p:nvGrpSpPr>
        <p:cNvPr id="1" name=""/>
        <p:cNvGrpSpPr/>
        <p:nvPr/>
      </p:nvGrpSpPr>
      <p:grpSpPr>
        <a:xfrm>
          <a:off x="0" y="0"/>
          <a:ext cx="0" cy="0"/>
          <a:chOff x="0" y="0"/>
          <a:chExt cx="0" cy="0"/>
        </a:xfrm>
      </p:grpSpPr>
      <p:sp>
        <p:nvSpPr>
          <p:cNvPr id="2" name="Text 0"/>
          <p:cNvSpPr/>
          <p:nvPr/>
        </p:nvSpPr>
        <p:spPr>
          <a:xfrm>
            <a:off x="548640" y="365760"/>
            <a:ext cx="7315200" cy="365760"/>
          </a:xfrm>
          <a:prstGeom prst="rect">
            <a:avLst/>
          </a:prstGeom>
          <a:noFill/>
          <a:ln/>
        </p:spPr>
        <p:txBody>
          <a:bodyPr wrap="square" rtlCol="0" anchor="ctr"/>
          <a:lstStyle/>
          <a:p>
            <a:pPr marL="0" indent="0">
              <a:buNone/>
            </a:pPr>
            <a:r>
              <a:rPr lang="en-US" sz="1200" b="1" kern="0" spc="200" dirty="0">
                <a:solidFill>
                  <a:srgbClr val="2B6E62"/>
                </a:solidFill>
                <a:latin typeface="Calibri" pitchFamily="34" charset="0"/>
                <a:ea typeface="Calibri" pitchFamily="34" charset="-122"/>
                <a:cs typeface="Calibri" pitchFamily="34" charset="-120"/>
              </a:rPr>
              <a:t>KIẾN TRÚC HỆ THỐNG — ONLINE</a:t>
            </a:r>
            <a:endParaRPr lang="en-US" sz="1200" dirty="0"/>
          </a:p>
        </p:txBody>
      </p:sp>
      <p:sp>
        <p:nvSpPr>
          <p:cNvPr id="3" name="Text 1"/>
          <p:cNvSpPr/>
          <p:nvPr/>
        </p:nvSpPr>
        <p:spPr>
          <a:xfrm>
            <a:off x="548640" y="685800"/>
            <a:ext cx="11064240" cy="822960"/>
          </a:xfrm>
          <a:prstGeom prst="rect">
            <a:avLst/>
          </a:prstGeom>
          <a:noFill/>
          <a:ln/>
        </p:spPr>
        <p:txBody>
          <a:bodyPr wrap="square" rtlCol="0" anchor="ctr"/>
          <a:lstStyle/>
          <a:p>
            <a:pPr marL="0" indent="0" algn="l">
              <a:buNone/>
            </a:pPr>
            <a:r>
              <a:rPr lang="en-US" sz="3200" b="1" dirty="0">
                <a:solidFill>
                  <a:srgbClr val="17212B"/>
                </a:solidFill>
                <a:latin typeface="Cambria" pitchFamily="34" charset="0"/>
                <a:ea typeface="Cambria" pitchFamily="34" charset="-122"/>
                <a:cs typeface="Cambria" pitchFamily="34" charset="-120"/>
              </a:rPr>
              <a:t>Soạn HSMT: truy hồi lai + rerank → sinh có trích dẫn → kiểm tra tuân thủ</a:t>
            </a:r>
            <a:endParaRPr lang="en-US" sz="3200" dirty="0"/>
          </a:p>
        </p:txBody>
      </p:sp>
      <p:sp>
        <p:nvSpPr>
          <p:cNvPr id="4" name="Shape 2"/>
          <p:cNvSpPr/>
          <p:nvPr/>
        </p:nvSpPr>
        <p:spPr>
          <a:xfrm>
            <a:off x="548640" y="2377440"/>
            <a:ext cx="1965960" cy="1554480"/>
          </a:xfrm>
          <a:prstGeom prst="roundRect">
            <a:avLst>
              <a:gd name="adj" fmla="val 4706"/>
            </a:avLst>
          </a:prstGeom>
          <a:solidFill>
            <a:srgbClr val="E4EEEC"/>
          </a:solidFill>
          <a:ln/>
          <a:effectLst>
            <a:outerShdw blurRad="76200" dist="25400" dir="5400000" algn="bl" rotWithShape="0">
              <a:srgbClr val="000000">
                <a:alpha val="12000"/>
              </a:srgbClr>
            </a:outerShdw>
          </a:effectLst>
        </p:spPr>
      </p:sp>
      <p:sp>
        <p:nvSpPr>
          <p:cNvPr id="5" name="Text 3"/>
          <p:cNvSpPr/>
          <p:nvPr/>
        </p:nvSpPr>
        <p:spPr>
          <a:xfrm>
            <a:off x="640080" y="2377440"/>
            <a:ext cx="1783080" cy="1554480"/>
          </a:xfrm>
          <a:prstGeom prst="rect">
            <a:avLst/>
          </a:prstGeom>
          <a:noFill/>
          <a:ln/>
        </p:spPr>
        <p:txBody>
          <a:bodyPr wrap="square" rtlCol="0" anchor="ctr"/>
          <a:lstStyle/>
          <a:p>
            <a:pPr marL="0" indent="0" algn="ctr">
              <a:lnSpc>
                <a:spcPts val="1600"/>
              </a:lnSpc>
              <a:buNone/>
            </a:pPr>
            <a:r>
              <a:rPr lang="en-US" sz="1250" b="1" dirty="0">
                <a:solidFill>
                  <a:srgbClr val="17212B"/>
                </a:solidFill>
                <a:latin typeface="Calibri" pitchFamily="34" charset="0"/>
                <a:ea typeface="Calibri" pitchFamily="34" charset="-122"/>
                <a:cs typeface="Calibri" pitchFamily="34" charset="-120"/>
              </a:rPr>
              <a:t>Thông tin</a:t>
            </a:r>
            <a:endParaRPr lang="en-US" sz="1250" dirty="0"/>
          </a:p>
          <a:p>
            <a:pPr marL="0" indent="0" algn="ctr">
              <a:lnSpc>
                <a:spcPts val="1600"/>
              </a:lnSpc>
              <a:buNone/>
            </a:pPr>
            <a:r>
              <a:rPr lang="en-US" sz="1250" b="1" dirty="0">
                <a:solidFill>
                  <a:srgbClr val="17212B"/>
                </a:solidFill>
                <a:latin typeface="Calibri" pitchFamily="34" charset="0"/>
                <a:ea typeface="Calibri" pitchFamily="34" charset="-122"/>
                <a:cs typeface="Calibri" pitchFamily="34" charset="-120"/>
              </a:rPr>
              <a:t>gói thầu</a:t>
            </a:r>
            <a:endParaRPr lang="en-US" sz="1250" dirty="0"/>
          </a:p>
        </p:txBody>
      </p:sp>
      <p:sp>
        <p:nvSpPr>
          <p:cNvPr id="6" name="Shape 4"/>
          <p:cNvSpPr/>
          <p:nvPr/>
        </p:nvSpPr>
        <p:spPr>
          <a:xfrm>
            <a:off x="2542032" y="3035808"/>
            <a:ext cx="201168" cy="237744"/>
          </a:xfrm>
          <a:prstGeom prst="rightArrow">
            <a:avLst/>
          </a:prstGeom>
          <a:solidFill>
            <a:srgbClr val="17212B"/>
          </a:solidFill>
          <a:ln/>
        </p:spPr>
      </p:sp>
      <p:sp>
        <p:nvSpPr>
          <p:cNvPr id="7" name="Shape 5"/>
          <p:cNvSpPr/>
          <p:nvPr/>
        </p:nvSpPr>
        <p:spPr>
          <a:xfrm>
            <a:off x="2770632" y="2377440"/>
            <a:ext cx="1965960" cy="1554480"/>
          </a:xfrm>
          <a:prstGeom prst="roundRect">
            <a:avLst>
              <a:gd name="adj" fmla="val 4706"/>
            </a:avLst>
          </a:prstGeom>
          <a:solidFill>
            <a:srgbClr val="E4EEEC"/>
          </a:solidFill>
          <a:ln/>
          <a:effectLst>
            <a:outerShdw blurRad="76200" dist="25400" dir="5400000" algn="bl" rotWithShape="0">
              <a:srgbClr val="000000">
                <a:alpha val="12000"/>
              </a:srgbClr>
            </a:outerShdw>
          </a:effectLst>
        </p:spPr>
      </p:sp>
      <p:sp>
        <p:nvSpPr>
          <p:cNvPr id="8" name="Text 6"/>
          <p:cNvSpPr/>
          <p:nvPr/>
        </p:nvSpPr>
        <p:spPr>
          <a:xfrm>
            <a:off x="2862072" y="2377440"/>
            <a:ext cx="1783080" cy="1554480"/>
          </a:xfrm>
          <a:prstGeom prst="rect">
            <a:avLst/>
          </a:prstGeom>
          <a:noFill/>
          <a:ln/>
        </p:spPr>
        <p:txBody>
          <a:bodyPr wrap="square" rtlCol="0" anchor="ctr"/>
          <a:lstStyle/>
          <a:p>
            <a:pPr marL="0" indent="0" algn="ctr">
              <a:lnSpc>
                <a:spcPts val="1600"/>
              </a:lnSpc>
              <a:buNone/>
            </a:pPr>
            <a:r>
              <a:rPr lang="en-US" sz="1250" b="1" dirty="0">
                <a:solidFill>
                  <a:srgbClr val="17212B"/>
                </a:solidFill>
                <a:latin typeface="Calibri" pitchFamily="34" charset="0"/>
                <a:ea typeface="Calibri" pitchFamily="34" charset="-122"/>
                <a:cs typeface="Calibri" pitchFamily="34" charset="-120"/>
              </a:rPr>
              <a:t>Hybrid</a:t>
            </a:r>
            <a:endParaRPr lang="en-US" sz="1250" dirty="0"/>
          </a:p>
          <a:p>
            <a:pPr marL="0" indent="0" algn="ctr">
              <a:lnSpc>
                <a:spcPts val="1600"/>
              </a:lnSpc>
              <a:buNone/>
            </a:pPr>
            <a:r>
              <a:rPr lang="en-US" sz="1250" b="1" dirty="0">
                <a:solidFill>
                  <a:srgbClr val="17212B"/>
                </a:solidFill>
                <a:latin typeface="Calibri" pitchFamily="34" charset="0"/>
                <a:ea typeface="Calibri" pitchFamily="34" charset="-122"/>
                <a:cs typeface="Calibri" pitchFamily="34" charset="-120"/>
              </a:rPr>
              <a:t>Retrieve</a:t>
            </a:r>
            <a:endParaRPr lang="en-US" sz="1250" dirty="0"/>
          </a:p>
          <a:p>
            <a:pPr marL="0" indent="0" algn="ctr">
              <a:lnSpc>
                <a:spcPts val="1600"/>
              </a:lnSpc>
              <a:buNone/>
            </a:pPr>
            <a:r>
              <a:rPr lang="en-US" sz="1250" b="1" dirty="0">
                <a:solidFill>
                  <a:srgbClr val="17212B"/>
                </a:solidFill>
                <a:latin typeface="Calibri" pitchFamily="34" charset="0"/>
                <a:ea typeface="Calibri" pitchFamily="34" charset="-122"/>
                <a:cs typeface="Calibri" pitchFamily="34" charset="-120"/>
              </a:rPr>
              <a:t>(dense+BM25)</a:t>
            </a:r>
            <a:endParaRPr lang="en-US" sz="1250" dirty="0"/>
          </a:p>
        </p:txBody>
      </p:sp>
      <p:sp>
        <p:nvSpPr>
          <p:cNvPr id="9" name="Shape 7"/>
          <p:cNvSpPr/>
          <p:nvPr/>
        </p:nvSpPr>
        <p:spPr>
          <a:xfrm>
            <a:off x="4764024" y="3035808"/>
            <a:ext cx="201168" cy="237744"/>
          </a:xfrm>
          <a:prstGeom prst="rightArrow">
            <a:avLst/>
          </a:prstGeom>
          <a:solidFill>
            <a:srgbClr val="17212B"/>
          </a:solidFill>
          <a:ln/>
        </p:spPr>
      </p:sp>
      <p:sp>
        <p:nvSpPr>
          <p:cNvPr id="10" name="Shape 8"/>
          <p:cNvSpPr/>
          <p:nvPr/>
        </p:nvSpPr>
        <p:spPr>
          <a:xfrm>
            <a:off x="4992624" y="2377440"/>
            <a:ext cx="1965960" cy="1554480"/>
          </a:xfrm>
          <a:prstGeom prst="roundRect">
            <a:avLst>
              <a:gd name="adj" fmla="val 4706"/>
            </a:avLst>
          </a:prstGeom>
          <a:solidFill>
            <a:srgbClr val="E4EEEC"/>
          </a:solidFill>
          <a:ln/>
          <a:effectLst>
            <a:outerShdw blurRad="76200" dist="25400" dir="5400000" algn="bl" rotWithShape="0">
              <a:srgbClr val="000000">
                <a:alpha val="12000"/>
              </a:srgbClr>
            </a:outerShdw>
          </a:effectLst>
        </p:spPr>
      </p:sp>
      <p:sp>
        <p:nvSpPr>
          <p:cNvPr id="11" name="Text 9"/>
          <p:cNvSpPr/>
          <p:nvPr/>
        </p:nvSpPr>
        <p:spPr>
          <a:xfrm>
            <a:off x="5084064" y="2377440"/>
            <a:ext cx="1783080" cy="1554480"/>
          </a:xfrm>
          <a:prstGeom prst="rect">
            <a:avLst/>
          </a:prstGeom>
          <a:noFill/>
          <a:ln/>
        </p:spPr>
        <p:txBody>
          <a:bodyPr wrap="square" rtlCol="0" anchor="ctr"/>
          <a:lstStyle/>
          <a:p>
            <a:pPr marL="0" indent="0" algn="ctr">
              <a:lnSpc>
                <a:spcPts val="1600"/>
              </a:lnSpc>
              <a:buNone/>
            </a:pPr>
            <a:r>
              <a:rPr lang="en-US" sz="1250" b="1" dirty="0">
                <a:solidFill>
                  <a:srgbClr val="17212B"/>
                </a:solidFill>
                <a:latin typeface="Calibri" pitchFamily="34" charset="0"/>
                <a:ea typeface="Calibri" pitchFamily="34" charset="-122"/>
                <a:cs typeface="Calibri" pitchFamily="34" charset="-120"/>
              </a:rPr>
              <a:t>Rerank</a:t>
            </a:r>
            <a:endParaRPr lang="en-US" sz="1250" dirty="0"/>
          </a:p>
          <a:p>
            <a:pPr marL="0" indent="0" algn="ctr">
              <a:lnSpc>
                <a:spcPts val="1600"/>
              </a:lnSpc>
              <a:buNone/>
            </a:pPr>
            <a:r>
              <a:rPr lang="en-US" sz="1250" b="1" dirty="0">
                <a:solidFill>
                  <a:srgbClr val="17212B"/>
                </a:solidFill>
                <a:latin typeface="Calibri" pitchFamily="34" charset="0"/>
                <a:ea typeface="Calibri" pitchFamily="34" charset="-122"/>
                <a:cs typeface="Calibri" pitchFamily="34" charset="-120"/>
              </a:rPr>
              <a:t>(cross-encoder)</a:t>
            </a:r>
            <a:endParaRPr lang="en-US" sz="1250" dirty="0"/>
          </a:p>
        </p:txBody>
      </p:sp>
      <p:sp>
        <p:nvSpPr>
          <p:cNvPr id="12" name="Shape 10"/>
          <p:cNvSpPr/>
          <p:nvPr/>
        </p:nvSpPr>
        <p:spPr>
          <a:xfrm>
            <a:off x="6986016" y="3035808"/>
            <a:ext cx="201168" cy="237744"/>
          </a:xfrm>
          <a:prstGeom prst="rightArrow">
            <a:avLst/>
          </a:prstGeom>
          <a:solidFill>
            <a:srgbClr val="17212B"/>
          </a:solidFill>
          <a:ln/>
        </p:spPr>
      </p:sp>
      <p:sp>
        <p:nvSpPr>
          <p:cNvPr id="13" name="Shape 11"/>
          <p:cNvSpPr/>
          <p:nvPr/>
        </p:nvSpPr>
        <p:spPr>
          <a:xfrm>
            <a:off x="7214616" y="2377440"/>
            <a:ext cx="1965960" cy="1554480"/>
          </a:xfrm>
          <a:prstGeom prst="roundRect">
            <a:avLst>
              <a:gd name="adj" fmla="val 4706"/>
            </a:avLst>
          </a:prstGeom>
          <a:solidFill>
            <a:srgbClr val="B8863B"/>
          </a:solidFill>
          <a:ln/>
          <a:effectLst>
            <a:outerShdw blurRad="76200" dist="25400" dir="5400000" algn="bl" rotWithShape="0">
              <a:srgbClr val="000000">
                <a:alpha val="12000"/>
              </a:srgbClr>
            </a:outerShdw>
          </a:effectLst>
        </p:spPr>
      </p:sp>
      <p:sp>
        <p:nvSpPr>
          <p:cNvPr id="14" name="Text 12"/>
          <p:cNvSpPr/>
          <p:nvPr/>
        </p:nvSpPr>
        <p:spPr>
          <a:xfrm>
            <a:off x="7306056" y="2377440"/>
            <a:ext cx="1783080" cy="1554480"/>
          </a:xfrm>
          <a:prstGeom prst="rect">
            <a:avLst/>
          </a:prstGeom>
          <a:noFill/>
          <a:ln/>
        </p:spPr>
        <p:txBody>
          <a:bodyPr wrap="square" rtlCol="0" anchor="ctr"/>
          <a:lstStyle/>
          <a:p>
            <a:pPr marL="0" indent="0" algn="ctr">
              <a:lnSpc>
                <a:spcPts val="1600"/>
              </a:lnSpc>
              <a:buNone/>
            </a:pPr>
            <a:r>
              <a:rPr lang="en-US" sz="1250" b="1" dirty="0">
                <a:solidFill>
                  <a:srgbClr val="FFFFFF"/>
                </a:solidFill>
                <a:latin typeface="Calibri" pitchFamily="34" charset="0"/>
                <a:ea typeface="Calibri" pitchFamily="34" charset="-122"/>
                <a:cs typeface="Calibri" pitchFamily="34" charset="-120"/>
              </a:rPr>
              <a:t>Claude API</a:t>
            </a:r>
            <a:endParaRPr lang="en-US" sz="1250" dirty="0"/>
          </a:p>
          <a:p>
            <a:pPr marL="0" indent="0" algn="ctr">
              <a:lnSpc>
                <a:spcPts val="1600"/>
              </a:lnSpc>
              <a:buNone/>
            </a:pPr>
            <a:r>
              <a:rPr lang="en-US" sz="1250" b="1" dirty="0">
                <a:solidFill>
                  <a:srgbClr val="FFFFFF"/>
                </a:solidFill>
                <a:latin typeface="Calibri" pitchFamily="34" charset="0"/>
                <a:ea typeface="Calibri" pitchFamily="34" charset="-122"/>
                <a:cs typeface="Calibri" pitchFamily="34" charset="-120"/>
              </a:rPr>
              <a:t>soạn + trích dẫn</a:t>
            </a:r>
            <a:endParaRPr lang="en-US" sz="1250" dirty="0"/>
          </a:p>
        </p:txBody>
      </p:sp>
      <p:sp>
        <p:nvSpPr>
          <p:cNvPr id="15" name="Shape 13"/>
          <p:cNvSpPr/>
          <p:nvPr/>
        </p:nvSpPr>
        <p:spPr>
          <a:xfrm>
            <a:off x="9208008" y="3035808"/>
            <a:ext cx="201168" cy="237744"/>
          </a:xfrm>
          <a:prstGeom prst="rightArrow">
            <a:avLst/>
          </a:prstGeom>
          <a:solidFill>
            <a:srgbClr val="17212B"/>
          </a:solidFill>
          <a:ln/>
        </p:spPr>
      </p:sp>
      <p:sp>
        <p:nvSpPr>
          <p:cNvPr id="16" name="Shape 14"/>
          <p:cNvSpPr/>
          <p:nvPr/>
        </p:nvSpPr>
        <p:spPr>
          <a:xfrm>
            <a:off x="9436608" y="2377440"/>
            <a:ext cx="1965960" cy="1554480"/>
          </a:xfrm>
          <a:prstGeom prst="roundRect">
            <a:avLst>
              <a:gd name="adj" fmla="val 4706"/>
            </a:avLst>
          </a:prstGeom>
          <a:solidFill>
            <a:srgbClr val="E4EEEC"/>
          </a:solidFill>
          <a:ln/>
          <a:effectLst>
            <a:outerShdw blurRad="76200" dist="25400" dir="5400000" algn="bl" rotWithShape="0">
              <a:srgbClr val="000000">
                <a:alpha val="12000"/>
              </a:srgbClr>
            </a:outerShdw>
          </a:effectLst>
        </p:spPr>
      </p:sp>
      <p:sp>
        <p:nvSpPr>
          <p:cNvPr id="17" name="Text 15"/>
          <p:cNvSpPr/>
          <p:nvPr/>
        </p:nvSpPr>
        <p:spPr>
          <a:xfrm>
            <a:off x="9528048" y="2377440"/>
            <a:ext cx="1783080" cy="1554480"/>
          </a:xfrm>
          <a:prstGeom prst="rect">
            <a:avLst/>
          </a:prstGeom>
          <a:noFill/>
          <a:ln/>
        </p:spPr>
        <p:txBody>
          <a:bodyPr wrap="square" rtlCol="0" anchor="ctr"/>
          <a:lstStyle/>
          <a:p>
            <a:pPr marL="0" indent="0" algn="ctr">
              <a:lnSpc>
                <a:spcPts val="1600"/>
              </a:lnSpc>
              <a:buNone/>
            </a:pPr>
            <a:r>
              <a:rPr lang="en-US" sz="1250" b="1" dirty="0">
                <a:solidFill>
                  <a:srgbClr val="17212B"/>
                </a:solidFill>
                <a:latin typeface="Calibri" pitchFamily="34" charset="0"/>
                <a:ea typeface="Calibri" pitchFamily="34" charset="-122"/>
                <a:cs typeface="Calibri" pitchFamily="34" charset="-120"/>
              </a:rPr>
              <a:t>Kiểm tra</a:t>
            </a:r>
            <a:endParaRPr lang="en-US" sz="1250" dirty="0"/>
          </a:p>
          <a:p>
            <a:pPr marL="0" indent="0" algn="ctr">
              <a:lnSpc>
                <a:spcPts val="1600"/>
              </a:lnSpc>
              <a:buNone/>
            </a:pPr>
            <a:r>
              <a:rPr lang="en-US" sz="1250" b="1" dirty="0">
                <a:solidFill>
                  <a:srgbClr val="17212B"/>
                </a:solidFill>
                <a:latin typeface="Calibri" pitchFamily="34" charset="0"/>
                <a:ea typeface="Calibri" pitchFamily="34" charset="-122"/>
                <a:cs typeface="Calibri" pitchFamily="34" charset="-120"/>
              </a:rPr>
              <a:t>tuân thủ</a:t>
            </a:r>
            <a:endParaRPr lang="en-US" sz="1250" dirty="0"/>
          </a:p>
        </p:txBody>
      </p:sp>
      <p:sp>
        <p:nvSpPr>
          <p:cNvPr id="18" name="Shape 16"/>
          <p:cNvSpPr/>
          <p:nvPr/>
        </p:nvSpPr>
        <p:spPr>
          <a:xfrm>
            <a:off x="548640" y="4297680"/>
            <a:ext cx="5257800" cy="1874520"/>
          </a:xfrm>
          <a:prstGeom prst="roundRect">
            <a:avLst>
              <a:gd name="adj" fmla="val 3902"/>
            </a:avLst>
          </a:prstGeom>
          <a:solidFill>
            <a:srgbClr val="FFFFFF"/>
          </a:solidFill>
          <a:ln/>
          <a:effectLst>
            <a:outerShdw blurRad="76200" dist="25400" dir="5400000" algn="bl" rotWithShape="0">
              <a:srgbClr val="000000">
                <a:alpha val="12000"/>
              </a:srgbClr>
            </a:outerShdw>
          </a:effectLst>
        </p:spPr>
      </p:sp>
      <p:sp>
        <p:nvSpPr>
          <p:cNvPr id="19" name="Text 17"/>
          <p:cNvSpPr/>
          <p:nvPr/>
        </p:nvSpPr>
        <p:spPr>
          <a:xfrm>
            <a:off x="822960" y="4434840"/>
            <a:ext cx="4663440" cy="320040"/>
          </a:xfrm>
          <a:prstGeom prst="rect">
            <a:avLst/>
          </a:prstGeom>
          <a:noFill/>
          <a:ln/>
        </p:spPr>
        <p:txBody>
          <a:bodyPr wrap="square" rtlCol="0" anchor="ctr"/>
          <a:lstStyle/>
          <a:p>
            <a:pPr marL="0" indent="0">
              <a:buNone/>
            </a:pPr>
            <a:r>
              <a:rPr lang="en-US" sz="1400" b="1" dirty="0">
                <a:solidFill>
                  <a:srgbClr val="2B6E62"/>
                </a:solidFill>
                <a:latin typeface="Cambria" pitchFamily="34" charset="0"/>
                <a:ea typeface="Cambria" pitchFamily="34" charset="-122"/>
                <a:cs typeface="Cambria" pitchFamily="34" charset="-120"/>
              </a:rPr>
              <a:t>Bộ kiểm tra số liệu độc lập</a:t>
            </a:r>
            <a:endParaRPr lang="en-US" sz="1400" dirty="0"/>
          </a:p>
        </p:txBody>
      </p:sp>
      <p:sp>
        <p:nvSpPr>
          <p:cNvPr id="20" name="Text 18"/>
          <p:cNvSpPr/>
          <p:nvPr/>
        </p:nvSpPr>
        <p:spPr>
          <a:xfrm>
            <a:off x="822960" y="4754880"/>
            <a:ext cx="4663440" cy="1280160"/>
          </a:xfrm>
          <a:prstGeom prst="rect">
            <a:avLst/>
          </a:prstGeom>
          <a:noFill/>
          <a:ln/>
        </p:spPr>
        <p:txBody>
          <a:bodyPr wrap="square" rtlCol="0" anchor="ctr"/>
          <a:lstStyle/>
          <a:p>
            <a:pPr marL="0" indent="0">
              <a:lnSpc>
                <a:spcPts val="1700"/>
              </a:lnSpc>
              <a:buNone/>
            </a:pPr>
            <a:r>
              <a:rPr lang="en-US" sz="1200" dirty="0">
                <a:solidFill>
                  <a:srgbClr val="5B6672"/>
                </a:solidFill>
                <a:latin typeface="Calibri" pitchFamily="34" charset="0"/>
                <a:ea typeface="Calibri" pitchFamily="34" charset="-122"/>
                <a:cs typeface="Calibri" pitchFamily="34" charset="-120"/>
              </a:rPr>
              <a:t>Mọi con số trong văn bản sinh ra phải khớp với thông tin gói thầu người dùng nhập — lệch thì gắn cờ R4, không để mô hình tự quyết định số liệu nghiệp vụ.</a:t>
            </a:r>
            <a:endParaRPr lang="en-US" sz="1200" dirty="0"/>
          </a:p>
        </p:txBody>
      </p:sp>
      <p:sp>
        <p:nvSpPr>
          <p:cNvPr id="21" name="Shape 19"/>
          <p:cNvSpPr/>
          <p:nvPr/>
        </p:nvSpPr>
        <p:spPr>
          <a:xfrm>
            <a:off x="6035040" y="4297680"/>
            <a:ext cx="5577840" cy="1874520"/>
          </a:xfrm>
          <a:prstGeom prst="roundRect">
            <a:avLst>
              <a:gd name="adj" fmla="val 3902"/>
            </a:avLst>
          </a:prstGeom>
          <a:solidFill>
            <a:srgbClr val="FFFFFF"/>
          </a:solidFill>
          <a:ln/>
          <a:effectLst>
            <a:outerShdw blurRad="76200" dist="25400" dir="5400000" algn="bl" rotWithShape="0">
              <a:srgbClr val="000000">
                <a:alpha val="12000"/>
              </a:srgbClr>
            </a:outerShdw>
          </a:effectLst>
        </p:spPr>
      </p:sp>
      <p:sp>
        <p:nvSpPr>
          <p:cNvPr id="22" name="Text 20"/>
          <p:cNvSpPr/>
          <p:nvPr/>
        </p:nvSpPr>
        <p:spPr>
          <a:xfrm>
            <a:off x="6309360" y="4434840"/>
            <a:ext cx="5029200" cy="320040"/>
          </a:xfrm>
          <a:prstGeom prst="rect">
            <a:avLst/>
          </a:prstGeom>
          <a:noFill/>
          <a:ln/>
        </p:spPr>
        <p:txBody>
          <a:bodyPr wrap="square" rtlCol="0" anchor="ctr"/>
          <a:lstStyle/>
          <a:p>
            <a:pPr marL="0" indent="0">
              <a:buNone/>
            </a:pPr>
            <a:r>
              <a:rPr lang="en-US" sz="1300" b="1" dirty="0">
                <a:solidFill>
                  <a:srgbClr val="2B6E62"/>
                </a:solidFill>
                <a:latin typeface="Cambria" pitchFamily="34" charset="0"/>
                <a:ea typeface="Cambria" pitchFamily="34" charset="-122"/>
                <a:cs typeface="Cambria" pitchFamily="34" charset="-120"/>
              </a:rPr>
              <a:t>Cờ tuân thủ R1–R5 — phòng thủ 2 lớp</a:t>
            </a:r>
            <a:endParaRPr lang="en-US" sz="1300" dirty="0"/>
          </a:p>
        </p:txBody>
      </p:sp>
      <p:sp>
        <p:nvSpPr>
          <p:cNvPr id="23" name="Text 21"/>
          <p:cNvSpPr/>
          <p:nvPr/>
        </p:nvSpPr>
        <p:spPr>
          <a:xfrm>
            <a:off x="6309360" y="4754880"/>
            <a:ext cx="5029200" cy="1280160"/>
          </a:xfrm>
          <a:prstGeom prst="rect">
            <a:avLst/>
          </a:prstGeom>
          <a:noFill/>
          <a:ln/>
        </p:spPr>
        <p:txBody>
          <a:bodyPr wrap="square" rtlCol="0" anchor="ctr"/>
          <a:lstStyle/>
          <a:p>
            <a:pPr marL="0" indent="0">
              <a:lnSpc>
                <a:spcPts val="1400"/>
              </a:lnSpc>
              <a:buNone/>
            </a:pPr>
            <a:r>
              <a:rPr lang="en-US" sz="1050" dirty="0">
                <a:solidFill>
                  <a:srgbClr val="5B6672"/>
                </a:solidFill>
                <a:latin typeface="Calibri" pitchFamily="34" charset="0"/>
                <a:ea typeface="Calibri" pitchFamily="34" charset="-122"/>
                <a:cs typeface="Calibri" pitchFamily="34" charset="-120"/>
              </a:rPr>
              <a:t>Lớp 1: system prompt cấm sẵn tiêu chí hạn chế cạnh tranh ngay khi soạn. Lớp 2: rà soát sau, đủ thành phần Điều 44 (R5); ngữ cảnh gửi Claude là TRỌN Điều.</a:t>
            </a:r>
            <a:endParaRPr lang="en-US" sz="1050" dirty="0"/>
          </a:p>
        </p:txBody>
      </p:sp>
      <p:sp>
        <p:nvSpPr>
          <p:cNvPr id="24" name="Text 22"/>
          <p:cNvSpPr/>
          <p:nvPr/>
        </p:nvSpPr>
        <p:spPr>
          <a:xfrm>
            <a:off x="11548872" y="6400800"/>
            <a:ext cx="365760" cy="274320"/>
          </a:xfrm>
          <a:prstGeom prst="rect">
            <a:avLst/>
          </a:prstGeom>
          <a:noFill/>
          <a:ln/>
        </p:spPr>
        <p:txBody>
          <a:bodyPr wrap="square" rtlCol="0" anchor="ctr"/>
          <a:lstStyle/>
          <a:p>
            <a:pPr marL="0" indent="0" algn="r">
              <a:buNone/>
            </a:pPr>
            <a:r>
              <a:rPr lang="en-US" sz="1000" dirty="0">
                <a:solidFill>
                  <a:srgbClr val="5B6672"/>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2F0E9"/>
        </a:solidFill>
        <a:effectLst/>
      </p:bgPr>
    </p:bg>
    <p:spTree>
      <p:nvGrpSpPr>
        <p:cNvPr id="1" name=""/>
        <p:cNvGrpSpPr/>
        <p:nvPr/>
      </p:nvGrpSpPr>
      <p:grpSpPr>
        <a:xfrm>
          <a:off x="0" y="0"/>
          <a:ext cx="0" cy="0"/>
          <a:chOff x="0" y="0"/>
          <a:chExt cx="0" cy="0"/>
        </a:xfrm>
      </p:grpSpPr>
      <p:sp>
        <p:nvSpPr>
          <p:cNvPr id="2" name="Text 0"/>
          <p:cNvSpPr/>
          <p:nvPr/>
        </p:nvSpPr>
        <p:spPr>
          <a:xfrm>
            <a:off x="548640" y="365760"/>
            <a:ext cx="7315200" cy="365760"/>
          </a:xfrm>
          <a:prstGeom prst="rect">
            <a:avLst/>
          </a:prstGeom>
          <a:noFill/>
          <a:ln/>
        </p:spPr>
        <p:txBody>
          <a:bodyPr wrap="square" rtlCol="0" anchor="ctr"/>
          <a:lstStyle/>
          <a:p>
            <a:pPr marL="0" indent="0">
              <a:buNone/>
            </a:pPr>
            <a:r>
              <a:rPr lang="en-US" sz="1200" b="1" kern="0" spc="200" dirty="0">
                <a:solidFill>
                  <a:srgbClr val="2B6E62"/>
                </a:solidFill>
                <a:latin typeface="Calibri" pitchFamily="34" charset="0"/>
                <a:ea typeface="Calibri" pitchFamily="34" charset="-122"/>
                <a:cs typeface="Calibri" pitchFamily="34" charset="-120"/>
              </a:rPr>
              <a:t>SẢN PHẨM BÀN GIAO</a:t>
            </a:r>
            <a:endParaRPr lang="en-US" sz="1200" dirty="0"/>
          </a:p>
        </p:txBody>
      </p:sp>
      <p:sp>
        <p:nvSpPr>
          <p:cNvPr id="3" name="Text 1"/>
          <p:cNvSpPr/>
          <p:nvPr/>
        </p:nvSpPr>
        <p:spPr>
          <a:xfrm>
            <a:off x="548640" y="685800"/>
            <a:ext cx="11064240" cy="822960"/>
          </a:xfrm>
          <a:prstGeom prst="rect">
            <a:avLst/>
          </a:prstGeom>
          <a:noFill/>
          <a:ln/>
        </p:spPr>
        <p:txBody>
          <a:bodyPr wrap="square" rtlCol="0" anchor="ctr"/>
          <a:lstStyle/>
          <a:p>
            <a:pPr marL="0" indent="0" algn="l">
              <a:buNone/>
            </a:pPr>
            <a:r>
              <a:rPr lang="en-US" sz="3200" b="1" dirty="0">
                <a:solidFill>
                  <a:srgbClr val="17212B"/>
                </a:solidFill>
                <a:latin typeface="Cambria" pitchFamily="34" charset="0"/>
                <a:ea typeface="Cambria" pitchFamily="34" charset="-122"/>
                <a:cs typeface="Cambria" pitchFamily="34" charset="-120"/>
              </a:rPr>
              <a:t>Ba mức kết quả — không sinh trọn bộ HSMT bằng một prompt</a:t>
            </a:r>
            <a:endParaRPr lang="en-US" sz="3200" dirty="0"/>
          </a:p>
        </p:txBody>
      </p:sp>
      <p:sp>
        <p:nvSpPr>
          <p:cNvPr id="4" name="Shape 2"/>
          <p:cNvSpPr/>
          <p:nvPr/>
        </p:nvSpPr>
        <p:spPr>
          <a:xfrm>
            <a:off x="548640" y="2194560"/>
            <a:ext cx="3520440" cy="3566160"/>
          </a:xfrm>
          <a:prstGeom prst="roundRect">
            <a:avLst>
              <a:gd name="adj" fmla="val 2078"/>
            </a:avLst>
          </a:prstGeom>
          <a:solidFill>
            <a:srgbClr val="FFFFFF"/>
          </a:solidFill>
          <a:ln/>
          <a:effectLst>
            <a:outerShdw blurRad="76200" dist="25400" dir="5400000" algn="bl" rotWithShape="0">
              <a:srgbClr val="000000">
                <a:alpha val="12000"/>
              </a:srgbClr>
            </a:outerShdw>
          </a:effectLst>
        </p:spPr>
      </p:sp>
      <p:sp>
        <p:nvSpPr>
          <p:cNvPr id="5" name="Text 3"/>
          <p:cNvSpPr/>
          <p:nvPr/>
        </p:nvSpPr>
        <p:spPr>
          <a:xfrm>
            <a:off x="822960" y="2468880"/>
            <a:ext cx="2971800" cy="365760"/>
          </a:xfrm>
          <a:prstGeom prst="rect">
            <a:avLst/>
          </a:prstGeom>
          <a:noFill/>
          <a:ln/>
        </p:spPr>
        <p:txBody>
          <a:bodyPr wrap="square" rtlCol="0" anchor="ctr"/>
          <a:lstStyle/>
          <a:p>
            <a:pPr marL="0" indent="0">
              <a:buNone/>
            </a:pPr>
            <a:r>
              <a:rPr lang="en-US" sz="1300" b="1" kern="0" spc="150" dirty="0">
                <a:solidFill>
                  <a:srgbClr val="2B6E62"/>
                </a:solidFill>
                <a:latin typeface="Calibri" pitchFamily="34" charset="0"/>
                <a:ea typeface="Calibri" pitchFamily="34" charset="-122"/>
                <a:cs typeface="Calibri" pitchFamily="34" charset="-120"/>
              </a:rPr>
              <a:t>MỨC 1</a:t>
            </a:r>
            <a:endParaRPr lang="en-US" sz="1300" dirty="0"/>
          </a:p>
        </p:txBody>
      </p:sp>
      <p:sp>
        <p:nvSpPr>
          <p:cNvPr id="6" name="Text 4"/>
          <p:cNvSpPr/>
          <p:nvPr/>
        </p:nvSpPr>
        <p:spPr>
          <a:xfrm>
            <a:off x="822960" y="2880360"/>
            <a:ext cx="2971800" cy="822960"/>
          </a:xfrm>
          <a:prstGeom prst="rect">
            <a:avLst/>
          </a:prstGeom>
          <a:noFill/>
          <a:ln/>
        </p:spPr>
        <p:txBody>
          <a:bodyPr wrap="square" rtlCol="0" anchor="ctr"/>
          <a:lstStyle/>
          <a:p>
            <a:pPr marL="0" indent="0">
              <a:lnSpc>
                <a:spcPts val="2300"/>
              </a:lnSpc>
              <a:buNone/>
            </a:pPr>
            <a:r>
              <a:rPr lang="en-US" sz="1900" b="1" dirty="0">
                <a:solidFill>
                  <a:srgbClr val="17212B"/>
                </a:solidFill>
                <a:latin typeface="Cambria" pitchFamily="34" charset="0"/>
                <a:ea typeface="Cambria" pitchFamily="34" charset="-122"/>
                <a:cs typeface="Cambria" pitchFamily="34" charset="-120"/>
              </a:rPr>
              <a:t>Hỏi–đáp có trích dẫn</a:t>
            </a:r>
            <a:endParaRPr lang="en-US" sz="1900" dirty="0"/>
          </a:p>
        </p:txBody>
      </p:sp>
      <p:sp>
        <p:nvSpPr>
          <p:cNvPr id="7" name="Text 5"/>
          <p:cNvSpPr/>
          <p:nvPr/>
        </p:nvSpPr>
        <p:spPr>
          <a:xfrm>
            <a:off x="822960" y="3794760"/>
            <a:ext cx="2971800" cy="1737360"/>
          </a:xfrm>
          <a:prstGeom prst="rect">
            <a:avLst/>
          </a:prstGeom>
          <a:noFill/>
          <a:ln/>
        </p:spPr>
        <p:txBody>
          <a:bodyPr wrap="square" rtlCol="0" anchor="ctr"/>
          <a:lstStyle/>
          <a:p>
            <a:pPr marL="0" indent="0">
              <a:lnSpc>
                <a:spcPts val="1700"/>
              </a:lnSpc>
              <a:buNone/>
            </a:pPr>
            <a:r>
              <a:rPr lang="en-US" sz="1250" dirty="0">
                <a:solidFill>
                  <a:srgbClr val="5B6672"/>
                </a:solidFill>
                <a:latin typeface="Calibri" pitchFamily="34" charset="0"/>
                <a:ea typeface="Calibri" pitchFamily="34" charset="-122"/>
                <a:cs typeface="Calibri" pitchFamily="34" charset="-120"/>
              </a:rPr>
              <a:t>Trả lời câu hỏi tự do về quy định đấu thầu, kèm trích dẫn Điều/Khoản thật.</a:t>
            </a:r>
            <a:endParaRPr lang="en-US" sz="1250" dirty="0"/>
          </a:p>
        </p:txBody>
      </p:sp>
      <p:sp>
        <p:nvSpPr>
          <p:cNvPr id="8" name="Shape 6"/>
          <p:cNvSpPr/>
          <p:nvPr/>
        </p:nvSpPr>
        <p:spPr>
          <a:xfrm>
            <a:off x="4389120" y="2194560"/>
            <a:ext cx="3520440" cy="3566160"/>
          </a:xfrm>
          <a:prstGeom prst="roundRect">
            <a:avLst>
              <a:gd name="adj" fmla="val 2078"/>
            </a:avLst>
          </a:prstGeom>
          <a:solidFill>
            <a:srgbClr val="17212B"/>
          </a:solidFill>
          <a:ln/>
          <a:effectLst>
            <a:outerShdw blurRad="76200" dist="25400" dir="5400000" algn="bl" rotWithShape="0">
              <a:srgbClr val="000000">
                <a:alpha val="12000"/>
              </a:srgbClr>
            </a:outerShdw>
          </a:effectLst>
        </p:spPr>
      </p:sp>
      <p:sp>
        <p:nvSpPr>
          <p:cNvPr id="9" name="Text 7"/>
          <p:cNvSpPr/>
          <p:nvPr/>
        </p:nvSpPr>
        <p:spPr>
          <a:xfrm>
            <a:off x="4663440" y="2468880"/>
            <a:ext cx="2971800" cy="365760"/>
          </a:xfrm>
          <a:prstGeom prst="rect">
            <a:avLst/>
          </a:prstGeom>
          <a:noFill/>
          <a:ln/>
        </p:spPr>
        <p:txBody>
          <a:bodyPr wrap="square" rtlCol="0" anchor="ctr"/>
          <a:lstStyle/>
          <a:p>
            <a:pPr marL="0" indent="0">
              <a:buNone/>
            </a:pPr>
            <a:r>
              <a:rPr lang="en-US" sz="1300" b="1" kern="0" spc="150" dirty="0">
                <a:solidFill>
                  <a:srgbClr val="B8863B"/>
                </a:solidFill>
                <a:latin typeface="Calibri" pitchFamily="34" charset="0"/>
                <a:ea typeface="Calibri" pitchFamily="34" charset="-122"/>
                <a:cs typeface="Calibri" pitchFamily="34" charset="-120"/>
              </a:rPr>
              <a:t>MỨC 2</a:t>
            </a:r>
            <a:endParaRPr lang="en-US" sz="1300" dirty="0"/>
          </a:p>
        </p:txBody>
      </p:sp>
      <p:sp>
        <p:nvSpPr>
          <p:cNvPr id="10" name="Text 8"/>
          <p:cNvSpPr/>
          <p:nvPr/>
        </p:nvSpPr>
        <p:spPr>
          <a:xfrm>
            <a:off x="4663440" y="2880360"/>
            <a:ext cx="2971800" cy="822960"/>
          </a:xfrm>
          <a:prstGeom prst="rect">
            <a:avLst/>
          </a:prstGeom>
          <a:noFill/>
          <a:ln/>
        </p:spPr>
        <p:txBody>
          <a:bodyPr wrap="square" rtlCol="0" anchor="ctr"/>
          <a:lstStyle/>
          <a:p>
            <a:pPr marL="0" indent="0">
              <a:lnSpc>
                <a:spcPts val="2300"/>
              </a:lnSpc>
              <a:buNone/>
            </a:pPr>
            <a:r>
              <a:rPr lang="en-US" sz="1900" b="1" dirty="0">
                <a:solidFill>
                  <a:srgbClr val="FFFFFF"/>
                </a:solidFill>
                <a:latin typeface="Cambria" pitchFamily="34" charset="0"/>
                <a:ea typeface="Cambria" pitchFamily="34" charset="-122"/>
                <a:cs typeface="Cambria" pitchFamily="34" charset="-120"/>
              </a:rPr>
              <a:t>Soạn một mục HSMT</a:t>
            </a:r>
            <a:endParaRPr lang="en-US" sz="1900" dirty="0"/>
          </a:p>
        </p:txBody>
      </p:sp>
      <p:sp>
        <p:nvSpPr>
          <p:cNvPr id="11" name="Text 9"/>
          <p:cNvSpPr/>
          <p:nvPr/>
        </p:nvSpPr>
        <p:spPr>
          <a:xfrm>
            <a:off x="4663440" y="3794760"/>
            <a:ext cx="2971800" cy="1737360"/>
          </a:xfrm>
          <a:prstGeom prst="rect">
            <a:avLst/>
          </a:prstGeom>
          <a:noFill/>
          <a:ln/>
        </p:spPr>
        <p:txBody>
          <a:bodyPr wrap="square" rtlCol="0" anchor="ctr"/>
          <a:lstStyle/>
          <a:p>
            <a:pPr marL="0" indent="0">
              <a:lnSpc>
                <a:spcPts val="1700"/>
              </a:lnSpc>
              <a:buNone/>
            </a:pPr>
            <a:r>
              <a:rPr lang="en-US" sz="1250" dirty="0">
                <a:solidFill>
                  <a:srgbClr val="CFE0DC"/>
                </a:solidFill>
                <a:latin typeface="Calibri" pitchFamily="34" charset="0"/>
                <a:ea typeface="Calibri" pitchFamily="34" charset="-122"/>
                <a:cs typeface="Calibri" pitchFamily="34" charset="-120"/>
              </a:rPr>
              <a:t>Nhập thông tin gói thầu → soạn Chương III/V, có trích dẫn + cờ tuân thủ. Trọng tâm của đề tài.</a:t>
            </a:r>
            <a:endParaRPr lang="en-US" sz="1250" dirty="0"/>
          </a:p>
        </p:txBody>
      </p:sp>
      <p:sp>
        <p:nvSpPr>
          <p:cNvPr id="12" name="Shape 10"/>
          <p:cNvSpPr/>
          <p:nvPr/>
        </p:nvSpPr>
        <p:spPr>
          <a:xfrm>
            <a:off x="8229600" y="2194560"/>
            <a:ext cx="3520440" cy="3566160"/>
          </a:xfrm>
          <a:prstGeom prst="roundRect">
            <a:avLst>
              <a:gd name="adj" fmla="val 2078"/>
            </a:avLst>
          </a:prstGeom>
          <a:solidFill>
            <a:srgbClr val="FFFFFF"/>
          </a:solidFill>
          <a:ln/>
          <a:effectLst>
            <a:outerShdw blurRad="76200" dist="25400" dir="5400000" algn="bl" rotWithShape="0">
              <a:srgbClr val="000000">
                <a:alpha val="12000"/>
              </a:srgbClr>
            </a:outerShdw>
          </a:effectLst>
        </p:spPr>
      </p:sp>
      <p:sp>
        <p:nvSpPr>
          <p:cNvPr id="13" name="Text 11"/>
          <p:cNvSpPr/>
          <p:nvPr/>
        </p:nvSpPr>
        <p:spPr>
          <a:xfrm>
            <a:off x="8503920" y="2468880"/>
            <a:ext cx="2971800" cy="365760"/>
          </a:xfrm>
          <a:prstGeom prst="rect">
            <a:avLst/>
          </a:prstGeom>
          <a:noFill/>
          <a:ln/>
        </p:spPr>
        <p:txBody>
          <a:bodyPr wrap="square" rtlCol="0" anchor="ctr"/>
          <a:lstStyle/>
          <a:p>
            <a:pPr marL="0" indent="0">
              <a:buNone/>
            </a:pPr>
            <a:r>
              <a:rPr lang="en-US" sz="1300" b="1" kern="0" spc="150" dirty="0">
                <a:solidFill>
                  <a:srgbClr val="5B6672"/>
                </a:solidFill>
                <a:latin typeface="Calibri" pitchFamily="34" charset="0"/>
                <a:ea typeface="Calibri" pitchFamily="34" charset="-122"/>
                <a:cs typeface="Calibri" pitchFamily="34" charset="-120"/>
              </a:rPr>
              <a:t>MỨC 3</a:t>
            </a:r>
            <a:endParaRPr lang="en-US" sz="1300" dirty="0"/>
          </a:p>
        </p:txBody>
      </p:sp>
      <p:sp>
        <p:nvSpPr>
          <p:cNvPr id="14" name="Text 12"/>
          <p:cNvSpPr/>
          <p:nvPr/>
        </p:nvSpPr>
        <p:spPr>
          <a:xfrm>
            <a:off x="8503920" y="2880360"/>
            <a:ext cx="2971800" cy="822960"/>
          </a:xfrm>
          <a:prstGeom prst="rect">
            <a:avLst/>
          </a:prstGeom>
          <a:noFill/>
          <a:ln/>
        </p:spPr>
        <p:txBody>
          <a:bodyPr wrap="square" rtlCol="0" anchor="ctr"/>
          <a:lstStyle/>
          <a:p>
            <a:pPr marL="0" indent="0">
              <a:lnSpc>
                <a:spcPts val="2300"/>
              </a:lnSpc>
              <a:buNone/>
            </a:pPr>
            <a:r>
              <a:rPr lang="en-US" sz="1900" b="1" dirty="0">
                <a:solidFill>
                  <a:srgbClr val="17212B"/>
                </a:solidFill>
                <a:latin typeface="Cambria" pitchFamily="34" charset="0"/>
                <a:ea typeface="Cambria" pitchFamily="34" charset="-122"/>
                <a:cs typeface="Cambria" pitchFamily="34" charset="-120"/>
              </a:rPr>
              <a:t>Ghép bản nháp một phần</a:t>
            </a:r>
            <a:endParaRPr lang="en-US" sz="1900" dirty="0"/>
          </a:p>
        </p:txBody>
      </p:sp>
      <p:sp>
        <p:nvSpPr>
          <p:cNvPr id="15" name="Text 13"/>
          <p:cNvSpPr/>
          <p:nvPr/>
        </p:nvSpPr>
        <p:spPr>
          <a:xfrm>
            <a:off x="8503920" y="3794760"/>
            <a:ext cx="2971800" cy="1737360"/>
          </a:xfrm>
          <a:prstGeom prst="rect">
            <a:avLst/>
          </a:prstGeom>
          <a:noFill/>
          <a:ln/>
        </p:spPr>
        <p:txBody>
          <a:bodyPr wrap="square" rtlCol="0" anchor="ctr"/>
          <a:lstStyle/>
          <a:p>
            <a:pPr marL="0" indent="0">
              <a:lnSpc>
                <a:spcPts val="1700"/>
              </a:lnSpc>
              <a:buNone/>
            </a:pPr>
            <a:r>
              <a:rPr lang="en-US" sz="1250" dirty="0">
                <a:solidFill>
                  <a:srgbClr val="5B6672"/>
                </a:solidFill>
                <a:latin typeface="Calibri" pitchFamily="34" charset="0"/>
                <a:ea typeface="Calibri" pitchFamily="34" charset="-122"/>
                <a:cs typeface="Calibri" pitchFamily="34" charset="-120"/>
              </a:rPr>
              <a:t>Gộp các mục đã soạn thành 1 tài liệu xuất PDF/DOCX. Chưa lắp khung cố định (chỉ dẫn nhà thầu...).</a:t>
            </a:r>
            <a:endParaRPr lang="en-US" sz="1250" dirty="0"/>
          </a:p>
        </p:txBody>
      </p:sp>
      <p:sp>
        <p:nvSpPr>
          <p:cNvPr id="16" name="Text 14"/>
          <p:cNvSpPr/>
          <p:nvPr/>
        </p:nvSpPr>
        <p:spPr>
          <a:xfrm>
            <a:off x="11548872" y="6400800"/>
            <a:ext cx="365760" cy="274320"/>
          </a:xfrm>
          <a:prstGeom prst="rect">
            <a:avLst/>
          </a:prstGeom>
          <a:noFill/>
          <a:ln/>
        </p:spPr>
        <p:txBody>
          <a:bodyPr wrap="square" rtlCol="0" anchor="ctr"/>
          <a:lstStyle/>
          <a:p>
            <a:pPr marL="0" indent="0" algn="r">
              <a:buNone/>
            </a:pPr>
            <a:r>
              <a:rPr lang="en-US" sz="1000" dirty="0">
                <a:solidFill>
                  <a:srgbClr val="5B6672"/>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2F0E9"/>
        </a:solidFill>
        <a:effectLst/>
      </p:bgPr>
    </p:bg>
    <p:spTree>
      <p:nvGrpSpPr>
        <p:cNvPr id="1" name=""/>
        <p:cNvGrpSpPr/>
        <p:nvPr/>
      </p:nvGrpSpPr>
      <p:grpSpPr>
        <a:xfrm>
          <a:off x="0" y="0"/>
          <a:ext cx="0" cy="0"/>
          <a:chOff x="0" y="0"/>
          <a:chExt cx="0" cy="0"/>
        </a:xfrm>
      </p:grpSpPr>
      <p:sp>
        <p:nvSpPr>
          <p:cNvPr id="2" name="Text 0"/>
          <p:cNvSpPr/>
          <p:nvPr/>
        </p:nvSpPr>
        <p:spPr>
          <a:xfrm>
            <a:off x="548640" y="365760"/>
            <a:ext cx="7315200" cy="365760"/>
          </a:xfrm>
          <a:prstGeom prst="rect">
            <a:avLst/>
          </a:prstGeom>
          <a:noFill/>
          <a:ln/>
        </p:spPr>
        <p:txBody>
          <a:bodyPr wrap="square" rtlCol="0" anchor="ctr"/>
          <a:lstStyle/>
          <a:p>
            <a:pPr marL="0" indent="0">
              <a:buNone/>
            </a:pPr>
            <a:r>
              <a:rPr lang="en-US" sz="1200" b="1" kern="0" spc="200" dirty="0">
                <a:solidFill>
                  <a:srgbClr val="2B6E62"/>
                </a:solidFill>
                <a:latin typeface="Calibri" pitchFamily="34" charset="0"/>
                <a:ea typeface="Calibri" pitchFamily="34" charset="-122"/>
                <a:cs typeface="Calibri" pitchFamily="34" charset="-120"/>
              </a:rPr>
              <a:t>NỀN TẢNG DEEP LEARNING</a:t>
            </a:r>
            <a:endParaRPr lang="en-US" sz="1200" dirty="0"/>
          </a:p>
        </p:txBody>
      </p:sp>
      <p:sp>
        <p:nvSpPr>
          <p:cNvPr id="3" name="Text 1"/>
          <p:cNvSpPr/>
          <p:nvPr/>
        </p:nvSpPr>
        <p:spPr>
          <a:xfrm>
            <a:off x="548640" y="685800"/>
            <a:ext cx="11064240" cy="822960"/>
          </a:xfrm>
          <a:prstGeom prst="rect">
            <a:avLst/>
          </a:prstGeom>
          <a:noFill/>
          <a:ln/>
        </p:spPr>
        <p:txBody>
          <a:bodyPr wrap="square" rtlCol="0" anchor="ctr"/>
          <a:lstStyle/>
          <a:p>
            <a:pPr marL="0" indent="0" algn="l">
              <a:buNone/>
            </a:pPr>
            <a:r>
              <a:rPr lang="en-US" sz="3200" b="1" dirty="0">
                <a:solidFill>
                  <a:srgbClr val="17212B"/>
                </a:solidFill>
                <a:latin typeface="Cambria" pitchFamily="34" charset="0"/>
                <a:ea typeface="Cambria" pitchFamily="34" charset="-122"/>
                <a:cs typeface="Cambria" pitchFamily="34" charset="-120"/>
              </a:rPr>
              <a:t>Bi-encoder truy hồi rẻ · Cross-encoder rerank chính xác</a:t>
            </a:r>
            <a:endParaRPr lang="en-US" sz="3200" dirty="0"/>
          </a:p>
        </p:txBody>
      </p:sp>
      <p:sp>
        <p:nvSpPr>
          <p:cNvPr id="4" name="Shape 2"/>
          <p:cNvSpPr/>
          <p:nvPr/>
        </p:nvSpPr>
        <p:spPr>
          <a:xfrm>
            <a:off x="548640" y="2194560"/>
            <a:ext cx="5349240" cy="3931920"/>
          </a:xfrm>
          <a:prstGeom prst="roundRect">
            <a:avLst>
              <a:gd name="adj" fmla="val 1860"/>
            </a:avLst>
          </a:prstGeom>
          <a:solidFill>
            <a:srgbClr val="FFFFFF"/>
          </a:solidFill>
          <a:ln/>
          <a:effectLst>
            <a:outerShdw blurRad="76200" dist="25400" dir="5400000" algn="bl" rotWithShape="0">
              <a:srgbClr val="000000">
                <a:alpha val="12000"/>
              </a:srgbClr>
            </a:outerShdw>
          </a:effectLst>
        </p:spPr>
      </p:sp>
      <p:sp>
        <p:nvSpPr>
          <p:cNvPr id="5" name="Text 3"/>
          <p:cNvSpPr/>
          <p:nvPr/>
        </p:nvSpPr>
        <p:spPr>
          <a:xfrm>
            <a:off x="868680" y="2423160"/>
            <a:ext cx="4754880" cy="365760"/>
          </a:xfrm>
          <a:prstGeom prst="rect">
            <a:avLst/>
          </a:prstGeom>
          <a:noFill/>
          <a:ln/>
        </p:spPr>
        <p:txBody>
          <a:bodyPr wrap="square" rtlCol="0" anchor="ctr"/>
          <a:lstStyle/>
          <a:p>
            <a:pPr marL="0" indent="0">
              <a:buNone/>
            </a:pPr>
            <a:r>
              <a:rPr lang="en-US" sz="1600" b="1" dirty="0">
                <a:solidFill>
                  <a:srgbClr val="2B6E62"/>
                </a:solidFill>
                <a:latin typeface="Cambria" pitchFamily="34" charset="0"/>
                <a:ea typeface="Cambria" pitchFamily="34" charset="-122"/>
                <a:cs typeface="Cambria" pitchFamily="34" charset="-120"/>
              </a:rPr>
              <a:t>Bi-encoder (dense retrieval)</a:t>
            </a:r>
            <a:endParaRPr lang="en-US" sz="1600" dirty="0"/>
          </a:p>
        </p:txBody>
      </p:sp>
      <p:sp>
        <p:nvSpPr>
          <p:cNvPr id="6" name="Text 4"/>
          <p:cNvSpPr/>
          <p:nvPr/>
        </p:nvSpPr>
        <p:spPr>
          <a:xfrm>
            <a:off x="868680" y="2880360"/>
            <a:ext cx="4754880" cy="1737360"/>
          </a:xfrm>
          <a:prstGeom prst="rect">
            <a:avLst/>
          </a:prstGeom>
          <a:noFill/>
          <a:ln/>
        </p:spPr>
        <p:txBody>
          <a:bodyPr wrap="square" rtlCol="0" anchor="ctr"/>
          <a:lstStyle/>
          <a:p>
            <a:pPr marL="0" indent="0">
              <a:lnSpc>
                <a:spcPts val="1800"/>
              </a:lnSpc>
              <a:buNone/>
            </a:pPr>
            <a:r>
              <a:rPr lang="en-US" sz="1250" dirty="0">
                <a:solidFill>
                  <a:srgbClr val="17212B"/>
                </a:solidFill>
                <a:latin typeface="Calibri" pitchFamily="34" charset="0"/>
                <a:ea typeface="Calibri" pitchFamily="34" charset="-122"/>
                <a:cs typeface="Calibri" pitchFamily="34" charset="-120"/>
              </a:rPr>
              <a:t>Truy vấn và tài liệu được mã hoá ĐỘC LẬP qua cùng transformer encoder. Self-attention đa đầu tổng hợp thông tin theo trọng số giữa các token; mean-pooling nén chuỗi vector-theo-token thành 1 vector câu. So khớp bằng cosine similarity — rẻ, tính trước được cho toàn kho tri thức.</a:t>
            </a:r>
            <a:endParaRPr lang="en-US" sz="1250" dirty="0"/>
          </a:p>
        </p:txBody>
      </p:sp>
      <p:sp>
        <p:nvSpPr>
          <p:cNvPr id="7" name="Text 5"/>
          <p:cNvSpPr/>
          <p:nvPr/>
        </p:nvSpPr>
        <p:spPr>
          <a:xfrm>
            <a:off x="868680" y="5394960"/>
            <a:ext cx="4754880" cy="548640"/>
          </a:xfrm>
          <a:prstGeom prst="rect">
            <a:avLst/>
          </a:prstGeom>
          <a:noFill/>
          <a:ln/>
        </p:spPr>
        <p:txBody>
          <a:bodyPr wrap="square" rtlCol="0" anchor="ctr"/>
          <a:lstStyle/>
          <a:p>
            <a:pPr marL="0" indent="0">
              <a:buNone/>
            </a:pPr>
            <a:r>
              <a:rPr lang="en-US" sz="1200" i="1" dirty="0">
                <a:solidFill>
                  <a:srgbClr val="2B6E62"/>
                </a:solidFill>
                <a:latin typeface="Calibri" pitchFamily="34" charset="0"/>
                <a:ea typeface="Calibri" pitchFamily="34" charset="-122"/>
                <a:cs typeface="Calibri" pitchFamily="34" charset="-120"/>
              </a:rPr>
              <a:t>→ Dùng để lọc thô top-50 từ toàn bộ 684 đoạn</a:t>
            </a:r>
            <a:endParaRPr lang="en-US" sz="1200" dirty="0"/>
          </a:p>
        </p:txBody>
      </p:sp>
      <p:sp>
        <p:nvSpPr>
          <p:cNvPr id="8" name="Shape 6"/>
          <p:cNvSpPr/>
          <p:nvPr/>
        </p:nvSpPr>
        <p:spPr>
          <a:xfrm>
            <a:off x="6172200" y="2194560"/>
            <a:ext cx="5440680" cy="3931920"/>
          </a:xfrm>
          <a:prstGeom prst="roundRect">
            <a:avLst>
              <a:gd name="adj" fmla="val 1860"/>
            </a:avLst>
          </a:prstGeom>
          <a:solidFill>
            <a:srgbClr val="17212B"/>
          </a:solidFill>
          <a:ln/>
          <a:effectLst>
            <a:outerShdw blurRad="76200" dist="25400" dir="5400000" algn="bl" rotWithShape="0">
              <a:srgbClr val="000000">
                <a:alpha val="12000"/>
              </a:srgbClr>
            </a:outerShdw>
          </a:effectLst>
        </p:spPr>
      </p:sp>
      <p:sp>
        <p:nvSpPr>
          <p:cNvPr id="9" name="Text 7"/>
          <p:cNvSpPr/>
          <p:nvPr/>
        </p:nvSpPr>
        <p:spPr>
          <a:xfrm>
            <a:off x="6492240" y="2423160"/>
            <a:ext cx="4846320" cy="365760"/>
          </a:xfrm>
          <a:prstGeom prst="rect">
            <a:avLst/>
          </a:prstGeom>
          <a:noFill/>
          <a:ln/>
        </p:spPr>
        <p:txBody>
          <a:bodyPr wrap="square" rtlCol="0" anchor="ctr"/>
          <a:lstStyle/>
          <a:p>
            <a:pPr marL="0" indent="0">
              <a:buNone/>
            </a:pPr>
            <a:r>
              <a:rPr lang="en-US" sz="1600" b="1" dirty="0">
                <a:solidFill>
                  <a:srgbClr val="B8863B"/>
                </a:solidFill>
                <a:latin typeface="Cambria" pitchFamily="34" charset="0"/>
                <a:ea typeface="Cambria" pitchFamily="34" charset="-122"/>
                <a:cs typeface="Cambria" pitchFamily="34" charset="-120"/>
              </a:rPr>
              <a:t>Cross-encoder (rerank)</a:t>
            </a:r>
            <a:endParaRPr lang="en-US" sz="1600" dirty="0"/>
          </a:p>
        </p:txBody>
      </p:sp>
      <p:sp>
        <p:nvSpPr>
          <p:cNvPr id="10" name="Text 8"/>
          <p:cNvSpPr/>
          <p:nvPr/>
        </p:nvSpPr>
        <p:spPr>
          <a:xfrm>
            <a:off x="6492240" y="2880360"/>
            <a:ext cx="4846320" cy="1737360"/>
          </a:xfrm>
          <a:prstGeom prst="rect">
            <a:avLst/>
          </a:prstGeom>
          <a:noFill/>
          <a:ln/>
        </p:spPr>
        <p:txBody>
          <a:bodyPr wrap="square" rtlCol="0" anchor="ctr"/>
          <a:lstStyle/>
          <a:p>
            <a:pPr marL="0" indent="0">
              <a:lnSpc>
                <a:spcPts val="1800"/>
              </a:lnSpc>
              <a:buNone/>
            </a:pPr>
            <a:r>
              <a:rPr lang="en-US" sz="1250" dirty="0">
                <a:solidFill>
                  <a:srgbClr val="E8E5DC"/>
                </a:solidFill>
                <a:latin typeface="Calibri" pitchFamily="34" charset="0"/>
                <a:ea typeface="Calibri" pitchFamily="34" charset="-122"/>
                <a:cs typeface="Calibri" pitchFamily="34" charset="-120"/>
              </a:rPr>
              <a:t>Cặp (truy vấn, tài liệu) được NỐI thành 1 chuỗi input duy nhất — self-attention so khớp trực tiếp từng token của truy vấn với từng token tài liệu ngay trong lúc mã hoá. Chính xác hơn bi-encoder vì không mất thông tin tương tác chi tiết, nhưng phải chạy lại cho mọi cặp — không tính trước được.</a:t>
            </a:r>
            <a:endParaRPr lang="en-US" sz="1250" dirty="0"/>
          </a:p>
        </p:txBody>
      </p:sp>
      <p:sp>
        <p:nvSpPr>
          <p:cNvPr id="11" name="Text 9"/>
          <p:cNvSpPr/>
          <p:nvPr/>
        </p:nvSpPr>
        <p:spPr>
          <a:xfrm>
            <a:off x="6492240" y="5394960"/>
            <a:ext cx="4846320" cy="548640"/>
          </a:xfrm>
          <a:prstGeom prst="rect">
            <a:avLst/>
          </a:prstGeom>
          <a:noFill/>
          <a:ln/>
        </p:spPr>
        <p:txBody>
          <a:bodyPr wrap="square" rtlCol="0" anchor="ctr"/>
          <a:lstStyle/>
          <a:p>
            <a:pPr marL="0" indent="0">
              <a:buNone/>
            </a:pPr>
            <a:r>
              <a:rPr lang="en-US" sz="1200" i="1" dirty="0">
                <a:solidFill>
                  <a:srgbClr val="B8863B"/>
                </a:solidFill>
                <a:latin typeface="Calibri" pitchFamily="34" charset="0"/>
                <a:ea typeface="Calibri" pitchFamily="34" charset="-122"/>
                <a:cs typeface="Calibri" pitchFamily="34" charset="-120"/>
              </a:rPr>
              <a:t>→ Chỉ dùng để xếp hạng lại top-50 đã lọc thô, xuống top-5</a:t>
            </a:r>
            <a:endParaRPr lang="en-US" sz="1200" dirty="0"/>
          </a:p>
        </p:txBody>
      </p:sp>
      <p:sp>
        <p:nvSpPr>
          <p:cNvPr id="12" name="Text 10"/>
          <p:cNvSpPr/>
          <p:nvPr/>
        </p:nvSpPr>
        <p:spPr>
          <a:xfrm>
            <a:off x="11548872" y="6400800"/>
            <a:ext cx="365760" cy="274320"/>
          </a:xfrm>
          <a:prstGeom prst="rect">
            <a:avLst/>
          </a:prstGeom>
          <a:noFill/>
          <a:ln/>
        </p:spPr>
        <p:txBody>
          <a:bodyPr wrap="square" rtlCol="0" anchor="ctr"/>
          <a:lstStyle/>
          <a:p>
            <a:pPr marL="0" indent="0" algn="r">
              <a:buNone/>
            </a:pPr>
            <a:r>
              <a:rPr lang="en-US" sz="1000" dirty="0">
                <a:solidFill>
                  <a:srgbClr val="5B6672"/>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2F0E9"/>
        </a:solidFill>
        <a:effectLst/>
      </p:bgPr>
    </p:bg>
    <p:spTree>
      <p:nvGrpSpPr>
        <p:cNvPr id="1" name=""/>
        <p:cNvGrpSpPr/>
        <p:nvPr/>
      </p:nvGrpSpPr>
      <p:grpSpPr>
        <a:xfrm>
          <a:off x="0" y="0"/>
          <a:ext cx="0" cy="0"/>
          <a:chOff x="0" y="0"/>
          <a:chExt cx="0" cy="0"/>
        </a:xfrm>
      </p:grpSpPr>
      <p:sp>
        <p:nvSpPr>
          <p:cNvPr id="2" name="Text 0"/>
          <p:cNvSpPr/>
          <p:nvPr/>
        </p:nvSpPr>
        <p:spPr>
          <a:xfrm>
            <a:off x="548640" y="365760"/>
            <a:ext cx="7315200" cy="365760"/>
          </a:xfrm>
          <a:prstGeom prst="rect">
            <a:avLst/>
          </a:prstGeom>
          <a:noFill/>
          <a:ln/>
        </p:spPr>
        <p:txBody>
          <a:bodyPr wrap="square" rtlCol="0" anchor="ctr"/>
          <a:lstStyle/>
          <a:p>
            <a:pPr marL="0" indent="0">
              <a:buNone/>
            </a:pPr>
            <a:r>
              <a:rPr lang="en-US" sz="1200" b="1" kern="0" spc="200" dirty="0">
                <a:solidFill>
                  <a:srgbClr val="2B6E62"/>
                </a:solidFill>
                <a:latin typeface="Calibri" pitchFamily="34" charset="0"/>
                <a:ea typeface="Calibri" pitchFamily="34" charset="-122"/>
                <a:cs typeface="Calibri" pitchFamily="34" charset="-120"/>
              </a:rPr>
              <a:t>NỀN TẢNG DEEP LEARNING</a:t>
            </a:r>
            <a:endParaRPr lang="en-US" sz="1200" dirty="0"/>
          </a:p>
        </p:txBody>
      </p:sp>
      <p:sp>
        <p:nvSpPr>
          <p:cNvPr id="3" name="Text 1"/>
          <p:cNvSpPr/>
          <p:nvPr/>
        </p:nvSpPr>
        <p:spPr>
          <a:xfrm>
            <a:off x="548640" y="685800"/>
            <a:ext cx="11064240" cy="822960"/>
          </a:xfrm>
          <a:prstGeom prst="rect">
            <a:avLst/>
          </a:prstGeom>
          <a:noFill/>
          <a:ln/>
        </p:spPr>
        <p:txBody>
          <a:bodyPr wrap="square" rtlCol="0" anchor="ctr"/>
          <a:lstStyle/>
          <a:p>
            <a:pPr marL="0" indent="0" algn="l">
              <a:buNone/>
            </a:pPr>
            <a:r>
              <a:rPr lang="en-US" sz="3200" b="1" dirty="0">
                <a:solidFill>
                  <a:srgbClr val="17212B"/>
                </a:solidFill>
                <a:latin typeface="Cambria" pitchFamily="34" charset="0"/>
                <a:ea typeface="Cambria" pitchFamily="34" charset="-122"/>
                <a:cs typeface="Cambria" pitchFamily="34" charset="-120"/>
              </a:rPr>
              <a:t>Khảo sát không gian embedding bằng t-SNE</a:t>
            </a:r>
            <a:endParaRPr lang="en-US" sz="3200" dirty="0"/>
          </a:p>
        </p:txBody>
      </p:sp>
      <p:pic>
        <p:nvPicPr>
          <p:cNvPr id="4" name="Image 0" descr="D:\PyCharmProject\DeepLearning\autotender-vn\reports\figures\embedding_vi_bi_encoder_tsne.png"/>
          <p:cNvPicPr>
            <a:picLocks noChangeAspect="1"/>
          </p:cNvPicPr>
          <p:nvPr/>
        </p:nvPicPr>
        <p:blipFill>
          <a:blip r:embed="rId3"/>
          <a:stretch>
            <a:fillRect/>
          </a:stretch>
        </p:blipFill>
        <p:spPr>
          <a:xfrm>
            <a:off x="548640" y="2103120"/>
            <a:ext cx="5577840" cy="4160520"/>
          </a:xfrm>
          <a:prstGeom prst="rect">
            <a:avLst/>
          </a:prstGeom>
        </p:spPr>
      </p:pic>
      <p:sp>
        <p:nvSpPr>
          <p:cNvPr id="5" name="Text 2"/>
          <p:cNvSpPr/>
          <p:nvPr/>
        </p:nvSpPr>
        <p:spPr>
          <a:xfrm>
            <a:off x="548640" y="6263640"/>
            <a:ext cx="5577840" cy="320040"/>
          </a:xfrm>
          <a:prstGeom prst="rect">
            <a:avLst/>
          </a:prstGeom>
          <a:noFill/>
          <a:ln/>
        </p:spPr>
        <p:txBody>
          <a:bodyPr wrap="square" rtlCol="0" anchor="ctr"/>
          <a:lstStyle/>
          <a:p>
            <a:pPr marL="0" indent="0" algn="ctr">
              <a:buNone/>
            </a:pPr>
            <a:r>
              <a:rPr lang="en-US" sz="1050" i="1" dirty="0">
                <a:solidFill>
                  <a:srgbClr val="5B6672"/>
                </a:solidFill>
                <a:latin typeface="Calibri" pitchFamily="34" charset="0"/>
                <a:ea typeface="Calibri" pitchFamily="34" charset="-122"/>
                <a:cs typeface="Calibri" pitchFamily="34" charset="-120"/>
              </a:rPr>
              <a:t>t-SNE của vi_bi_encoder trên 684 đoạn, tô màu theo văn bản nguồn</a:t>
            </a:r>
            <a:endParaRPr lang="en-US" sz="1050" dirty="0"/>
          </a:p>
        </p:txBody>
      </p:sp>
      <p:sp>
        <p:nvSpPr>
          <p:cNvPr id="6" name="Shape 3"/>
          <p:cNvSpPr/>
          <p:nvPr/>
        </p:nvSpPr>
        <p:spPr>
          <a:xfrm>
            <a:off x="6400800" y="2103120"/>
            <a:ext cx="5212080" cy="4480560"/>
          </a:xfrm>
          <a:prstGeom prst="roundRect">
            <a:avLst>
              <a:gd name="adj" fmla="val 1633"/>
            </a:avLst>
          </a:prstGeom>
          <a:solidFill>
            <a:srgbClr val="FFFFFF"/>
          </a:solidFill>
          <a:ln/>
          <a:effectLst>
            <a:outerShdw blurRad="76200" dist="25400" dir="5400000" algn="bl" rotWithShape="0">
              <a:srgbClr val="000000">
                <a:alpha val="12000"/>
              </a:srgbClr>
            </a:outerShdw>
          </a:effectLst>
        </p:spPr>
      </p:sp>
      <p:sp>
        <p:nvSpPr>
          <p:cNvPr id="7" name="Text 4"/>
          <p:cNvSpPr/>
          <p:nvPr/>
        </p:nvSpPr>
        <p:spPr>
          <a:xfrm>
            <a:off x="6720840" y="2331720"/>
            <a:ext cx="4572000" cy="365760"/>
          </a:xfrm>
          <a:prstGeom prst="rect">
            <a:avLst/>
          </a:prstGeom>
          <a:noFill/>
          <a:ln/>
        </p:spPr>
        <p:txBody>
          <a:bodyPr wrap="square" rtlCol="0" anchor="ctr"/>
          <a:lstStyle/>
          <a:p>
            <a:pPr marL="0" indent="0">
              <a:buNone/>
            </a:pPr>
            <a:r>
              <a:rPr lang="en-US" sz="1500" b="1" dirty="0">
                <a:solidFill>
                  <a:srgbClr val="2B6E62"/>
                </a:solidFill>
                <a:latin typeface="Cambria" pitchFamily="34" charset="0"/>
                <a:ea typeface="Cambria" pitchFamily="34" charset="-122"/>
                <a:cs typeface="Cambria" pitchFamily="34" charset="-120"/>
              </a:rPr>
              <a:t>Quan sát</a:t>
            </a:r>
            <a:endParaRPr lang="en-US" sz="1500" dirty="0"/>
          </a:p>
        </p:txBody>
      </p:sp>
      <p:sp>
        <p:nvSpPr>
          <p:cNvPr id="8" name="Text 5"/>
          <p:cNvSpPr/>
          <p:nvPr/>
        </p:nvSpPr>
        <p:spPr>
          <a:xfrm>
            <a:off x="6720840" y="2788920"/>
            <a:ext cx="4572000" cy="3657600"/>
          </a:xfrm>
          <a:prstGeom prst="rect">
            <a:avLst/>
          </a:prstGeom>
          <a:noFill/>
          <a:ln/>
        </p:spPr>
        <p:txBody>
          <a:bodyPr wrap="square" rtlCol="0" anchor="ctr"/>
          <a:lstStyle/>
          <a:p>
            <a:pPr marL="0" indent="0">
              <a:lnSpc>
                <a:spcPts val="1800"/>
              </a:lnSpc>
              <a:buNone/>
            </a:pPr>
            <a:r>
              <a:rPr lang="en-US" sz="1250" dirty="0">
                <a:solidFill>
                  <a:srgbClr val="17212B"/>
                </a:solidFill>
                <a:latin typeface="Calibri" pitchFamily="34" charset="0"/>
                <a:ea typeface="Calibri" pitchFamily="34" charset="-122"/>
                <a:cs typeface="Calibri" pitchFamily="34" charset="-120"/>
              </a:rPr>
              <a:t>Khối trung tâm lớn trộn lẫn Luật và Nghị định — hợp lý vì Nghị định chi tiết hoá Luật, dùng chung thuật ngữ.</a:t>
            </a:r>
            <a:endParaRPr lang="en-US" sz="1250" dirty="0"/>
          </a:p>
          <a:p>
            <a:pPr marL="0" indent="0">
              <a:lnSpc>
                <a:spcPts val="1800"/>
              </a:lnSpc>
              <a:buNone/>
            </a:pPr>
            <a:endParaRPr lang="en-US" sz="1250" dirty="0"/>
          </a:p>
          <a:p>
            <a:pPr marL="0" indent="0">
              <a:lnSpc>
                <a:spcPts val="1800"/>
              </a:lnSpc>
              <a:buNone/>
            </a:pPr>
            <a:r>
              <a:rPr lang="en-US" sz="1250" dirty="0">
                <a:solidFill>
                  <a:srgbClr val="17212B"/>
                </a:solidFill>
                <a:latin typeface="Calibri" pitchFamily="34" charset="0"/>
                <a:ea typeface="Calibri" pitchFamily="34" charset="-122"/>
                <a:cs typeface="Calibri" pitchFamily="34" charset="-120"/>
              </a:rPr>
              <a:t>Các cụm nhỏ tách biệt ở rìa khớp với phát hiện thủ công: nhiều Điều của Nghị định 214/2025 dùng lại gần nguyên văn cấu trúc/tiêu đề cho các loại gói thầu khác nhau — tạo nhóm văn bản gần giống hệt nhau về ngữ nghĩa.</a:t>
            </a:r>
            <a:endParaRPr lang="en-US" sz="1250" dirty="0"/>
          </a:p>
          <a:p>
            <a:pPr marL="0" indent="0">
              <a:lnSpc>
                <a:spcPts val="1800"/>
              </a:lnSpc>
              <a:buNone/>
            </a:pPr>
            <a:endParaRPr lang="en-US" sz="1250" dirty="0"/>
          </a:p>
          <a:p>
            <a:pPr marL="0" indent="0">
              <a:lnSpc>
                <a:spcPts val="1800"/>
              </a:lnSpc>
              <a:buNone/>
            </a:pPr>
            <a:r>
              <a:rPr lang="en-US" sz="1250" dirty="0">
                <a:solidFill>
                  <a:srgbClr val="17212B"/>
                </a:solidFill>
                <a:latin typeface="Calibri" pitchFamily="34" charset="0"/>
                <a:ea typeface="Calibri" pitchFamily="34" charset="-122"/>
                <a:cs typeface="Calibri" pitchFamily="34" charset="-120"/>
              </a:rPr>
              <a:t>Đây chính là trường hợp bi-encoder khó phân biệt (vector câu nén cả câu, phần khác biệt chỉ vài từ) — và là lý do rerank bằng cross-encoder cải thiện Recall@5 rõ rệt.</a:t>
            </a:r>
            <a:endParaRPr lang="en-US" sz="1250" dirty="0"/>
          </a:p>
        </p:txBody>
      </p:sp>
      <p:sp>
        <p:nvSpPr>
          <p:cNvPr id="9" name="Text 6"/>
          <p:cNvSpPr/>
          <p:nvPr/>
        </p:nvSpPr>
        <p:spPr>
          <a:xfrm>
            <a:off x="11548872" y="6400800"/>
            <a:ext cx="365760" cy="274320"/>
          </a:xfrm>
          <a:prstGeom prst="rect">
            <a:avLst/>
          </a:prstGeom>
          <a:noFill/>
          <a:ln/>
        </p:spPr>
        <p:txBody>
          <a:bodyPr wrap="square" rtlCol="0" anchor="ctr"/>
          <a:lstStyle/>
          <a:p>
            <a:pPr marL="0" indent="0" algn="r">
              <a:buNone/>
            </a:pPr>
            <a:r>
              <a:rPr lang="en-US" sz="1000" dirty="0">
                <a:solidFill>
                  <a:srgbClr val="5B6672"/>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2F0E9"/>
        </a:solidFill>
        <a:effectLst/>
      </p:bgPr>
    </p:bg>
    <p:spTree>
      <p:nvGrpSpPr>
        <p:cNvPr id="1" name=""/>
        <p:cNvGrpSpPr/>
        <p:nvPr/>
      </p:nvGrpSpPr>
      <p:grpSpPr>
        <a:xfrm>
          <a:off x="0" y="0"/>
          <a:ext cx="0" cy="0"/>
          <a:chOff x="0" y="0"/>
          <a:chExt cx="0" cy="0"/>
        </a:xfrm>
      </p:grpSpPr>
      <p:sp>
        <p:nvSpPr>
          <p:cNvPr id="2" name="Text 0"/>
          <p:cNvSpPr/>
          <p:nvPr/>
        </p:nvSpPr>
        <p:spPr>
          <a:xfrm>
            <a:off x="548640" y="365760"/>
            <a:ext cx="7315200" cy="365760"/>
          </a:xfrm>
          <a:prstGeom prst="rect">
            <a:avLst/>
          </a:prstGeom>
          <a:noFill/>
          <a:ln/>
        </p:spPr>
        <p:txBody>
          <a:bodyPr wrap="square" rtlCol="0" anchor="ctr"/>
          <a:lstStyle/>
          <a:p>
            <a:pPr marL="0" indent="0">
              <a:buNone/>
            </a:pPr>
            <a:r>
              <a:rPr lang="en-US" sz="1200" b="1" kern="0" spc="200" dirty="0">
                <a:solidFill>
                  <a:srgbClr val="2B6E62"/>
                </a:solidFill>
                <a:latin typeface="Calibri" pitchFamily="34" charset="0"/>
                <a:ea typeface="Calibri" pitchFamily="34" charset="-122"/>
                <a:cs typeface="Calibri" pitchFamily="34" charset="-120"/>
              </a:rPr>
              <a:t>NỀN TẢNG DEEP LEARNING</a:t>
            </a:r>
            <a:endParaRPr lang="en-US" sz="1200" dirty="0"/>
          </a:p>
        </p:txBody>
      </p:sp>
      <p:sp>
        <p:nvSpPr>
          <p:cNvPr id="3" name="Text 1"/>
          <p:cNvSpPr/>
          <p:nvPr/>
        </p:nvSpPr>
        <p:spPr>
          <a:xfrm>
            <a:off x="548640" y="685800"/>
            <a:ext cx="11064240" cy="822960"/>
          </a:xfrm>
          <a:prstGeom prst="rect">
            <a:avLst/>
          </a:prstGeom>
          <a:noFill/>
          <a:ln/>
        </p:spPr>
        <p:txBody>
          <a:bodyPr wrap="square" rtlCol="0" anchor="ctr"/>
          <a:lstStyle/>
          <a:p>
            <a:pPr marL="0" indent="0" algn="l">
              <a:buNone/>
            </a:pPr>
            <a:r>
              <a:rPr lang="en-US" sz="3200" b="1" dirty="0">
                <a:solidFill>
                  <a:srgbClr val="17212B"/>
                </a:solidFill>
                <a:latin typeface="Cambria" pitchFamily="34" charset="0"/>
                <a:ea typeface="Cambria" pitchFamily="34" charset="-122"/>
                <a:cs typeface="Cambria" pitchFamily="34" charset="-120"/>
              </a:rPr>
              <a:t>So sánh 3 mô hình embedding: model chuyên biệt tiếng Việt vẫn thắng</a:t>
            </a:r>
            <a:endParaRPr lang="en-US" sz="3200" dirty="0"/>
          </a:p>
        </p:txBody>
      </p:sp>
      <p:graphicFrame>
        <p:nvGraphicFramePr>
          <p:cNvPr id="4" name="Chart 0"/>
          <p:cNvGraphicFramePr/>
          <p:nvPr/>
        </p:nvGraphicFramePr>
        <p:xfrm>
          <a:off x="640080" y="2286000"/>
          <a:ext cx="5669280" cy="384048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6537960" y="2286000"/>
            <a:ext cx="5074920" cy="3840480"/>
          </a:xfrm>
          <a:prstGeom prst="roundRect">
            <a:avLst>
              <a:gd name="adj" fmla="val 1905"/>
            </a:avLst>
          </a:prstGeom>
          <a:solidFill>
            <a:srgbClr val="FFFFFF"/>
          </a:solidFill>
          <a:ln/>
          <a:effectLst>
            <a:outerShdw blurRad="76200" dist="25400" dir="5400000" algn="bl" rotWithShape="0">
              <a:srgbClr val="000000">
                <a:alpha val="12000"/>
              </a:srgbClr>
            </a:outerShdw>
          </a:effectLst>
        </p:spPr>
      </p:sp>
      <p:sp>
        <p:nvSpPr>
          <p:cNvPr id="6" name="Text 3"/>
          <p:cNvSpPr/>
          <p:nvPr/>
        </p:nvSpPr>
        <p:spPr>
          <a:xfrm>
            <a:off x="6858000" y="2514600"/>
            <a:ext cx="4480560" cy="365760"/>
          </a:xfrm>
          <a:prstGeom prst="rect">
            <a:avLst/>
          </a:prstGeom>
          <a:noFill/>
          <a:ln/>
        </p:spPr>
        <p:txBody>
          <a:bodyPr wrap="square" rtlCol="0" anchor="ctr"/>
          <a:lstStyle/>
          <a:p>
            <a:pPr marL="0" indent="0">
              <a:buNone/>
            </a:pPr>
            <a:r>
              <a:rPr lang="en-US" sz="1400" b="1" dirty="0">
                <a:solidFill>
                  <a:srgbClr val="2B6E62"/>
                </a:solidFill>
                <a:latin typeface="Cambria" pitchFamily="34" charset="0"/>
                <a:ea typeface="Cambria" pitchFamily="34" charset="-122"/>
                <a:cs typeface="Cambria" pitchFamily="34" charset="-120"/>
              </a:rPr>
              <a:t>“Độ tách biệt” = ?</a:t>
            </a:r>
            <a:endParaRPr lang="en-US" sz="1400" dirty="0"/>
          </a:p>
        </p:txBody>
      </p:sp>
      <p:sp>
        <p:nvSpPr>
          <p:cNvPr id="7" name="Text 4"/>
          <p:cNvSpPr/>
          <p:nvPr/>
        </p:nvSpPr>
        <p:spPr>
          <a:xfrm>
            <a:off x="6858000" y="2880360"/>
            <a:ext cx="4480560" cy="1005840"/>
          </a:xfrm>
          <a:prstGeom prst="rect">
            <a:avLst/>
          </a:prstGeom>
          <a:noFill/>
          <a:ln/>
        </p:spPr>
        <p:txBody>
          <a:bodyPr wrap="square" rtlCol="0" anchor="ctr"/>
          <a:lstStyle/>
          <a:p>
            <a:pPr marL="0" indent="0">
              <a:lnSpc>
                <a:spcPts val="1600"/>
              </a:lnSpc>
              <a:buNone/>
            </a:pPr>
            <a:r>
              <a:rPr lang="en-US" sz="1200" dirty="0">
                <a:solidFill>
                  <a:srgbClr val="17212B"/>
                </a:solidFill>
                <a:latin typeface="Calibri" pitchFamily="34" charset="0"/>
                <a:ea typeface="Calibri" pitchFamily="34" charset="-122"/>
                <a:cs typeface="Calibri" pitchFamily="34" charset="-120"/>
              </a:rPr>
              <a:t>Cosine similarity trung bình giữa các đoạn CÙNG một Điều, trừ similarity trung bình giữa các đoạn KHÁC Điều. Không gian tốt cho truy hồi phải có độ tách biệt cao.</a:t>
            </a:r>
            <a:endParaRPr lang="en-US" sz="1200" dirty="0"/>
          </a:p>
        </p:txBody>
      </p:sp>
      <p:sp>
        <p:nvSpPr>
          <p:cNvPr id="8" name="Text 5"/>
          <p:cNvSpPr/>
          <p:nvPr/>
        </p:nvSpPr>
        <p:spPr>
          <a:xfrm>
            <a:off x="6858000" y="3977640"/>
            <a:ext cx="4480560" cy="1188720"/>
          </a:xfrm>
          <a:prstGeom prst="rect">
            <a:avLst/>
          </a:prstGeom>
          <a:noFill/>
          <a:ln/>
        </p:spPr>
        <p:txBody>
          <a:bodyPr wrap="square" rtlCol="0" anchor="ctr"/>
          <a:lstStyle/>
          <a:p>
            <a:pPr marL="0" indent="0">
              <a:lnSpc>
                <a:spcPts val="1600"/>
              </a:lnSpc>
              <a:buNone/>
            </a:pPr>
            <a:r>
              <a:rPr lang="en-US" sz="1200" dirty="0">
                <a:solidFill>
                  <a:srgbClr val="17212B"/>
                </a:solidFill>
                <a:latin typeface="Calibri" pitchFamily="34" charset="0"/>
                <a:ea typeface="Calibri" pitchFamily="34" charset="-122"/>
                <a:cs typeface="Calibri" pitchFamily="34" charset="-120"/>
              </a:rPr>
              <a:t>bge-m3 xử lý trọn vẹn mọi đoạn (ngữ cảnh 8192 token, không cần cắt), nhưng độ tách biệt lại THẤP NHẤT (0.1155). Model đa ngôn ngữ có similarity tuyệt đối cao hơn ở các nhóm, dấu hiệu embedding “co cụm” hơn; nhưng model tiếng Việt chuyên biệt vẫn tách biệt tốt NHẤT (0.1836).</a:t>
            </a:r>
            <a:endParaRPr lang="en-US" sz="1200" dirty="0"/>
          </a:p>
        </p:txBody>
      </p:sp>
      <p:sp>
        <p:nvSpPr>
          <p:cNvPr id="9" name="Text 6"/>
          <p:cNvSpPr/>
          <p:nvPr/>
        </p:nvSpPr>
        <p:spPr>
          <a:xfrm>
            <a:off x="6858000" y="5257800"/>
            <a:ext cx="4480560" cy="777240"/>
          </a:xfrm>
          <a:prstGeom prst="rect">
            <a:avLst/>
          </a:prstGeom>
          <a:noFill/>
          <a:ln/>
        </p:spPr>
        <p:txBody>
          <a:bodyPr wrap="square" rtlCol="0" anchor="ctr"/>
          <a:lstStyle/>
          <a:p>
            <a:pPr marL="0" indent="0">
              <a:lnSpc>
                <a:spcPts val="1600"/>
              </a:lnSpc>
              <a:buNone/>
            </a:pPr>
            <a:r>
              <a:rPr lang="en-US" sz="1200" i="1" dirty="0">
                <a:solidFill>
                  <a:srgbClr val="2B6E62"/>
                </a:solidFill>
                <a:latin typeface="Calibri" pitchFamily="34" charset="0"/>
                <a:ea typeface="Calibri" pitchFamily="34" charset="-122"/>
                <a:cs typeface="Calibri" pitchFamily="34" charset="-120"/>
              </a:rPr>
              <a:t>Khớp với Recall@5 đo trực tiếp: vi_bi_encoder = 0.696 (dense-only), tốt hơn hẳn khi không rerank.</a:t>
            </a:r>
            <a:endParaRPr lang="en-US" sz="1200" dirty="0"/>
          </a:p>
        </p:txBody>
      </p:sp>
      <p:sp>
        <p:nvSpPr>
          <p:cNvPr id="10" name="Text 7"/>
          <p:cNvSpPr/>
          <p:nvPr/>
        </p:nvSpPr>
        <p:spPr>
          <a:xfrm>
            <a:off x="11548872" y="6400800"/>
            <a:ext cx="365760" cy="274320"/>
          </a:xfrm>
          <a:prstGeom prst="rect">
            <a:avLst/>
          </a:prstGeom>
          <a:noFill/>
          <a:ln/>
        </p:spPr>
        <p:txBody>
          <a:bodyPr wrap="square" rtlCol="0" anchor="ctr"/>
          <a:lstStyle/>
          <a:p>
            <a:pPr marL="0" indent="0" algn="r">
              <a:buNone/>
            </a:pPr>
            <a:r>
              <a:rPr lang="en-US" sz="1000" dirty="0">
                <a:solidFill>
                  <a:srgbClr val="5B6672"/>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7212B"/>
        </a:solidFill>
        <a:effectLst/>
      </p:bgPr>
    </p:bg>
    <p:spTree>
      <p:nvGrpSpPr>
        <p:cNvPr id="1" name=""/>
        <p:cNvGrpSpPr/>
        <p:nvPr/>
      </p:nvGrpSpPr>
      <p:grpSpPr>
        <a:xfrm>
          <a:off x="0" y="0"/>
          <a:ext cx="0" cy="0"/>
          <a:chOff x="0" y="0"/>
          <a:chExt cx="0" cy="0"/>
        </a:xfrm>
      </p:grpSpPr>
      <p:sp>
        <p:nvSpPr>
          <p:cNvPr id="2" name="Text 0"/>
          <p:cNvSpPr/>
          <p:nvPr/>
        </p:nvSpPr>
        <p:spPr>
          <a:xfrm>
            <a:off x="548640" y="365760"/>
            <a:ext cx="7315200" cy="365760"/>
          </a:xfrm>
          <a:prstGeom prst="rect">
            <a:avLst/>
          </a:prstGeom>
          <a:noFill/>
          <a:ln/>
        </p:spPr>
        <p:txBody>
          <a:bodyPr wrap="square" rtlCol="0" anchor="ctr"/>
          <a:lstStyle/>
          <a:p>
            <a:pPr marL="0" indent="0">
              <a:buNone/>
            </a:pPr>
            <a:r>
              <a:rPr lang="en-US" sz="1200" b="1" kern="0" spc="200" dirty="0">
                <a:solidFill>
                  <a:srgbClr val="B8863B"/>
                </a:solidFill>
                <a:latin typeface="Calibri" pitchFamily="34" charset="0"/>
                <a:ea typeface="Calibri" pitchFamily="34" charset="-122"/>
                <a:cs typeface="Calibri" pitchFamily="34" charset="-120"/>
              </a:rPr>
              <a:t>NỀN TẢNG DEEP LEARNING</a:t>
            </a:r>
            <a:endParaRPr lang="en-US" sz="1200" dirty="0"/>
          </a:p>
        </p:txBody>
      </p:sp>
      <p:sp>
        <p:nvSpPr>
          <p:cNvPr id="3" name="Text 1"/>
          <p:cNvSpPr/>
          <p:nvPr/>
        </p:nvSpPr>
        <p:spPr>
          <a:xfrm>
            <a:off x="548640" y="685800"/>
            <a:ext cx="11064240" cy="822960"/>
          </a:xfrm>
          <a:prstGeom prst="rect">
            <a:avLst/>
          </a:prstGeom>
          <a:noFill/>
          <a:ln/>
        </p:spPr>
        <p:txBody>
          <a:bodyPr wrap="square" rtlCol="0" anchor="ctr"/>
          <a:lstStyle/>
          <a:p>
            <a:pPr marL="0" indent="0" algn="l">
              <a:buNone/>
            </a:pPr>
            <a:r>
              <a:rPr lang="en-US" sz="3200" b="1" dirty="0">
                <a:solidFill>
                  <a:srgbClr val="FFFFFF"/>
                </a:solidFill>
                <a:latin typeface="Cambria" pitchFamily="34" charset="0"/>
                <a:ea typeface="Cambria" pitchFamily="34" charset="-122"/>
                <a:cs typeface="Cambria" pitchFamily="34" charset="-120"/>
              </a:rPr>
              <a:t>Vì sao RAG giảm ảo giác: góc nhìn cơ chế transformer</a:t>
            </a:r>
            <a:endParaRPr lang="en-US" sz="3200" dirty="0"/>
          </a:p>
        </p:txBody>
      </p:sp>
      <p:sp>
        <p:nvSpPr>
          <p:cNvPr id="4" name="Shape 2"/>
          <p:cNvSpPr/>
          <p:nvPr/>
        </p:nvSpPr>
        <p:spPr>
          <a:xfrm>
            <a:off x="822960" y="2286000"/>
            <a:ext cx="10515600" cy="1143000"/>
          </a:xfrm>
          <a:prstGeom prst="roundRect">
            <a:avLst>
              <a:gd name="adj" fmla="val 6400"/>
            </a:avLst>
          </a:prstGeom>
          <a:solidFill>
            <a:srgbClr val="222E3A"/>
          </a:solidFill>
          <a:ln/>
        </p:spPr>
      </p:sp>
      <p:sp>
        <p:nvSpPr>
          <p:cNvPr id="5" name="Text 3"/>
          <p:cNvSpPr/>
          <p:nvPr/>
        </p:nvSpPr>
        <p:spPr>
          <a:xfrm>
            <a:off x="1097280" y="2423160"/>
            <a:ext cx="2926080" cy="868680"/>
          </a:xfrm>
          <a:prstGeom prst="rect">
            <a:avLst/>
          </a:prstGeom>
          <a:noFill/>
          <a:ln/>
        </p:spPr>
        <p:txBody>
          <a:bodyPr wrap="square" rtlCol="0" anchor="ctr"/>
          <a:lstStyle/>
          <a:p>
            <a:pPr marL="0" indent="0">
              <a:lnSpc>
                <a:spcPts val="1800"/>
              </a:lnSpc>
              <a:buNone/>
            </a:pPr>
            <a:r>
              <a:rPr lang="en-US" sz="1500" b="1" dirty="0">
                <a:solidFill>
                  <a:srgbClr val="B8863B"/>
                </a:solidFill>
                <a:latin typeface="Cambria" pitchFamily="34" charset="0"/>
                <a:ea typeface="Cambria" pitchFamily="34" charset="-122"/>
                <a:cs typeface="Cambria" pitchFamily="34" charset="-120"/>
              </a:rPr>
              <a:t>Sinh tự hồi quy</a:t>
            </a:r>
            <a:endParaRPr lang="en-US" sz="1500" dirty="0"/>
          </a:p>
        </p:txBody>
      </p:sp>
      <p:sp>
        <p:nvSpPr>
          <p:cNvPr id="6" name="Text 4"/>
          <p:cNvSpPr/>
          <p:nvPr/>
        </p:nvSpPr>
        <p:spPr>
          <a:xfrm>
            <a:off x="4206240" y="2395728"/>
            <a:ext cx="6949440" cy="914400"/>
          </a:xfrm>
          <a:prstGeom prst="rect">
            <a:avLst/>
          </a:prstGeom>
          <a:noFill/>
          <a:ln/>
        </p:spPr>
        <p:txBody>
          <a:bodyPr wrap="square" rtlCol="0" anchor="ctr"/>
          <a:lstStyle/>
          <a:p>
            <a:pPr marL="0" indent="0">
              <a:lnSpc>
                <a:spcPts val="1700"/>
              </a:lnSpc>
              <a:buNone/>
            </a:pPr>
            <a:r>
              <a:rPr lang="en-US" sz="1250" dirty="0">
                <a:solidFill>
                  <a:srgbClr val="E8E5DC"/>
                </a:solidFill>
                <a:latin typeface="Calibri" pitchFamily="34" charset="0"/>
                <a:ea typeface="Calibri" pitchFamily="34" charset="-122"/>
                <a:cs typeface="Calibri" pitchFamily="34" charset="-120"/>
              </a:rPr>
              <a:t>Claude là transformer decoder: mỗi token dự đoán dựa trên TOÀN BỘ chuỗi đã có trước đó, qua self-attention có mặt nạ nhân quả (causal mask).</a:t>
            </a:r>
            <a:endParaRPr lang="en-US" sz="1250" dirty="0"/>
          </a:p>
        </p:txBody>
      </p:sp>
      <p:sp>
        <p:nvSpPr>
          <p:cNvPr id="7" name="Shape 5"/>
          <p:cNvSpPr/>
          <p:nvPr/>
        </p:nvSpPr>
        <p:spPr>
          <a:xfrm>
            <a:off x="822960" y="3611880"/>
            <a:ext cx="10515600" cy="1143000"/>
          </a:xfrm>
          <a:prstGeom prst="roundRect">
            <a:avLst>
              <a:gd name="adj" fmla="val 6400"/>
            </a:avLst>
          </a:prstGeom>
          <a:solidFill>
            <a:srgbClr val="222E3A"/>
          </a:solidFill>
          <a:ln/>
        </p:spPr>
      </p:sp>
      <p:sp>
        <p:nvSpPr>
          <p:cNvPr id="8" name="Text 6"/>
          <p:cNvSpPr/>
          <p:nvPr/>
        </p:nvSpPr>
        <p:spPr>
          <a:xfrm>
            <a:off x="1097280" y="3749040"/>
            <a:ext cx="2926080" cy="868680"/>
          </a:xfrm>
          <a:prstGeom prst="rect">
            <a:avLst/>
          </a:prstGeom>
          <a:noFill/>
          <a:ln/>
        </p:spPr>
        <p:txBody>
          <a:bodyPr wrap="square" rtlCol="0" anchor="ctr"/>
          <a:lstStyle/>
          <a:p>
            <a:pPr marL="0" indent="0">
              <a:lnSpc>
                <a:spcPts val="1800"/>
              </a:lnSpc>
              <a:buNone/>
            </a:pPr>
            <a:r>
              <a:rPr lang="en-US" sz="1500" b="1" dirty="0">
                <a:solidFill>
                  <a:srgbClr val="B8863B"/>
                </a:solidFill>
                <a:latin typeface="Cambria" pitchFamily="34" charset="0"/>
                <a:ea typeface="Cambria" pitchFamily="34" charset="-122"/>
                <a:cs typeface="Cambria" pitchFamily="34" charset="-120"/>
              </a:rPr>
              <a:t>Tri thức bị “đông cứng”</a:t>
            </a:r>
            <a:endParaRPr lang="en-US" sz="1500" dirty="0"/>
          </a:p>
        </p:txBody>
      </p:sp>
      <p:sp>
        <p:nvSpPr>
          <p:cNvPr id="9" name="Text 7"/>
          <p:cNvSpPr/>
          <p:nvPr/>
        </p:nvSpPr>
        <p:spPr>
          <a:xfrm>
            <a:off x="4206240" y="3721608"/>
            <a:ext cx="6949440" cy="914400"/>
          </a:xfrm>
          <a:prstGeom prst="rect">
            <a:avLst/>
          </a:prstGeom>
          <a:noFill/>
          <a:ln/>
        </p:spPr>
        <p:txBody>
          <a:bodyPr wrap="square" rtlCol="0" anchor="ctr"/>
          <a:lstStyle/>
          <a:p>
            <a:pPr marL="0" indent="0">
              <a:lnSpc>
                <a:spcPts val="1700"/>
              </a:lnSpc>
              <a:buNone/>
            </a:pPr>
            <a:r>
              <a:rPr lang="en-US" sz="1250" dirty="0">
                <a:solidFill>
                  <a:srgbClr val="E8E5DC"/>
                </a:solidFill>
                <a:latin typeface="Calibri" pitchFamily="34" charset="0"/>
                <a:ea typeface="Calibri" pitchFamily="34" charset="-122"/>
                <a:cs typeface="Calibri" pitchFamily="34" charset="-120"/>
              </a:rPr>
              <a:t>Tri thức của mô hình nén vào trọng số lúc pretraining, cố định tại thời điểm suy luận — không thể biết điều luật ban hành sau đó.</a:t>
            </a:r>
            <a:endParaRPr lang="en-US" sz="1250" dirty="0"/>
          </a:p>
        </p:txBody>
      </p:sp>
      <p:sp>
        <p:nvSpPr>
          <p:cNvPr id="10" name="Shape 8"/>
          <p:cNvSpPr/>
          <p:nvPr/>
        </p:nvSpPr>
        <p:spPr>
          <a:xfrm>
            <a:off x="822960" y="4937760"/>
            <a:ext cx="10515600" cy="1143000"/>
          </a:xfrm>
          <a:prstGeom prst="roundRect">
            <a:avLst>
              <a:gd name="adj" fmla="val 6400"/>
            </a:avLst>
          </a:prstGeom>
          <a:solidFill>
            <a:srgbClr val="222E3A"/>
          </a:solidFill>
          <a:ln/>
        </p:spPr>
      </p:sp>
      <p:sp>
        <p:nvSpPr>
          <p:cNvPr id="11" name="Text 9"/>
          <p:cNvSpPr/>
          <p:nvPr/>
        </p:nvSpPr>
        <p:spPr>
          <a:xfrm>
            <a:off x="1097280" y="5074920"/>
            <a:ext cx="2926080" cy="868680"/>
          </a:xfrm>
          <a:prstGeom prst="rect">
            <a:avLst/>
          </a:prstGeom>
          <a:noFill/>
          <a:ln/>
        </p:spPr>
        <p:txBody>
          <a:bodyPr wrap="square" rtlCol="0" anchor="ctr"/>
          <a:lstStyle/>
          <a:p>
            <a:pPr marL="0" indent="0">
              <a:lnSpc>
                <a:spcPts val="1800"/>
              </a:lnSpc>
              <a:buNone/>
            </a:pPr>
            <a:r>
              <a:rPr lang="en-US" sz="1500" b="1" dirty="0">
                <a:solidFill>
                  <a:srgbClr val="B8863B"/>
                </a:solidFill>
                <a:latin typeface="Cambria" pitchFamily="34" charset="0"/>
                <a:ea typeface="Cambria" pitchFamily="34" charset="-122"/>
                <a:cs typeface="Cambria" pitchFamily="34" charset="-120"/>
              </a:rPr>
              <a:t>In-context learning</a:t>
            </a:r>
            <a:endParaRPr lang="en-US" sz="1500" dirty="0"/>
          </a:p>
        </p:txBody>
      </p:sp>
      <p:sp>
        <p:nvSpPr>
          <p:cNvPr id="12" name="Text 10"/>
          <p:cNvSpPr/>
          <p:nvPr/>
        </p:nvSpPr>
        <p:spPr>
          <a:xfrm>
            <a:off x="4206240" y="5047488"/>
            <a:ext cx="6949440" cy="914400"/>
          </a:xfrm>
          <a:prstGeom prst="rect">
            <a:avLst/>
          </a:prstGeom>
          <a:noFill/>
          <a:ln/>
        </p:spPr>
        <p:txBody>
          <a:bodyPr wrap="square" rtlCol="0" anchor="ctr"/>
          <a:lstStyle/>
          <a:p>
            <a:pPr marL="0" indent="0">
              <a:lnSpc>
                <a:spcPts val="1700"/>
              </a:lnSpc>
              <a:buNone/>
            </a:pPr>
            <a:r>
              <a:rPr lang="en-US" sz="1250" dirty="0">
                <a:solidFill>
                  <a:srgbClr val="E8E5DC"/>
                </a:solidFill>
                <a:latin typeface="Calibri" pitchFamily="34" charset="0"/>
                <a:ea typeface="Calibri" pitchFamily="34" charset="-122"/>
                <a:cs typeface="Calibri" pitchFamily="34" charset="-120"/>
              </a:rPr>
              <a:t>Khi đoạn trích dẫn thật được chèn vào prompt, self-attention “chú ý” đến chúng ở MỌI bước sinh tiếp theo — như một dạng suy luận few-shot không cần cập nhật trọng số.</a:t>
            </a:r>
            <a:endParaRPr lang="en-US" sz="1250" dirty="0"/>
          </a:p>
        </p:txBody>
      </p:sp>
      <p:sp>
        <p:nvSpPr>
          <p:cNvPr id="13" name="Text 11"/>
          <p:cNvSpPr/>
          <p:nvPr/>
        </p:nvSpPr>
        <p:spPr>
          <a:xfrm>
            <a:off x="822960" y="6263640"/>
            <a:ext cx="10515600" cy="365760"/>
          </a:xfrm>
          <a:prstGeom prst="rect">
            <a:avLst/>
          </a:prstGeom>
          <a:noFill/>
          <a:ln/>
        </p:spPr>
        <p:txBody>
          <a:bodyPr wrap="square" rtlCol="0" anchor="ctr"/>
          <a:lstStyle/>
          <a:p>
            <a:pPr marL="0" indent="0">
              <a:buNone/>
            </a:pPr>
            <a:r>
              <a:rPr lang="en-US" sz="1250" i="1" dirty="0">
                <a:solidFill>
                  <a:srgbClr val="2B6E62"/>
                </a:solidFill>
                <a:latin typeface="Calibri" pitchFamily="34" charset="0"/>
                <a:ea typeface="Calibri" pitchFamily="34" charset="-122"/>
                <a:cs typeface="Calibri" pitchFamily="34" charset="-120"/>
              </a:rPr>
              <a:t>Kết quả thực nghiệm (Slide 12) là bằng chứng định lượng trực tiếp cho lập luận này.</a:t>
            </a:r>
            <a:endParaRPr lang="en-US" sz="1250" dirty="0"/>
          </a:p>
        </p:txBody>
      </p:sp>
      <p:sp>
        <p:nvSpPr>
          <p:cNvPr id="14" name="Text 12"/>
          <p:cNvSpPr/>
          <p:nvPr/>
        </p:nvSpPr>
        <p:spPr>
          <a:xfrm>
            <a:off x="11548872" y="6400800"/>
            <a:ext cx="365760" cy="274320"/>
          </a:xfrm>
          <a:prstGeom prst="rect">
            <a:avLst/>
          </a:prstGeom>
          <a:noFill/>
          <a:ln/>
        </p:spPr>
        <p:txBody>
          <a:bodyPr wrap="square" rtlCol="0" anchor="ctr"/>
          <a:lstStyle/>
          <a:p>
            <a:pPr marL="0" indent="0" algn="r">
              <a:buNone/>
            </a:pPr>
            <a:r>
              <a:rPr lang="en-US" sz="1000" dirty="0">
                <a:solidFill>
                  <a:srgbClr val="5B6672"/>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2F0E9"/>
        </a:solidFill>
        <a:effectLst/>
      </p:bgPr>
    </p:bg>
    <p:spTree>
      <p:nvGrpSpPr>
        <p:cNvPr id="1" name=""/>
        <p:cNvGrpSpPr/>
        <p:nvPr/>
      </p:nvGrpSpPr>
      <p:grpSpPr>
        <a:xfrm>
          <a:off x="0" y="0"/>
          <a:ext cx="0" cy="0"/>
          <a:chOff x="0" y="0"/>
          <a:chExt cx="0" cy="0"/>
        </a:xfrm>
      </p:grpSpPr>
      <p:sp>
        <p:nvSpPr>
          <p:cNvPr id="2" name="Text 0"/>
          <p:cNvSpPr/>
          <p:nvPr/>
        </p:nvSpPr>
        <p:spPr>
          <a:xfrm>
            <a:off x="548640" y="365760"/>
            <a:ext cx="7315200" cy="365760"/>
          </a:xfrm>
          <a:prstGeom prst="rect">
            <a:avLst/>
          </a:prstGeom>
          <a:noFill/>
          <a:ln/>
        </p:spPr>
        <p:txBody>
          <a:bodyPr wrap="square" rtlCol="0" anchor="ctr"/>
          <a:lstStyle/>
          <a:p>
            <a:pPr marL="0" indent="0">
              <a:buNone/>
            </a:pPr>
            <a:r>
              <a:rPr lang="en-US" sz="1200" b="1" kern="0" spc="200" dirty="0">
                <a:solidFill>
                  <a:srgbClr val="2B6E62"/>
                </a:solidFill>
                <a:latin typeface="Calibri" pitchFamily="34" charset="0"/>
                <a:ea typeface="Calibri" pitchFamily="34" charset="-122"/>
                <a:cs typeface="Calibri" pitchFamily="34" charset="-120"/>
              </a:rPr>
              <a:t>THỰC NGHIỆM &amp; KẾT QUẢ</a:t>
            </a:r>
            <a:endParaRPr lang="en-US" sz="1200" dirty="0"/>
          </a:p>
        </p:txBody>
      </p:sp>
      <p:sp>
        <p:nvSpPr>
          <p:cNvPr id="3" name="Text 1"/>
          <p:cNvSpPr/>
          <p:nvPr/>
        </p:nvSpPr>
        <p:spPr>
          <a:xfrm>
            <a:off x="548640" y="685800"/>
            <a:ext cx="11064240" cy="822960"/>
          </a:xfrm>
          <a:prstGeom prst="rect">
            <a:avLst/>
          </a:prstGeom>
          <a:noFill/>
          <a:ln/>
        </p:spPr>
        <p:txBody>
          <a:bodyPr wrap="square" rtlCol="0" anchor="ctr"/>
          <a:lstStyle/>
          <a:p>
            <a:pPr marL="0" indent="0" algn="l">
              <a:buNone/>
            </a:pPr>
            <a:r>
              <a:rPr lang="en-US" sz="3200" b="1" dirty="0">
                <a:solidFill>
                  <a:srgbClr val="17212B"/>
                </a:solidFill>
                <a:latin typeface="Cambria" pitchFamily="34" charset="0"/>
                <a:ea typeface="Cambria" pitchFamily="34" charset="-122"/>
                <a:cs typeface="Cambria" pitchFamily="34" charset="-120"/>
              </a:rPr>
              <a:t>Đánh giá truy hồi trên 46 câu hỏi gán tay</a:t>
            </a:r>
            <a:endParaRPr lang="en-US" sz="3200" dirty="0"/>
          </a:p>
        </p:txBody>
      </p:sp>
      <p:graphicFrame>
        <p:nvGraphicFramePr>
          <p:cNvPr id="4" name="Chart 0"/>
          <p:cNvGraphicFramePr/>
          <p:nvPr/>
        </p:nvGraphicFramePr>
        <p:xfrm>
          <a:off x="548640" y="2148840"/>
          <a:ext cx="11064240" cy="393192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p:nvPr/>
        </p:nvSpPr>
        <p:spPr>
          <a:xfrm>
            <a:off x="548640" y="6172200"/>
            <a:ext cx="11064240" cy="411480"/>
          </a:xfrm>
          <a:prstGeom prst="rect">
            <a:avLst/>
          </a:prstGeom>
          <a:noFill/>
          <a:ln/>
        </p:spPr>
        <p:txBody>
          <a:bodyPr wrap="square" rtlCol="0" anchor="ctr"/>
          <a:lstStyle/>
          <a:p>
            <a:pPr marL="0" indent="0" algn="ctr">
              <a:buNone/>
            </a:pPr>
            <a:r>
              <a:rPr lang="en-US" sz="1200" i="1" dirty="0">
                <a:solidFill>
                  <a:srgbClr val="2B6E62"/>
                </a:solidFill>
                <a:latin typeface="Calibri" pitchFamily="34" charset="0"/>
                <a:ea typeface="Calibri" pitchFamily="34" charset="-122"/>
                <a:cs typeface="Calibri" pitchFamily="34" charset="-120"/>
              </a:rPr>
              <a:t>Rerank cross-encoder cải thiện nhiều nhất trên mọi chỉ số — chi phí ~7.6s/câu (đã giảm 61% sau khi sửa lỗi hiệu năng — slide sau) so với ~0.06–0.3s không rerank.</a:t>
            </a:r>
            <a:endParaRPr lang="en-US" sz="1200" dirty="0"/>
          </a:p>
        </p:txBody>
      </p:sp>
      <p:sp>
        <p:nvSpPr>
          <p:cNvPr id="6" name="Text 3"/>
          <p:cNvSpPr/>
          <p:nvPr/>
        </p:nvSpPr>
        <p:spPr>
          <a:xfrm>
            <a:off x="11548872" y="6400800"/>
            <a:ext cx="365760" cy="274320"/>
          </a:xfrm>
          <a:prstGeom prst="rect">
            <a:avLst/>
          </a:prstGeom>
          <a:noFill/>
          <a:ln/>
        </p:spPr>
        <p:txBody>
          <a:bodyPr wrap="square" rtlCol="0" anchor="ctr"/>
          <a:lstStyle/>
          <a:p>
            <a:pPr marL="0" indent="0" algn="r">
              <a:buNone/>
            </a:pPr>
            <a:r>
              <a:rPr lang="en-US" sz="1000" dirty="0">
                <a:solidFill>
                  <a:srgbClr val="5B6672"/>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2F0E9"/>
        </a:solidFill>
        <a:effectLst/>
      </p:bgPr>
    </p:bg>
    <p:spTree>
      <p:nvGrpSpPr>
        <p:cNvPr id="1" name=""/>
        <p:cNvGrpSpPr/>
        <p:nvPr/>
      </p:nvGrpSpPr>
      <p:grpSpPr>
        <a:xfrm>
          <a:off x="0" y="0"/>
          <a:ext cx="0" cy="0"/>
          <a:chOff x="0" y="0"/>
          <a:chExt cx="0" cy="0"/>
        </a:xfrm>
      </p:grpSpPr>
      <p:sp>
        <p:nvSpPr>
          <p:cNvPr id="2" name="Text 0"/>
          <p:cNvSpPr/>
          <p:nvPr/>
        </p:nvSpPr>
        <p:spPr>
          <a:xfrm>
            <a:off x="548640" y="365760"/>
            <a:ext cx="7315200" cy="365760"/>
          </a:xfrm>
          <a:prstGeom prst="rect">
            <a:avLst/>
          </a:prstGeom>
          <a:noFill/>
          <a:ln/>
        </p:spPr>
        <p:txBody>
          <a:bodyPr wrap="square" rtlCol="0" anchor="ctr"/>
          <a:lstStyle/>
          <a:p>
            <a:pPr marL="0" indent="0">
              <a:buNone/>
            </a:pPr>
            <a:r>
              <a:rPr lang="en-US" sz="1200" b="1" kern="0" spc="200" dirty="0">
                <a:solidFill>
                  <a:srgbClr val="2B6E62"/>
                </a:solidFill>
                <a:latin typeface="Calibri" pitchFamily="34" charset="0"/>
                <a:ea typeface="Calibri" pitchFamily="34" charset="-122"/>
                <a:cs typeface="Calibri" pitchFamily="34" charset="-120"/>
              </a:rPr>
              <a:t>RÀ SOÁT KỸ THUẬT PIPELINE</a:t>
            </a:r>
            <a:endParaRPr lang="en-US" sz="1200" dirty="0"/>
          </a:p>
        </p:txBody>
      </p:sp>
      <p:sp>
        <p:nvSpPr>
          <p:cNvPr id="3" name="Text 1"/>
          <p:cNvSpPr/>
          <p:nvPr/>
        </p:nvSpPr>
        <p:spPr>
          <a:xfrm>
            <a:off x="548640" y="685800"/>
            <a:ext cx="11064240" cy="822960"/>
          </a:xfrm>
          <a:prstGeom prst="rect">
            <a:avLst/>
          </a:prstGeom>
          <a:noFill/>
          <a:ln/>
        </p:spPr>
        <p:txBody>
          <a:bodyPr wrap="square" rtlCol="0" anchor="ctr"/>
          <a:lstStyle/>
          <a:p>
            <a:pPr marL="0" indent="0" algn="l">
              <a:buNone/>
            </a:pPr>
            <a:r>
              <a:rPr lang="en-US" sz="3200" b="1" dirty="0">
                <a:solidFill>
                  <a:srgbClr val="17212B"/>
                </a:solidFill>
                <a:latin typeface="Cambria" pitchFamily="34" charset="0"/>
                <a:ea typeface="Cambria" pitchFamily="34" charset="-122"/>
                <a:cs typeface="Cambria" pitchFamily="34" charset="-120"/>
              </a:rPr>
              <a:t>3 lỗi thật phát hiện khi rà soát code — không chỉ đọc tài liệu</a:t>
            </a:r>
            <a:endParaRPr lang="en-US" sz="3200" dirty="0"/>
          </a:p>
        </p:txBody>
      </p:sp>
      <p:sp>
        <p:nvSpPr>
          <p:cNvPr id="4" name="Shape 2"/>
          <p:cNvSpPr/>
          <p:nvPr/>
        </p:nvSpPr>
        <p:spPr>
          <a:xfrm>
            <a:off x="548640" y="2148840"/>
            <a:ext cx="10881360" cy="1234440"/>
          </a:xfrm>
          <a:prstGeom prst="roundRect">
            <a:avLst>
              <a:gd name="adj" fmla="val 5926"/>
            </a:avLst>
          </a:prstGeom>
          <a:solidFill>
            <a:srgbClr val="FFFFFF"/>
          </a:solidFill>
          <a:ln/>
          <a:effectLst>
            <a:outerShdw blurRad="76200" dist="25400" dir="5400000" algn="bl" rotWithShape="0">
              <a:srgbClr val="000000">
                <a:alpha val="12000"/>
              </a:srgbClr>
            </a:outerShdw>
          </a:effectLst>
        </p:spPr>
      </p:sp>
      <p:sp>
        <p:nvSpPr>
          <p:cNvPr id="5" name="Shape 3"/>
          <p:cNvSpPr/>
          <p:nvPr/>
        </p:nvSpPr>
        <p:spPr>
          <a:xfrm>
            <a:off x="822960" y="2404872"/>
            <a:ext cx="685800" cy="685800"/>
          </a:xfrm>
          <a:prstGeom prst="ellipse">
            <a:avLst/>
          </a:prstGeom>
          <a:solidFill>
            <a:srgbClr val="B8863B"/>
          </a:solidFill>
          <a:ln/>
        </p:spPr>
      </p:sp>
      <p:sp>
        <p:nvSpPr>
          <p:cNvPr id="6" name="Text 4"/>
          <p:cNvSpPr/>
          <p:nvPr/>
        </p:nvSpPr>
        <p:spPr>
          <a:xfrm>
            <a:off x="822960" y="2404872"/>
            <a:ext cx="685800" cy="685800"/>
          </a:xfrm>
          <a:prstGeom prst="rect">
            <a:avLst/>
          </a:prstGeom>
          <a:noFill/>
          <a:ln/>
        </p:spPr>
        <p:txBody>
          <a:bodyPr wrap="square" rtlCol="0" anchor="ctr"/>
          <a:lstStyle/>
          <a:p>
            <a:pPr marL="0" indent="0" algn="ctr">
              <a:buNone/>
            </a:pPr>
            <a:r>
              <a:rPr lang="en-US" sz="2600" b="1" dirty="0">
                <a:solidFill>
                  <a:srgbClr val="FFFFFF"/>
                </a:solidFill>
                <a:latin typeface="Cambria" pitchFamily="34" charset="0"/>
                <a:ea typeface="Cambria" pitchFamily="34" charset="-122"/>
                <a:cs typeface="Cambria" pitchFamily="34" charset="-120"/>
              </a:rPr>
              <a:t>1</a:t>
            </a:r>
            <a:endParaRPr lang="en-US" sz="2600" dirty="0"/>
          </a:p>
        </p:txBody>
      </p:sp>
      <p:sp>
        <p:nvSpPr>
          <p:cNvPr id="7" name="Text 5"/>
          <p:cNvSpPr/>
          <p:nvPr/>
        </p:nvSpPr>
        <p:spPr>
          <a:xfrm>
            <a:off x="1828800" y="2258568"/>
            <a:ext cx="6126480" cy="365760"/>
          </a:xfrm>
          <a:prstGeom prst="rect">
            <a:avLst/>
          </a:prstGeom>
          <a:noFill/>
          <a:ln/>
        </p:spPr>
        <p:txBody>
          <a:bodyPr wrap="square" rtlCol="0" anchor="ctr"/>
          <a:lstStyle/>
          <a:p>
            <a:pPr marL="0" indent="0">
              <a:buNone/>
            </a:pPr>
            <a:r>
              <a:rPr lang="en-US" sz="1450" b="1" dirty="0">
                <a:solidFill>
                  <a:srgbClr val="17212B"/>
                </a:solidFill>
                <a:latin typeface="Cambria" pitchFamily="34" charset="0"/>
                <a:ea typeface="Cambria" pitchFamily="34" charset="-122"/>
                <a:cs typeface="Cambria" pitchFamily="34" charset="-120"/>
              </a:rPr>
              <a:t>Rerank tải lại model mỗi lượt gọi</a:t>
            </a:r>
            <a:endParaRPr lang="en-US" sz="1450" dirty="0"/>
          </a:p>
        </p:txBody>
      </p:sp>
      <p:sp>
        <p:nvSpPr>
          <p:cNvPr id="8" name="Text 6"/>
          <p:cNvSpPr/>
          <p:nvPr/>
        </p:nvSpPr>
        <p:spPr>
          <a:xfrm>
            <a:off x="1828800" y="2624328"/>
            <a:ext cx="6126480" cy="685800"/>
          </a:xfrm>
          <a:prstGeom prst="rect">
            <a:avLst/>
          </a:prstGeom>
          <a:noFill/>
          <a:ln/>
        </p:spPr>
        <p:txBody>
          <a:bodyPr wrap="square" rtlCol="0" anchor="ctr"/>
          <a:lstStyle/>
          <a:p>
            <a:pPr marL="0" indent="0">
              <a:lnSpc>
                <a:spcPts val="1400"/>
              </a:lnSpc>
              <a:buNone/>
            </a:pPr>
            <a:r>
              <a:rPr lang="en-US" sz="1100" dirty="0">
                <a:solidFill>
                  <a:srgbClr val="5B6672"/>
                </a:solidFill>
                <a:latin typeface="Calibri" pitchFamily="34" charset="0"/>
                <a:ea typeface="Calibri" pitchFamily="34" charset="-122"/>
                <a:cs typeface="Calibri" pitchFamily="34" charset="-120"/>
              </a:rPr>
              <a:t>CrossEncoder khởi tạo lại từ đầu mỗi lần — đo thực tế ~6-7s lãng phí/câu. Thêm cache theo tên model.</a:t>
            </a:r>
            <a:endParaRPr lang="en-US" sz="1100" dirty="0"/>
          </a:p>
        </p:txBody>
      </p:sp>
      <p:sp>
        <p:nvSpPr>
          <p:cNvPr id="9" name="Text 7"/>
          <p:cNvSpPr/>
          <p:nvPr/>
        </p:nvSpPr>
        <p:spPr>
          <a:xfrm>
            <a:off x="8138160" y="2286000"/>
            <a:ext cx="3063240" cy="960120"/>
          </a:xfrm>
          <a:prstGeom prst="rect">
            <a:avLst/>
          </a:prstGeom>
          <a:noFill/>
          <a:ln/>
        </p:spPr>
        <p:txBody>
          <a:bodyPr wrap="square" rtlCol="0" anchor="ctr"/>
          <a:lstStyle/>
          <a:p>
            <a:pPr marL="0" indent="0" algn="ctr">
              <a:lnSpc>
                <a:spcPts val="1500"/>
              </a:lnSpc>
              <a:buNone/>
            </a:pPr>
            <a:r>
              <a:rPr lang="en-US" sz="1200" b="1" dirty="0">
                <a:solidFill>
                  <a:srgbClr val="2B6E62"/>
                </a:solidFill>
                <a:latin typeface="Calibri" pitchFamily="34" charset="0"/>
                <a:ea typeface="Calibri" pitchFamily="34" charset="-122"/>
                <a:cs typeface="Calibri" pitchFamily="34" charset="-120"/>
              </a:rPr>
              <a:t>-57% thời gian rerank</a:t>
            </a:r>
            <a:endParaRPr lang="en-US" sz="1200" dirty="0"/>
          </a:p>
          <a:p>
            <a:pPr marL="0" indent="0" algn="ctr">
              <a:lnSpc>
                <a:spcPts val="1500"/>
              </a:lnSpc>
              <a:buNone/>
            </a:pPr>
            <a:r>
              <a:rPr lang="en-US" sz="1200" b="1" dirty="0">
                <a:solidFill>
                  <a:srgbClr val="2B6E62"/>
                </a:solidFill>
                <a:latin typeface="Calibri" pitchFamily="34" charset="0"/>
                <a:ea typeface="Calibri" pitchFamily="34" charset="-122"/>
                <a:cs typeface="Calibri" pitchFamily="34" charset="-120"/>
              </a:rPr>
              <a:t>(908s → 391s / 46 câu)</a:t>
            </a:r>
            <a:endParaRPr lang="en-US" sz="1200" dirty="0"/>
          </a:p>
        </p:txBody>
      </p:sp>
      <p:sp>
        <p:nvSpPr>
          <p:cNvPr id="10" name="Shape 8"/>
          <p:cNvSpPr/>
          <p:nvPr/>
        </p:nvSpPr>
        <p:spPr>
          <a:xfrm>
            <a:off x="548640" y="3566160"/>
            <a:ext cx="10881360" cy="1234440"/>
          </a:xfrm>
          <a:prstGeom prst="roundRect">
            <a:avLst>
              <a:gd name="adj" fmla="val 5926"/>
            </a:avLst>
          </a:prstGeom>
          <a:solidFill>
            <a:srgbClr val="FFFFFF"/>
          </a:solidFill>
          <a:ln/>
          <a:effectLst>
            <a:outerShdw blurRad="76200" dist="25400" dir="5400000" algn="bl" rotWithShape="0">
              <a:srgbClr val="000000">
                <a:alpha val="12000"/>
              </a:srgbClr>
            </a:outerShdw>
          </a:effectLst>
        </p:spPr>
      </p:sp>
      <p:sp>
        <p:nvSpPr>
          <p:cNvPr id="11" name="Shape 9"/>
          <p:cNvSpPr/>
          <p:nvPr/>
        </p:nvSpPr>
        <p:spPr>
          <a:xfrm>
            <a:off x="822960" y="3822192"/>
            <a:ext cx="685800" cy="685800"/>
          </a:xfrm>
          <a:prstGeom prst="ellipse">
            <a:avLst/>
          </a:prstGeom>
          <a:solidFill>
            <a:srgbClr val="B8863B"/>
          </a:solidFill>
          <a:ln/>
        </p:spPr>
      </p:sp>
      <p:sp>
        <p:nvSpPr>
          <p:cNvPr id="12" name="Text 10"/>
          <p:cNvSpPr/>
          <p:nvPr/>
        </p:nvSpPr>
        <p:spPr>
          <a:xfrm>
            <a:off x="822960" y="3822192"/>
            <a:ext cx="685800" cy="685800"/>
          </a:xfrm>
          <a:prstGeom prst="rect">
            <a:avLst/>
          </a:prstGeom>
          <a:noFill/>
          <a:ln/>
        </p:spPr>
        <p:txBody>
          <a:bodyPr wrap="square" rtlCol="0" anchor="ctr"/>
          <a:lstStyle/>
          <a:p>
            <a:pPr marL="0" indent="0" algn="ctr">
              <a:buNone/>
            </a:pPr>
            <a:r>
              <a:rPr lang="en-US" sz="2600" b="1" dirty="0">
                <a:solidFill>
                  <a:srgbClr val="FFFFFF"/>
                </a:solidFill>
                <a:latin typeface="Cambria" pitchFamily="34" charset="0"/>
                <a:ea typeface="Cambria" pitchFamily="34" charset="-122"/>
                <a:cs typeface="Cambria" pitchFamily="34" charset="-120"/>
              </a:rPr>
              <a:t>2</a:t>
            </a:r>
            <a:endParaRPr lang="en-US" sz="2600" dirty="0"/>
          </a:p>
        </p:txBody>
      </p:sp>
      <p:sp>
        <p:nvSpPr>
          <p:cNvPr id="13" name="Text 11"/>
          <p:cNvSpPr/>
          <p:nvPr/>
        </p:nvSpPr>
        <p:spPr>
          <a:xfrm>
            <a:off x="1828800" y="3675888"/>
            <a:ext cx="6126480" cy="365760"/>
          </a:xfrm>
          <a:prstGeom prst="rect">
            <a:avLst/>
          </a:prstGeom>
          <a:noFill/>
          <a:ln/>
        </p:spPr>
        <p:txBody>
          <a:bodyPr wrap="square" rtlCol="0" anchor="ctr"/>
          <a:lstStyle/>
          <a:p>
            <a:pPr marL="0" indent="0">
              <a:buNone/>
            </a:pPr>
            <a:r>
              <a:rPr lang="en-US" sz="1450" b="1" dirty="0">
                <a:solidFill>
                  <a:srgbClr val="17212B"/>
                </a:solidFill>
                <a:latin typeface="Cambria" pitchFamily="34" charset="0"/>
                <a:ea typeface="Cambria" pitchFamily="34" charset="-122"/>
                <a:cs typeface="Cambria" pitchFamily="34" charset="-120"/>
              </a:rPr>
              <a:t>Đưa dư ứng viên vào rerank</a:t>
            </a:r>
            <a:endParaRPr lang="en-US" sz="1450" dirty="0"/>
          </a:p>
        </p:txBody>
      </p:sp>
      <p:sp>
        <p:nvSpPr>
          <p:cNvPr id="14" name="Text 12"/>
          <p:cNvSpPr/>
          <p:nvPr/>
        </p:nvSpPr>
        <p:spPr>
          <a:xfrm>
            <a:off x="1828800" y="4041648"/>
            <a:ext cx="6126480" cy="685800"/>
          </a:xfrm>
          <a:prstGeom prst="rect">
            <a:avLst/>
          </a:prstGeom>
          <a:noFill/>
          <a:ln/>
        </p:spPr>
        <p:txBody>
          <a:bodyPr wrap="square" rtlCol="0" anchor="ctr"/>
          <a:lstStyle/>
          <a:p>
            <a:pPr marL="0" indent="0">
              <a:lnSpc>
                <a:spcPts val="1400"/>
              </a:lnSpc>
              <a:buNone/>
            </a:pPr>
            <a:r>
              <a:rPr lang="en-US" sz="1100" dirty="0">
                <a:solidFill>
                  <a:srgbClr val="5B6672"/>
                </a:solidFill>
                <a:latin typeface="Calibri" pitchFamily="34" charset="0"/>
                <a:ea typeface="Calibri" pitchFamily="34" charset="-122"/>
                <a:cs typeface="Calibri" pitchFamily="34" charset="-120"/>
              </a:rPr>
              <a:t>Hợp nhất RRF trả về tới 82 ứng viên thay vì 50 đã khai báo trước khi rerank — tăng 64% khối lượng tính.</a:t>
            </a:r>
            <a:endParaRPr lang="en-US" sz="1100" dirty="0"/>
          </a:p>
        </p:txBody>
      </p:sp>
      <p:sp>
        <p:nvSpPr>
          <p:cNvPr id="15" name="Text 13"/>
          <p:cNvSpPr/>
          <p:nvPr/>
        </p:nvSpPr>
        <p:spPr>
          <a:xfrm>
            <a:off x="8138160" y="3703320"/>
            <a:ext cx="3063240" cy="960120"/>
          </a:xfrm>
          <a:prstGeom prst="rect">
            <a:avLst/>
          </a:prstGeom>
          <a:noFill/>
          <a:ln/>
        </p:spPr>
        <p:txBody>
          <a:bodyPr wrap="square" rtlCol="0" anchor="ctr"/>
          <a:lstStyle/>
          <a:p>
            <a:pPr marL="0" indent="0" algn="ctr">
              <a:lnSpc>
                <a:spcPts val="1500"/>
              </a:lnSpc>
              <a:buNone/>
            </a:pPr>
            <a:r>
              <a:rPr lang="en-US" sz="1200" b="1" dirty="0">
                <a:solidFill>
                  <a:srgbClr val="2B6E62"/>
                </a:solidFill>
                <a:latin typeface="Calibri" pitchFamily="34" charset="0"/>
                <a:ea typeface="Calibri" pitchFamily="34" charset="-122"/>
                <a:cs typeface="Calibri" pitchFamily="34" charset="-120"/>
              </a:rPr>
              <a:t>Cắt đúng candidate_k</a:t>
            </a:r>
            <a:endParaRPr lang="en-US" sz="1200" dirty="0"/>
          </a:p>
          <a:p>
            <a:pPr marL="0" indent="0" algn="ctr">
              <a:lnSpc>
                <a:spcPts val="1500"/>
              </a:lnSpc>
              <a:buNone/>
            </a:pPr>
            <a:r>
              <a:rPr lang="en-US" sz="1200" b="1" dirty="0">
                <a:solidFill>
                  <a:srgbClr val="2B6E62"/>
                </a:solidFill>
                <a:latin typeface="Calibri" pitchFamily="34" charset="0"/>
                <a:ea typeface="Calibri" pitchFamily="34" charset="-122"/>
                <a:cs typeface="Calibri" pitchFamily="34" charset="-120"/>
              </a:rPr>
              <a:t>trước khi rerank</a:t>
            </a:r>
            <a:endParaRPr lang="en-US" sz="1200" dirty="0"/>
          </a:p>
        </p:txBody>
      </p:sp>
      <p:sp>
        <p:nvSpPr>
          <p:cNvPr id="16" name="Shape 14"/>
          <p:cNvSpPr/>
          <p:nvPr/>
        </p:nvSpPr>
        <p:spPr>
          <a:xfrm>
            <a:off x="548640" y="4983480"/>
            <a:ext cx="10881360" cy="1234440"/>
          </a:xfrm>
          <a:prstGeom prst="roundRect">
            <a:avLst>
              <a:gd name="adj" fmla="val 5926"/>
            </a:avLst>
          </a:prstGeom>
          <a:solidFill>
            <a:srgbClr val="FFFFFF"/>
          </a:solidFill>
          <a:ln/>
          <a:effectLst>
            <a:outerShdw blurRad="76200" dist="25400" dir="5400000" algn="bl" rotWithShape="0">
              <a:srgbClr val="000000">
                <a:alpha val="12000"/>
              </a:srgbClr>
            </a:outerShdw>
          </a:effectLst>
        </p:spPr>
      </p:sp>
      <p:sp>
        <p:nvSpPr>
          <p:cNvPr id="17" name="Shape 15"/>
          <p:cNvSpPr/>
          <p:nvPr/>
        </p:nvSpPr>
        <p:spPr>
          <a:xfrm>
            <a:off x="822960" y="5239512"/>
            <a:ext cx="685800" cy="685800"/>
          </a:xfrm>
          <a:prstGeom prst="ellipse">
            <a:avLst/>
          </a:prstGeom>
          <a:solidFill>
            <a:srgbClr val="B8863B"/>
          </a:solidFill>
          <a:ln/>
        </p:spPr>
      </p:sp>
      <p:sp>
        <p:nvSpPr>
          <p:cNvPr id="18" name="Text 16"/>
          <p:cNvSpPr/>
          <p:nvPr/>
        </p:nvSpPr>
        <p:spPr>
          <a:xfrm>
            <a:off x="822960" y="5239512"/>
            <a:ext cx="685800" cy="685800"/>
          </a:xfrm>
          <a:prstGeom prst="rect">
            <a:avLst/>
          </a:prstGeom>
          <a:noFill/>
          <a:ln/>
        </p:spPr>
        <p:txBody>
          <a:bodyPr wrap="square" rtlCol="0" anchor="ctr"/>
          <a:lstStyle/>
          <a:p>
            <a:pPr marL="0" indent="0" algn="ctr">
              <a:buNone/>
            </a:pPr>
            <a:r>
              <a:rPr lang="en-US" sz="2600" b="1" dirty="0">
                <a:solidFill>
                  <a:srgbClr val="FFFFFF"/>
                </a:solidFill>
                <a:latin typeface="Cambria" pitchFamily="34" charset="0"/>
                <a:ea typeface="Cambria" pitchFamily="34" charset="-122"/>
                <a:cs typeface="Cambria" pitchFamily="34" charset="-120"/>
              </a:rPr>
              <a:t>3</a:t>
            </a:r>
            <a:endParaRPr lang="en-US" sz="2600" dirty="0"/>
          </a:p>
        </p:txBody>
      </p:sp>
      <p:sp>
        <p:nvSpPr>
          <p:cNvPr id="19" name="Text 17"/>
          <p:cNvSpPr/>
          <p:nvPr/>
        </p:nvSpPr>
        <p:spPr>
          <a:xfrm>
            <a:off x="1828800" y="5093208"/>
            <a:ext cx="6126480" cy="365760"/>
          </a:xfrm>
          <a:prstGeom prst="rect">
            <a:avLst/>
          </a:prstGeom>
          <a:noFill/>
          <a:ln/>
        </p:spPr>
        <p:txBody>
          <a:bodyPr wrap="square" rtlCol="0" anchor="ctr"/>
          <a:lstStyle/>
          <a:p>
            <a:pPr marL="0" indent="0">
              <a:buNone/>
            </a:pPr>
            <a:r>
              <a:rPr lang="en-US" sz="1450" b="1" dirty="0">
                <a:solidFill>
                  <a:srgbClr val="17212B"/>
                </a:solidFill>
                <a:latin typeface="Cambria" pitchFamily="34" charset="0"/>
                <a:ea typeface="Cambria" pitchFamily="34" charset="-122"/>
                <a:cs typeface="Cambria" pitchFamily="34" charset="-120"/>
              </a:rPr>
              <a:t>65% chunk bị cắt âm thầm khi embed</a:t>
            </a:r>
            <a:endParaRPr lang="en-US" sz="1450" dirty="0"/>
          </a:p>
        </p:txBody>
      </p:sp>
      <p:sp>
        <p:nvSpPr>
          <p:cNvPr id="20" name="Text 18"/>
          <p:cNvSpPr/>
          <p:nvPr/>
        </p:nvSpPr>
        <p:spPr>
          <a:xfrm>
            <a:off x="1828800" y="5458968"/>
            <a:ext cx="6126480" cy="685800"/>
          </a:xfrm>
          <a:prstGeom prst="rect">
            <a:avLst/>
          </a:prstGeom>
          <a:noFill/>
          <a:ln/>
        </p:spPr>
        <p:txBody>
          <a:bodyPr wrap="square" rtlCol="0" anchor="ctr"/>
          <a:lstStyle/>
          <a:p>
            <a:pPr marL="0" indent="0">
              <a:lnSpc>
                <a:spcPts val="1400"/>
              </a:lnSpc>
              <a:buNone/>
            </a:pPr>
            <a:r>
              <a:rPr lang="en-US" sz="1100" dirty="0">
                <a:solidFill>
                  <a:srgbClr val="5B6672"/>
                </a:solidFill>
                <a:latin typeface="Calibri" pitchFamily="34" charset="0"/>
                <a:ea typeface="Calibri" pitchFamily="34" charset="-122"/>
                <a:cs typeface="Calibri" pitchFamily="34" charset="-120"/>
              </a:rPr>
              <a:t>vietnamese-bi-encoder giới hạn KIẾN TRÚC 256 token, nhưng 447/684 chunk dài hơn — SentenceTransformer.encode() cắt phần sau, không báo lỗi.</a:t>
            </a:r>
            <a:endParaRPr lang="en-US" sz="1100" dirty="0"/>
          </a:p>
        </p:txBody>
      </p:sp>
      <p:sp>
        <p:nvSpPr>
          <p:cNvPr id="21" name="Text 19"/>
          <p:cNvSpPr/>
          <p:nvPr/>
        </p:nvSpPr>
        <p:spPr>
          <a:xfrm>
            <a:off x="8138160" y="5120640"/>
            <a:ext cx="3063240" cy="960120"/>
          </a:xfrm>
          <a:prstGeom prst="rect">
            <a:avLst/>
          </a:prstGeom>
          <a:noFill/>
          <a:ln/>
        </p:spPr>
        <p:txBody>
          <a:bodyPr wrap="square" rtlCol="0" anchor="ctr"/>
          <a:lstStyle/>
          <a:p>
            <a:pPr marL="0" indent="0" algn="ctr">
              <a:lnSpc>
                <a:spcPts val="1500"/>
              </a:lnSpc>
              <a:buNone/>
            </a:pPr>
            <a:r>
              <a:rPr lang="en-US" sz="1200" b="1" dirty="0">
                <a:solidFill>
                  <a:srgbClr val="2B6E62"/>
                </a:solidFill>
                <a:latin typeface="Calibri" pitchFamily="34" charset="0"/>
                <a:ea typeface="Calibri" pitchFamily="34" charset="-122"/>
                <a:cs typeface="Calibri" pitchFamily="34" charset="-120"/>
              </a:rPr>
              <a:t>Độ tách biệt embedding</a:t>
            </a:r>
            <a:endParaRPr lang="en-US" sz="1200" dirty="0"/>
          </a:p>
          <a:p>
            <a:pPr marL="0" indent="0" algn="ctr">
              <a:lnSpc>
                <a:spcPts val="1500"/>
              </a:lnSpc>
              <a:buNone/>
            </a:pPr>
            <a:r>
              <a:rPr lang="en-US" sz="1200" b="1" dirty="0">
                <a:solidFill>
                  <a:srgbClr val="2B6E62"/>
                </a:solidFill>
                <a:latin typeface="Calibri" pitchFamily="34" charset="0"/>
                <a:ea typeface="Calibri" pitchFamily="34" charset="-122"/>
                <a:cs typeface="Calibri" pitchFamily="34" charset="-120"/>
              </a:rPr>
              <a:t>+13% đến +15%</a:t>
            </a:r>
            <a:endParaRPr lang="en-US" sz="1200" dirty="0"/>
          </a:p>
        </p:txBody>
      </p:sp>
      <p:sp>
        <p:nvSpPr>
          <p:cNvPr id="22" name="Text 20"/>
          <p:cNvSpPr/>
          <p:nvPr/>
        </p:nvSpPr>
        <p:spPr>
          <a:xfrm>
            <a:off x="548640" y="6446520"/>
            <a:ext cx="10881360" cy="320040"/>
          </a:xfrm>
          <a:prstGeom prst="rect">
            <a:avLst/>
          </a:prstGeom>
          <a:noFill/>
          <a:ln/>
        </p:spPr>
        <p:txBody>
          <a:bodyPr wrap="square" rtlCol="0" anchor="ctr"/>
          <a:lstStyle/>
          <a:p>
            <a:pPr marL="0" indent="0" algn="ctr">
              <a:buNone/>
            </a:pPr>
            <a:r>
              <a:rPr lang="en-US" sz="1100" i="1" dirty="0">
                <a:solidFill>
                  <a:srgbClr val="5B6672"/>
                </a:solidFill>
                <a:latin typeface="Calibri" pitchFamily="34" charset="0"/>
                <a:ea typeface="Calibri" pitchFamily="34" charset="-122"/>
                <a:cs typeface="Calibri" pitchFamily="34" charset="-120"/>
              </a:rPr>
              <a:t>Đo lại bằng eval thật sau mỗi fix — không suy đoán tác động. Chi tiết: docs/DATA_CARD.md Mục 12.1.</a:t>
            </a:r>
            <a:endParaRPr lang="en-US" sz="1100" dirty="0"/>
          </a:p>
        </p:txBody>
      </p:sp>
      <p:sp>
        <p:nvSpPr>
          <p:cNvPr id="23" name="Text 21"/>
          <p:cNvSpPr/>
          <p:nvPr/>
        </p:nvSpPr>
        <p:spPr>
          <a:xfrm>
            <a:off x="11548872" y="6400800"/>
            <a:ext cx="365760" cy="274320"/>
          </a:xfrm>
          <a:prstGeom prst="rect">
            <a:avLst/>
          </a:prstGeom>
          <a:noFill/>
          <a:ln/>
        </p:spPr>
        <p:txBody>
          <a:bodyPr wrap="square" rtlCol="0" anchor="ctr"/>
          <a:lstStyle/>
          <a:p>
            <a:pPr marL="0" indent="0" algn="r">
              <a:buNone/>
            </a:pPr>
            <a:r>
              <a:rPr lang="en-US" sz="1000" dirty="0">
                <a:solidFill>
                  <a:srgbClr val="5B6672"/>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7212B"/>
        </a:solidFill>
        <a:effectLst/>
      </p:bgPr>
    </p:bg>
    <p:spTree>
      <p:nvGrpSpPr>
        <p:cNvPr id="1" name=""/>
        <p:cNvGrpSpPr/>
        <p:nvPr/>
      </p:nvGrpSpPr>
      <p:grpSpPr>
        <a:xfrm>
          <a:off x="0" y="0"/>
          <a:ext cx="0" cy="0"/>
          <a:chOff x="0" y="0"/>
          <a:chExt cx="0" cy="0"/>
        </a:xfrm>
      </p:grpSpPr>
      <p:sp>
        <p:nvSpPr>
          <p:cNvPr id="2" name="Text 0"/>
          <p:cNvSpPr/>
          <p:nvPr/>
        </p:nvSpPr>
        <p:spPr>
          <a:xfrm>
            <a:off x="548640" y="365760"/>
            <a:ext cx="7315200" cy="365760"/>
          </a:xfrm>
          <a:prstGeom prst="rect">
            <a:avLst/>
          </a:prstGeom>
          <a:noFill/>
          <a:ln/>
        </p:spPr>
        <p:txBody>
          <a:bodyPr wrap="square" rtlCol="0" anchor="ctr"/>
          <a:lstStyle/>
          <a:p>
            <a:pPr marL="0" indent="0">
              <a:buNone/>
            </a:pPr>
            <a:r>
              <a:rPr lang="en-US" sz="1200" b="1" kern="0" spc="200" dirty="0">
                <a:solidFill>
                  <a:srgbClr val="B8863B"/>
                </a:solidFill>
                <a:latin typeface="Calibri" pitchFamily="34" charset="0"/>
                <a:ea typeface="Calibri" pitchFamily="34" charset="-122"/>
                <a:cs typeface="Calibri" pitchFamily="34" charset="-120"/>
              </a:rPr>
              <a:t>THỰC NGHIỆM &amp; KẾT QUẢ</a:t>
            </a:r>
            <a:endParaRPr lang="en-US" sz="1200" dirty="0"/>
          </a:p>
        </p:txBody>
      </p:sp>
      <p:sp>
        <p:nvSpPr>
          <p:cNvPr id="3" name="Text 1"/>
          <p:cNvSpPr/>
          <p:nvPr/>
        </p:nvSpPr>
        <p:spPr>
          <a:xfrm>
            <a:off x="548640" y="685800"/>
            <a:ext cx="11064240" cy="822960"/>
          </a:xfrm>
          <a:prstGeom prst="rect">
            <a:avLst/>
          </a:prstGeom>
          <a:noFill/>
          <a:ln/>
        </p:spPr>
        <p:txBody>
          <a:bodyPr wrap="square" rtlCol="0" anchor="ctr"/>
          <a:lstStyle/>
          <a:p>
            <a:pPr marL="0" indent="0" algn="l">
              <a:buNone/>
            </a:pPr>
            <a:r>
              <a:rPr lang="en-US" sz="3200" b="1" dirty="0">
                <a:solidFill>
                  <a:srgbClr val="FFFFFF"/>
                </a:solidFill>
                <a:latin typeface="Cambria" pitchFamily="34" charset="0"/>
                <a:ea typeface="Cambria" pitchFamily="34" charset="-122"/>
                <a:cs typeface="Cambria" pitchFamily="34" charset="-120"/>
              </a:rPr>
              <a:t>RAG so với gọi thẳng LLM: bằng chứng định lượng</a:t>
            </a:r>
            <a:endParaRPr lang="en-US" sz="3200" dirty="0"/>
          </a:p>
        </p:txBody>
      </p:sp>
      <p:sp>
        <p:nvSpPr>
          <p:cNvPr id="4" name="Shape 2"/>
          <p:cNvSpPr/>
          <p:nvPr/>
        </p:nvSpPr>
        <p:spPr>
          <a:xfrm>
            <a:off x="822960" y="2286000"/>
            <a:ext cx="5166360" cy="3566160"/>
          </a:xfrm>
          <a:prstGeom prst="roundRect">
            <a:avLst>
              <a:gd name="adj" fmla="val 2051"/>
            </a:avLst>
          </a:prstGeom>
          <a:solidFill>
            <a:srgbClr val="222E3A"/>
          </a:solidFill>
          <a:ln/>
          <a:effectLst>
            <a:outerShdw blurRad="76200" dist="25400" dir="5400000" algn="bl" rotWithShape="0">
              <a:srgbClr val="000000">
                <a:alpha val="12000"/>
              </a:srgbClr>
            </a:outerShdw>
          </a:effectLst>
        </p:spPr>
      </p:sp>
      <p:sp>
        <p:nvSpPr>
          <p:cNvPr id="5" name="Text 3"/>
          <p:cNvSpPr/>
          <p:nvPr/>
        </p:nvSpPr>
        <p:spPr>
          <a:xfrm>
            <a:off x="1188720" y="2514600"/>
            <a:ext cx="4480560" cy="365760"/>
          </a:xfrm>
          <a:prstGeom prst="rect">
            <a:avLst/>
          </a:prstGeom>
          <a:noFill/>
          <a:ln/>
        </p:spPr>
        <p:txBody>
          <a:bodyPr wrap="square" rtlCol="0" anchor="ctr"/>
          <a:lstStyle/>
          <a:p>
            <a:pPr marL="0" indent="0">
              <a:buNone/>
            </a:pPr>
            <a:r>
              <a:rPr lang="en-US" sz="1300" b="1" kern="0" spc="150" dirty="0">
                <a:solidFill>
                  <a:srgbClr val="2B6E62"/>
                </a:solidFill>
                <a:latin typeface="Calibri" pitchFamily="34" charset="0"/>
                <a:ea typeface="Calibri" pitchFamily="34" charset="-122"/>
                <a:cs typeface="Calibri" pitchFamily="34" charset="-120"/>
              </a:rPr>
              <a:t>FAITHFULNESS</a:t>
            </a:r>
            <a:endParaRPr lang="en-US" sz="1300" dirty="0"/>
          </a:p>
        </p:txBody>
      </p:sp>
      <p:sp>
        <p:nvSpPr>
          <p:cNvPr id="6" name="Text 4"/>
          <p:cNvSpPr/>
          <p:nvPr/>
        </p:nvSpPr>
        <p:spPr>
          <a:xfrm>
            <a:off x="1188720" y="2926080"/>
            <a:ext cx="2011680" cy="1371600"/>
          </a:xfrm>
          <a:prstGeom prst="rect">
            <a:avLst/>
          </a:prstGeom>
          <a:noFill/>
          <a:ln/>
        </p:spPr>
        <p:txBody>
          <a:bodyPr wrap="square" rtlCol="0" anchor="ctr"/>
          <a:lstStyle/>
          <a:p>
            <a:pPr marL="0" indent="0" algn="l">
              <a:buNone/>
            </a:pPr>
            <a:r>
              <a:rPr lang="en-US" sz="5200" b="1" dirty="0">
                <a:solidFill>
                  <a:srgbClr val="8A93A0"/>
                </a:solidFill>
                <a:latin typeface="Cambria" pitchFamily="34" charset="0"/>
                <a:ea typeface="Cambria" pitchFamily="34" charset="-122"/>
                <a:cs typeface="Cambria" pitchFamily="34" charset="-120"/>
              </a:rPr>
              <a:t>0.41</a:t>
            </a:r>
            <a:endParaRPr lang="en-US" sz="5200" dirty="0"/>
          </a:p>
        </p:txBody>
      </p:sp>
      <p:sp>
        <p:nvSpPr>
          <p:cNvPr id="7" name="Shape 5"/>
          <p:cNvSpPr/>
          <p:nvPr/>
        </p:nvSpPr>
        <p:spPr>
          <a:xfrm>
            <a:off x="3154680" y="3429000"/>
            <a:ext cx="502920" cy="365760"/>
          </a:xfrm>
          <a:prstGeom prst="rightArrow">
            <a:avLst/>
          </a:prstGeom>
          <a:solidFill>
            <a:srgbClr val="B8863B"/>
          </a:solidFill>
          <a:ln/>
        </p:spPr>
      </p:sp>
      <p:sp>
        <p:nvSpPr>
          <p:cNvPr id="8" name="Text 6"/>
          <p:cNvSpPr/>
          <p:nvPr/>
        </p:nvSpPr>
        <p:spPr>
          <a:xfrm>
            <a:off x="3749040" y="2926080"/>
            <a:ext cx="1828800" cy="1371600"/>
          </a:xfrm>
          <a:prstGeom prst="rect">
            <a:avLst/>
          </a:prstGeom>
          <a:noFill/>
          <a:ln/>
        </p:spPr>
        <p:txBody>
          <a:bodyPr wrap="square" rtlCol="0" anchor="ctr"/>
          <a:lstStyle/>
          <a:p>
            <a:pPr marL="0" indent="0" algn="l">
              <a:buNone/>
            </a:pPr>
            <a:r>
              <a:rPr lang="en-US" sz="5200" b="1" dirty="0">
                <a:solidFill>
                  <a:srgbClr val="B8863B"/>
                </a:solidFill>
                <a:latin typeface="Cambria" pitchFamily="34" charset="0"/>
                <a:ea typeface="Cambria" pitchFamily="34" charset="-122"/>
                <a:cs typeface="Cambria" pitchFamily="34" charset="-120"/>
              </a:rPr>
              <a:t>0.94</a:t>
            </a:r>
            <a:endParaRPr lang="en-US" sz="5200" dirty="0"/>
          </a:p>
        </p:txBody>
      </p:sp>
      <p:sp>
        <p:nvSpPr>
          <p:cNvPr id="9" name="Text 7"/>
          <p:cNvSpPr/>
          <p:nvPr/>
        </p:nvSpPr>
        <p:spPr>
          <a:xfrm>
            <a:off x="1188720" y="4480560"/>
            <a:ext cx="4480560" cy="365760"/>
          </a:xfrm>
          <a:prstGeom prst="rect">
            <a:avLst/>
          </a:prstGeom>
          <a:noFill/>
          <a:ln/>
        </p:spPr>
        <p:txBody>
          <a:bodyPr wrap="square" rtlCol="0" anchor="ctr"/>
          <a:lstStyle/>
          <a:p>
            <a:pPr marL="0" indent="0">
              <a:buNone/>
            </a:pPr>
            <a:r>
              <a:rPr lang="en-US" sz="1250" dirty="0">
                <a:solidFill>
                  <a:srgbClr val="CFE0DC"/>
                </a:solidFill>
                <a:latin typeface="Calibri" pitchFamily="34" charset="0"/>
                <a:ea typeface="Calibri" pitchFamily="34" charset="-122"/>
                <a:cs typeface="Calibri" pitchFamily="34" charset="-120"/>
              </a:rPr>
              <a:t>LLM-only  →  RAG (bám căn cứ pháp lý)</a:t>
            </a:r>
            <a:endParaRPr lang="en-US" sz="1250" dirty="0"/>
          </a:p>
        </p:txBody>
      </p:sp>
      <p:sp>
        <p:nvSpPr>
          <p:cNvPr id="10" name="Shape 8"/>
          <p:cNvSpPr/>
          <p:nvPr/>
        </p:nvSpPr>
        <p:spPr>
          <a:xfrm>
            <a:off x="6263640" y="2286000"/>
            <a:ext cx="5166360" cy="3566160"/>
          </a:xfrm>
          <a:prstGeom prst="roundRect">
            <a:avLst>
              <a:gd name="adj" fmla="val 2051"/>
            </a:avLst>
          </a:prstGeom>
          <a:solidFill>
            <a:srgbClr val="222E3A"/>
          </a:solidFill>
          <a:ln/>
          <a:effectLst>
            <a:outerShdw blurRad="76200" dist="25400" dir="5400000" algn="bl" rotWithShape="0">
              <a:srgbClr val="000000">
                <a:alpha val="12000"/>
              </a:srgbClr>
            </a:outerShdw>
          </a:effectLst>
        </p:spPr>
      </p:sp>
      <p:sp>
        <p:nvSpPr>
          <p:cNvPr id="11" name="Text 9"/>
          <p:cNvSpPr/>
          <p:nvPr/>
        </p:nvSpPr>
        <p:spPr>
          <a:xfrm>
            <a:off x="6629400" y="2514600"/>
            <a:ext cx="4480560" cy="365760"/>
          </a:xfrm>
          <a:prstGeom prst="rect">
            <a:avLst/>
          </a:prstGeom>
          <a:noFill/>
          <a:ln/>
        </p:spPr>
        <p:txBody>
          <a:bodyPr wrap="square" rtlCol="0" anchor="ctr"/>
          <a:lstStyle/>
          <a:p>
            <a:pPr marL="0" indent="0">
              <a:buNone/>
            </a:pPr>
            <a:r>
              <a:rPr lang="en-US" sz="1300" b="1" kern="0" spc="150" dirty="0">
                <a:solidFill>
                  <a:srgbClr val="2B6E62"/>
                </a:solidFill>
                <a:latin typeface="Calibri" pitchFamily="34" charset="0"/>
                <a:ea typeface="Calibri" pitchFamily="34" charset="-122"/>
                <a:cs typeface="Calibri" pitchFamily="34" charset="-120"/>
              </a:rPr>
              <a:t>COMPLETENESS</a:t>
            </a:r>
            <a:endParaRPr lang="en-US" sz="1300" dirty="0"/>
          </a:p>
        </p:txBody>
      </p:sp>
      <p:sp>
        <p:nvSpPr>
          <p:cNvPr id="12" name="Text 10"/>
          <p:cNvSpPr/>
          <p:nvPr/>
        </p:nvSpPr>
        <p:spPr>
          <a:xfrm>
            <a:off x="6629400" y="2926080"/>
            <a:ext cx="2011680" cy="1371600"/>
          </a:xfrm>
          <a:prstGeom prst="rect">
            <a:avLst/>
          </a:prstGeom>
          <a:noFill/>
          <a:ln/>
        </p:spPr>
        <p:txBody>
          <a:bodyPr wrap="square" rtlCol="0" anchor="ctr"/>
          <a:lstStyle/>
          <a:p>
            <a:pPr marL="0" indent="0" algn="l">
              <a:buNone/>
            </a:pPr>
            <a:r>
              <a:rPr lang="en-US" sz="5200" b="1" dirty="0">
                <a:solidFill>
                  <a:srgbClr val="8A93A0"/>
                </a:solidFill>
                <a:latin typeface="Cambria" pitchFamily="34" charset="0"/>
                <a:ea typeface="Cambria" pitchFamily="34" charset="-122"/>
                <a:cs typeface="Cambria" pitchFamily="34" charset="-120"/>
              </a:rPr>
              <a:t>0.44</a:t>
            </a:r>
            <a:endParaRPr lang="en-US" sz="5200" dirty="0"/>
          </a:p>
        </p:txBody>
      </p:sp>
      <p:sp>
        <p:nvSpPr>
          <p:cNvPr id="13" name="Shape 11"/>
          <p:cNvSpPr/>
          <p:nvPr/>
        </p:nvSpPr>
        <p:spPr>
          <a:xfrm>
            <a:off x="8595360" y="3429000"/>
            <a:ext cx="502920" cy="365760"/>
          </a:xfrm>
          <a:prstGeom prst="rightArrow">
            <a:avLst/>
          </a:prstGeom>
          <a:solidFill>
            <a:srgbClr val="B8863B"/>
          </a:solidFill>
          <a:ln/>
        </p:spPr>
      </p:sp>
      <p:sp>
        <p:nvSpPr>
          <p:cNvPr id="14" name="Text 12"/>
          <p:cNvSpPr/>
          <p:nvPr/>
        </p:nvSpPr>
        <p:spPr>
          <a:xfrm>
            <a:off x="9189720" y="2926080"/>
            <a:ext cx="1828800" cy="1371600"/>
          </a:xfrm>
          <a:prstGeom prst="rect">
            <a:avLst/>
          </a:prstGeom>
          <a:noFill/>
          <a:ln/>
        </p:spPr>
        <p:txBody>
          <a:bodyPr wrap="square" rtlCol="0" anchor="ctr"/>
          <a:lstStyle/>
          <a:p>
            <a:pPr marL="0" indent="0" algn="l">
              <a:buNone/>
            </a:pPr>
            <a:r>
              <a:rPr lang="en-US" sz="5200" b="1" dirty="0">
                <a:solidFill>
                  <a:srgbClr val="B8863B"/>
                </a:solidFill>
                <a:latin typeface="Cambria" pitchFamily="34" charset="0"/>
                <a:ea typeface="Cambria" pitchFamily="34" charset="-122"/>
                <a:cs typeface="Cambria" pitchFamily="34" charset="-120"/>
              </a:rPr>
              <a:t>0.87</a:t>
            </a:r>
            <a:endParaRPr lang="en-US" sz="5200" dirty="0"/>
          </a:p>
        </p:txBody>
      </p:sp>
      <p:sp>
        <p:nvSpPr>
          <p:cNvPr id="15" name="Text 13"/>
          <p:cNvSpPr/>
          <p:nvPr/>
        </p:nvSpPr>
        <p:spPr>
          <a:xfrm>
            <a:off x="6629400" y="4480560"/>
            <a:ext cx="4480560" cy="365760"/>
          </a:xfrm>
          <a:prstGeom prst="rect">
            <a:avLst/>
          </a:prstGeom>
          <a:noFill/>
          <a:ln/>
        </p:spPr>
        <p:txBody>
          <a:bodyPr wrap="square" rtlCol="0" anchor="ctr"/>
          <a:lstStyle/>
          <a:p>
            <a:pPr marL="0" indent="0">
              <a:buNone/>
            </a:pPr>
            <a:r>
              <a:rPr lang="en-US" sz="1250" dirty="0">
                <a:solidFill>
                  <a:srgbClr val="CFE0DC"/>
                </a:solidFill>
                <a:latin typeface="Calibri" pitchFamily="34" charset="0"/>
                <a:ea typeface="Calibri" pitchFamily="34" charset="-122"/>
                <a:cs typeface="Calibri" pitchFamily="34" charset="-120"/>
              </a:rPr>
              <a:t>LLM-only  →  RAG (đầy đủ nội dung yêu cầu)</a:t>
            </a:r>
            <a:endParaRPr lang="en-US" sz="1250" dirty="0"/>
          </a:p>
        </p:txBody>
      </p:sp>
      <p:sp>
        <p:nvSpPr>
          <p:cNvPr id="16" name="Text 14"/>
          <p:cNvSpPr/>
          <p:nvPr/>
        </p:nvSpPr>
        <p:spPr>
          <a:xfrm>
            <a:off x="822960" y="6126480"/>
            <a:ext cx="10515600" cy="457200"/>
          </a:xfrm>
          <a:prstGeom prst="rect">
            <a:avLst/>
          </a:prstGeom>
          <a:noFill/>
          <a:ln/>
        </p:spPr>
        <p:txBody>
          <a:bodyPr wrap="square" rtlCol="0" anchor="ctr"/>
          <a:lstStyle/>
          <a:p>
            <a:pPr marL="0" indent="0">
              <a:buNone/>
            </a:pPr>
            <a:r>
              <a:rPr lang="en-US" sz="1150" i="1" dirty="0">
                <a:solidFill>
                  <a:srgbClr val="9FB0AB"/>
                </a:solidFill>
                <a:latin typeface="Calibri" pitchFamily="34" charset="0"/>
                <a:ea typeface="Calibri" pitchFamily="34" charset="-122"/>
                <a:cs typeface="Calibri" pitchFamily="34" charset="-120"/>
              </a:rPr>
              <a:t>Đo bằng LLM-as-judge trên 8 câu hỏi soạn mục HSMT thật (n=8 — bằng chứng định hướng, chưa phải kết luận thống kê chặt).</a:t>
            </a:r>
            <a:endParaRPr lang="en-US" sz="1150" dirty="0"/>
          </a:p>
        </p:txBody>
      </p:sp>
      <p:sp>
        <p:nvSpPr>
          <p:cNvPr id="17" name="Text 15"/>
          <p:cNvSpPr/>
          <p:nvPr/>
        </p:nvSpPr>
        <p:spPr>
          <a:xfrm>
            <a:off x="11548872" y="6400800"/>
            <a:ext cx="365760" cy="274320"/>
          </a:xfrm>
          <a:prstGeom prst="rect">
            <a:avLst/>
          </a:prstGeom>
          <a:noFill/>
          <a:ln/>
        </p:spPr>
        <p:txBody>
          <a:bodyPr wrap="square" rtlCol="0" anchor="ctr"/>
          <a:lstStyle/>
          <a:p>
            <a:pPr marL="0" indent="0" algn="r">
              <a:buNone/>
            </a:pPr>
            <a:r>
              <a:rPr lang="en-US" sz="1000" dirty="0">
                <a:solidFill>
                  <a:srgbClr val="5B6672"/>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2F0E9"/>
        </a:solidFill>
        <a:effectLst/>
      </p:bgPr>
    </p:bg>
    <p:spTree>
      <p:nvGrpSpPr>
        <p:cNvPr id="1" name=""/>
        <p:cNvGrpSpPr/>
        <p:nvPr/>
      </p:nvGrpSpPr>
      <p:grpSpPr>
        <a:xfrm>
          <a:off x="0" y="0"/>
          <a:ext cx="0" cy="0"/>
          <a:chOff x="0" y="0"/>
          <a:chExt cx="0" cy="0"/>
        </a:xfrm>
      </p:grpSpPr>
      <p:sp>
        <p:nvSpPr>
          <p:cNvPr id="2" name="Text 0"/>
          <p:cNvSpPr/>
          <p:nvPr/>
        </p:nvSpPr>
        <p:spPr>
          <a:xfrm>
            <a:off x="548640" y="365760"/>
            <a:ext cx="7315200" cy="365760"/>
          </a:xfrm>
          <a:prstGeom prst="rect">
            <a:avLst/>
          </a:prstGeom>
          <a:noFill/>
          <a:ln/>
        </p:spPr>
        <p:txBody>
          <a:bodyPr wrap="square" rtlCol="0" anchor="ctr"/>
          <a:lstStyle/>
          <a:p>
            <a:pPr marL="0" indent="0">
              <a:buNone/>
            </a:pPr>
            <a:r>
              <a:rPr lang="en-US" sz="1200" b="1" kern="0" spc="200" dirty="0">
                <a:solidFill>
                  <a:srgbClr val="2B6E62"/>
                </a:solidFill>
                <a:latin typeface="Calibri" pitchFamily="34" charset="0"/>
                <a:ea typeface="Calibri" pitchFamily="34" charset="-122"/>
                <a:cs typeface="Calibri" pitchFamily="34" charset="-120"/>
              </a:rPr>
              <a:t>THỰC NGHIỆM &amp; KẾT QUẢ</a:t>
            </a:r>
            <a:endParaRPr lang="en-US" sz="1200" dirty="0"/>
          </a:p>
        </p:txBody>
      </p:sp>
      <p:sp>
        <p:nvSpPr>
          <p:cNvPr id="3" name="Text 1"/>
          <p:cNvSpPr/>
          <p:nvPr/>
        </p:nvSpPr>
        <p:spPr>
          <a:xfrm>
            <a:off x="548640" y="685800"/>
            <a:ext cx="11064240" cy="822960"/>
          </a:xfrm>
          <a:prstGeom prst="rect">
            <a:avLst/>
          </a:prstGeom>
          <a:noFill/>
          <a:ln/>
        </p:spPr>
        <p:txBody>
          <a:bodyPr wrap="square" rtlCol="0" anchor="ctr"/>
          <a:lstStyle/>
          <a:p>
            <a:pPr marL="0" indent="0" algn="l">
              <a:buNone/>
            </a:pPr>
            <a:r>
              <a:rPr lang="en-US" sz="3200" b="1" dirty="0">
                <a:solidFill>
                  <a:srgbClr val="17212B"/>
                </a:solidFill>
                <a:latin typeface="Cambria" pitchFamily="34" charset="0"/>
                <a:ea typeface="Cambria" pitchFamily="34" charset="-122"/>
                <a:cs typeface="Cambria" pitchFamily="34" charset="-120"/>
              </a:rPr>
              <a:t>Đối chiếu 5 nâng cấp với báo cáo RAG tham khảo: đo thật, không suy đoán</a:t>
            </a:r>
            <a:endParaRPr lang="en-US" sz="3200" dirty="0"/>
          </a:p>
        </p:txBody>
      </p:sp>
      <p:sp>
        <p:nvSpPr>
          <p:cNvPr id="4" name="Text 2"/>
          <p:cNvSpPr/>
          <p:nvPr/>
        </p:nvSpPr>
        <p:spPr>
          <a:xfrm>
            <a:off x="548640" y="1508760"/>
            <a:ext cx="11064240" cy="365760"/>
          </a:xfrm>
          <a:prstGeom prst="rect">
            <a:avLst/>
          </a:prstGeom>
          <a:noFill/>
          <a:ln/>
        </p:spPr>
        <p:txBody>
          <a:bodyPr wrap="square" rtlCol="0" anchor="ctr"/>
          <a:lstStyle/>
          <a:p>
            <a:pPr marL="0" indent="0">
              <a:buNone/>
            </a:pPr>
            <a:r>
              <a:rPr lang="en-US" sz="1250" i="1" dirty="0">
                <a:solidFill>
                  <a:srgbClr val="5B6672"/>
                </a:solidFill>
                <a:latin typeface="Calibri" pitchFamily="34" charset="0"/>
                <a:ea typeface="Calibri" pitchFamily="34" charset="-122"/>
                <a:cs typeface="Calibri" pitchFamily="34" charset="-120"/>
              </a:rPr>
              <a:t>Một tài liệu tham khảo bên ngoài trích dẫn sai số hiệu Thông tư và số liệu RAGAS không kiểm chứng được — nhóm chỉ áp dụng ý tưởng sau khi đo thật trên hệ thống này.</a:t>
            </a:r>
            <a:endParaRPr lang="en-US" sz="1250" dirty="0"/>
          </a:p>
        </p:txBody>
      </p:sp>
      <p:sp>
        <p:nvSpPr>
          <p:cNvPr id="5" name="Shape 3"/>
          <p:cNvSpPr/>
          <p:nvPr/>
        </p:nvSpPr>
        <p:spPr>
          <a:xfrm>
            <a:off x="548640" y="2103120"/>
            <a:ext cx="11064240" cy="749808"/>
          </a:xfrm>
          <a:prstGeom prst="roundRect">
            <a:avLst>
              <a:gd name="adj" fmla="val 7317"/>
            </a:avLst>
          </a:prstGeom>
          <a:solidFill>
            <a:srgbClr val="FFFFFF"/>
          </a:solidFill>
          <a:ln/>
        </p:spPr>
      </p:sp>
      <p:sp>
        <p:nvSpPr>
          <p:cNvPr id="6" name="Shape 4"/>
          <p:cNvSpPr/>
          <p:nvPr/>
        </p:nvSpPr>
        <p:spPr>
          <a:xfrm>
            <a:off x="777240" y="2249424"/>
            <a:ext cx="457200" cy="457200"/>
          </a:xfrm>
          <a:prstGeom prst="ellipse">
            <a:avLst/>
          </a:prstGeom>
          <a:solidFill>
            <a:srgbClr val="2B6E62"/>
          </a:solidFill>
          <a:ln/>
        </p:spPr>
      </p:sp>
      <p:sp>
        <p:nvSpPr>
          <p:cNvPr id="7" name="Text 5"/>
          <p:cNvSpPr/>
          <p:nvPr/>
        </p:nvSpPr>
        <p:spPr>
          <a:xfrm>
            <a:off x="777240" y="2249424"/>
            <a:ext cx="457200" cy="457200"/>
          </a:xfrm>
          <a:prstGeom prst="rect">
            <a:avLst/>
          </a:prstGeom>
          <a:noFill/>
          <a:ln/>
        </p:spPr>
        <p:txBody>
          <a:bodyPr wrap="square"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a:t>
            </a:r>
            <a:endParaRPr lang="en-US" sz="1800" dirty="0"/>
          </a:p>
        </p:txBody>
      </p:sp>
      <p:sp>
        <p:nvSpPr>
          <p:cNvPr id="8" name="Text 6"/>
          <p:cNvSpPr/>
          <p:nvPr/>
        </p:nvSpPr>
        <p:spPr>
          <a:xfrm>
            <a:off x="1417320" y="2103120"/>
            <a:ext cx="4663440" cy="749808"/>
          </a:xfrm>
          <a:prstGeom prst="rect">
            <a:avLst/>
          </a:prstGeom>
          <a:noFill/>
          <a:ln/>
        </p:spPr>
        <p:txBody>
          <a:bodyPr wrap="square" rtlCol="0" anchor="ctr"/>
          <a:lstStyle/>
          <a:p>
            <a:pPr marL="0" indent="0">
              <a:lnSpc>
                <a:spcPts val="1500"/>
              </a:lnSpc>
              <a:buNone/>
            </a:pPr>
            <a:r>
              <a:rPr lang="en-US" sz="1250" b="1" dirty="0">
                <a:solidFill>
                  <a:srgbClr val="17212B"/>
                </a:solidFill>
                <a:latin typeface="Calibri" pitchFamily="34" charset="0"/>
                <a:ea typeface="Calibri" pitchFamily="34" charset="-122"/>
                <a:cs typeface="Calibri" pitchFamily="34" charset="-120"/>
              </a:rPr>
              <a:t>Chặn tiêu chí hạn chế cạnh tranh ngay từ prompt</a:t>
            </a:r>
            <a:endParaRPr lang="en-US" sz="1250" dirty="0"/>
          </a:p>
        </p:txBody>
      </p:sp>
      <p:sp>
        <p:nvSpPr>
          <p:cNvPr id="9" name="Text 7"/>
          <p:cNvSpPr/>
          <p:nvPr/>
        </p:nvSpPr>
        <p:spPr>
          <a:xfrm>
            <a:off x="6172200" y="2103120"/>
            <a:ext cx="2148840" cy="749808"/>
          </a:xfrm>
          <a:prstGeom prst="rect">
            <a:avLst/>
          </a:prstGeom>
          <a:noFill/>
          <a:ln/>
        </p:spPr>
        <p:txBody>
          <a:bodyPr wrap="square" rtlCol="0" anchor="ctr"/>
          <a:lstStyle/>
          <a:p>
            <a:pPr marL="0" indent="0">
              <a:buNone/>
            </a:pPr>
            <a:r>
              <a:rPr lang="en-US" sz="1100" b="1" kern="0" spc="50" dirty="0">
                <a:solidFill>
                  <a:srgbClr val="2B6E62"/>
                </a:solidFill>
                <a:latin typeface="Calibri" pitchFamily="34" charset="0"/>
                <a:ea typeface="Calibri" pitchFamily="34" charset="-122"/>
                <a:cs typeface="Calibri" pitchFamily="34" charset="-120"/>
              </a:rPr>
              <a:t>BậT</a:t>
            </a:r>
            <a:endParaRPr lang="en-US" sz="1100" dirty="0"/>
          </a:p>
        </p:txBody>
      </p:sp>
      <p:sp>
        <p:nvSpPr>
          <p:cNvPr id="10" name="Text 8"/>
          <p:cNvSpPr/>
          <p:nvPr/>
        </p:nvSpPr>
        <p:spPr>
          <a:xfrm>
            <a:off x="8412480" y="2103120"/>
            <a:ext cx="3017520" cy="749808"/>
          </a:xfrm>
          <a:prstGeom prst="rect">
            <a:avLst/>
          </a:prstGeom>
          <a:noFill/>
          <a:ln/>
        </p:spPr>
        <p:txBody>
          <a:bodyPr wrap="square" rtlCol="0" anchor="ctr"/>
          <a:lstStyle/>
          <a:p>
            <a:pPr marL="0" indent="0">
              <a:lnSpc>
                <a:spcPts val="1400"/>
              </a:lnSpc>
              <a:buNone/>
            </a:pPr>
            <a:r>
              <a:rPr lang="en-US" sz="1100" dirty="0">
                <a:solidFill>
                  <a:srgbClr val="5B6672"/>
                </a:solidFill>
                <a:latin typeface="Calibri" pitchFamily="34" charset="0"/>
                <a:ea typeface="Calibri" pitchFamily="34" charset="-122"/>
                <a:cs typeface="Calibri" pitchFamily="34" charset="-120"/>
              </a:rPr>
              <a:t>Phòng thủ 2 lớp cùng M6</a:t>
            </a:r>
            <a:endParaRPr lang="en-US" sz="1100" dirty="0"/>
          </a:p>
        </p:txBody>
      </p:sp>
      <p:sp>
        <p:nvSpPr>
          <p:cNvPr id="11" name="Shape 9"/>
          <p:cNvSpPr/>
          <p:nvPr/>
        </p:nvSpPr>
        <p:spPr>
          <a:xfrm>
            <a:off x="548640" y="2944368"/>
            <a:ext cx="11064240" cy="749808"/>
          </a:xfrm>
          <a:prstGeom prst="roundRect">
            <a:avLst>
              <a:gd name="adj" fmla="val 7317"/>
            </a:avLst>
          </a:prstGeom>
          <a:solidFill>
            <a:srgbClr val="FFFFFF"/>
          </a:solidFill>
          <a:ln/>
        </p:spPr>
      </p:sp>
      <p:sp>
        <p:nvSpPr>
          <p:cNvPr id="12" name="Shape 10"/>
          <p:cNvSpPr/>
          <p:nvPr/>
        </p:nvSpPr>
        <p:spPr>
          <a:xfrm>
            <a:off x="777240" y="3090672"/>
            <a:ext cx="457200" cy="457200"/>
          </a:xfrm>
          <a:prstGeom prst="ellipse">
            <a:avLst/>
          </a:prstGeom>
          <a:solidFill>
            <a:srgbClr val="2B6E62"/>
          </a:solidFill>
          <a:ln/>
        </p:spPr>
      </p:sp>
      <p:sp>
        <p:nvSpPr>
          <p:cNvPr id="13" name="Text 11"/>
          <p:cNvSpPr/>
          <p:nvPr/>
        </p:nvSpPr>
        <p:spPr>
          <a:xfrm>
            <a:off x="777240" y="3090672"/>
            <a:ext cx="457200" cy="457200"/>
          </a:xfrm>
          <a:prstGeom prst="rect">
            <a:avLst/>
          </a:prstGeom>
          <a:noFill/>
          <a:ln/>
        </p:spPr>
        <p:txBody>
          <a:bodyPr wrap="square"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a:t>
            </a:r>
            <a:endParaRPr lang="en-US" sz="1800" dirty="0"/>
          </a:p>
        </p:txBody>
      </p:sp>
      <p:sp>
        <p:nvSpPr>
          <p:cNvPr id="14" name="Text 12"/>
          <p:cNvSpPr/>
          <p:nvPr/>
        </p:nvSpPr>
        <p:spPr>
          <a:xfrm>
            <a:off x="1417320" y="2944368"/>
            <a:ext cx="4663440" cy="749808"/>
          </a:xfrm>
          <a:prstGeom prst="rect">
            <a:avLst/>
          </a:prstGeom>
          <a:noFill/>
          <a:ln/>
        </p:spPr>
        <p:txBody>
          <a:bodyPr wrap="square" rtlCol="0" anchor="ctr"/>
          <a:lstStyle/>
          <a:p>
            <a:pPr marL="0" indent="0">
              <a:lnSpc>
                <a:spcPts val="1500"/>
              </a:lnSpc>
              <a:buNone/>
            </a:pPr>
            <a:r>
              <a:rPr lang="en-US" sz="1250" b="1" dirty="0">
                <a:solidFill>
                  <a:srgbClr val="17212B"/>
                </a:solidFill>
                <a:latin typeface="Calibri" pitchFamily="34" charset="0"/>
                <a:ea typeface="Calibri" pitchFamily="34" charset="-122"/>
                <a:cs typeface="Calibri" pitchFamily="34" charset="-120"/>
              </a:rPr>
              <a:t>Gửi trọn Điều (parent) thay vì Khoản (child)</a:t>
            </a:r>
            <a:endParaRPr lang="en-US" sz="1250" dirty="0"/>
          </a:p>
        </p:txBody>
      </p:sp>
      <p:sp>
        <p:nvSpPr>
          <p:cNvPr id="15" name="Text 13"/>
          <p:cNvSpPr/>
          <p:nvPr/>
        </p:nvSpPr>
        <p:spPr>
          <a:xfrm>
            <a:off x="6172200" y="2944368"/>
            <a:ext cx="2148840" cy="749808"/>
          </a:xfrm>
          <a:prstGeom prst="rect">
            <a:avLst/>
          </a:prstGeom>
          <a:noFill/>
          <a:ln/>
        </p:spPr>
        <p:txBody>
          <a:bodyPr wrap="square" rtlCol="0" anchor="ctr"/>
          <a:lstStyle/>
          <a:p>
            <a:pPr marL="0" indent="0">
              <a:buNone/>
            </a:pPr>
            <a:r>
              <a:rPr lang="en-US" sz="1100" b="1" kern="0" spc="50" dirty="0">
                <a:solidFill>
                  <a:srgbClr val="2B6E62"/>
                </a:solidFill>
                <a:latin typeface="Calibri" pitchFamily="34" charset="0"/>
                <a:ea typeface="Calibri" pitchFamily="34" charset="-122"/>
                <a:cs typeface="Calibri" pitchFamily="34" charset="-120"/>
              </a:rPr>
              <a:t>BậT</a:t>
            </a:r>
            <a:endParaRPr lang="en-US" sz="1100" dirty="0"/>
          </a:p>
        </p:txBody>
      </p:sp>
      <p:sp>
        <p:nvSpPr>
          <p:cNvPr id="16" name="Text 14"/>
          <p:cNvSpPr/>
          <p:nvPr/>
        </p:nvSpPr>
        <p:spPr>
          <a:xfrm>
            <a:off x="8412480" y="2944368"/>
            <a:ext cx="3017520" cy="749808"/>
          </a:xfrm>
          <a:prstGeom prst="rect">
            <a:avLst/>
          </a:prstGeom>
          <a:noFill/>
          <a:ln/>
        </p:spPr>
        <p:txBody>
          <a:bodyPr wrap="square" rtlCol="0" anchor="ctr"/>
          <a:lstStyle/>
          <a:p>
            <a:pPr marL="0" indent="0">
              <a:lnSpc>
                <a:spcPts val="1400"/>
              </a:lnSpc>
              <a:buNone/>
            </a:pPr>
            <a:r>
              <a:rPr lang="en-US" sz="1100" dirty="0">
                <a:solidFill>
                  <a:srgbClr val="5B6672"/>
                </a:solidFill>
                <a:latin typeface="Calibri" pitchFamily="34" charset="0"/>
                <a:ea typeface="Calibri" pitchFamily="34" charset="-122"/>
                <a:cs typeface="Calibri" pitchFamily="34" charset="-120"/>
              </a:rPr>
              <a:t>Áp dụng 487/684 chunk</a:t>
            </a:r>
            <a:endParaRPr lang="en-US" sz="1100" dirty="0"/>
          </a:p>
        </p:txBody>
      </p:sp>
      <p:sp>
        <p:nvSpPr>
          <p:cNvPr id="17" name="Shape 15"/>
          <p:cNvSpPr/>
          <p:nvPr/>
        </p:nvSpPr>
        <p:spPr>
          <a:xfrm>
            <a:off x="548640" y="3785616"/>
            <a:ext cx="11064240" cy="749808"/>
          </a:xfrm>
          <a:prstGeom prst="roundRect">
            <a:avLst>
              <a:gd name="adj" fmla="val 7317"/>
            </a:avLst>
          </a:prstGeom>
          <a:solidFill>
            <a:srgbClr val="FFFFFF"/>
          </a:solidFill>
          <a:ln/>
        </p:spPr>
      </p:sp>
      <p:sp>
        <p:nvSpPr>
          <p:cNvPr id="18" name="Shape 16"/>
          <p:cNvSpPr/>
          <p:nvPr/>
        </p:nvSpPr>
        <p:spPr>
          <a:xfrm>
            <a:off x="777240" y="3931920"/>
            <a:ext cx="457200" cy="457200"/>
          </a:xfrm>
          <a:prstGeom prst="ellipse">
            <a:avLst/>
          </a:prstGeom>
          <a:solidFill>
            <a:srgbClr val="B8863B"/>
          </a:solidFill>
          <a:ln/>
        </p:spPr>
      </p:sp>
      <p:sp>
        <p:nvSpPr>
          <p:cNvPr id="19" name="Text 17"/>
          <p:cNvSpPr/>
          <p:nvPr/>
        </p:nvSpPr>
        <p:spPr>
          <a:xfrm>
            <a:off x="777240" y="3931920"/>
            <a:ext cx="457200" cy="457200"/>
          </a:xfrm>
          <a:prstGeom prst="rect">
            <a:avLst/>
          </a:prstGeom>
          <a:noFill/>
          <a:ln/>
        </p:spPr>
        <p:txBody>
          <a:bodyPr wrap="square"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a:t>
            </a:r>
            <a:endParaRPr lang="en-US" sz="1800" dirty="0"/>
          </a:p>
        </p:txBody>
      </p:sp>
      <p:sp>
        <p:nvSpPr>
          <p:cNvPr id="20" name="Text 18"/>
          <p:cNvSpPr/>
          <p:nvPr/>
        </p:nvSpPr>
        <p:spPr>
          <a:xfrm>
            <a:off x="1417320" y="3785616"/>
            <a:ext cx="4663440" cy="749808"/>
          </a:xfrm>
          <a:prstGeom prst="rect">
            <a:avLst/>
          </a:prstGeom>
          <a:noFill/>
          <a:ln/>
        </p:spPr>
        <p:txBody>
          <a:bodyPr wrap="square" rtlCol="0" anchor="ctr"/>
          <a:lstStyle/>
          <a:p>
            <a:pPr marL="0" indent="0">
              <a:lnSpc>
                <a:spcPts val="1500"/>
              </a:lnSpc>
              <a:buNone/>
            </a:pPr>
            <a:r>
              <a:rPr lang="en-US" sz="1250" b="1" dirty="0">
                <a:solidFill>
                  <a:srgbClr val="17212B"/>
                </a:solidFill>
                <a:latin typeface="Calibri" pitchFamily="34" charset="0"/>
                <a:ea typeface="Calibri" pitchFamily="34" charset="-122"/>
                <a:cs typeface="Calibri" pitchFamily="34" charset="-120"/>
              </a:rPr>
              <a:t>Query rewriting (HyDE-lite, Claude Haiku)</a:t>
            </a:r>
            <a:endParaRPr lang="en-US" sz="1250" dirty="0"/>
          </a:p>
        </p:txBody>
      </p:sp>
      <p:sp>
        <p:nvSpPr>
          <p:cNvPr id="21" name="Text 19"/>
          <p:cNvSpPr/>
          <p:nvPr/>
        </p:nvSpPr>
        <p:spPr>
          <a:xfrm>
            <a:off x="6172200" y="3785616"/>
            <a:ext cx="2148840" cy="749808"/>
          </a:xfrm>
          <a:prstGeom prst="rect">
            <a:avLst/>
          </a:prstGeom>
          <a:noFill/>
          <a:ln/>
        </p:spPr>
        <p:txBody>
          <a:bodyPr wrap="square" rtlCol="0" anchor="ctr"/>
          <a:lstStyle/>
          <a:p>
            <a:pPr marL="0" indent="0">
              <a:buNone/>
            </a:pPr>
            <a:r>
              <a:rPr lang="en-US" sz="1100" b="1" kern="0" spc="50" dirty="0">
                <a:solidFill>
                  <a:srgbClr val="B8863B"/>
                </a:solidFill>
                <a:latin typeface="Calibri" pitchFamily="34" charset="0"/>
                <a:ea typeface="Calibri" pitchFamily="34" charset="-122"/>
                <a:cs typeface="Calibri" pitchFamily="34" charset="-120"/>
              </a:rPr>
              <a:t>TẮT MẶC ĐỊNH</a:t>
            </a:r>
            <a:endParaRPr lang="en-US" sz="1100" dirty="0"/>
          </a:p>
        </p:txBody>
      </p:sp>
      <p:sp>
        <p:nvSpPr>
          <p:cNvPr id="22" name="Text 20"/>
          <p:cNvSpPr/>
          <p:nvPr/>
        </p:nvSpPr>
        <p:spPr>
          <a:xfrm>
            <a:off x="8412480" y="3785616"/>
            <a:ext cx="3017520" cy="749808"/>
          </a:xfrm>
          <a:prstGeom prst="rect">
            <a:avLst/>
          </a:prstGeom>
          <a:noFill/>
          <a:ln/>
        </p:spPr>
        <p:txBody>
          <a:bodyPr wrap="square" rtlCol="0" anchor="ctr"/>
          <a:lstStyle/>
          <a:p>
            <a:pPr marL="0" indent="0">
              <a:lnSpc>
                <a:spcPts val="1400"/>
              </a:lnSpc>
              <a:buNone/>
            </a:pPr>
            <a:r>
              <a:rPr lang="en-US" sz="1100" dirty="0">
                <a:solidFill>
                  <a:srgbClr val="5B6672"/>
                </a:solidFill>
                <a:latin typeface="Calibri" pitchFamily="34" charset="0"/>
                <a:ea typeface="Calibri" pitchFamily="34" charset="-122"/>
                <a:cs typeface="Calibri" pitchFamily="34" charset="-120"/>
              </a:rPr>
              <a:t>Hại: nDCG@5 0.627 → 0.511</a:t>
            </a:r>
            <a:endParaRPr lang="en-US" sz="1100" dirty="0"/>
          </a:p>
        </p:txBody>
      </p:sp>
      <p:sp>
        <p:nvSpPr>
          <p:cNvPr id="23" name="Shape 21"/>
          <p:cNvSpPr/>
          <p:nvPr/>
        </p:nvSpPr>
        <p:spPr>
          <a:xfrm>
            <a:off x="548640" y="4626864"/>
            <a:ext cx="11064240" cy="749808"/>
          </a:xfrm>
          <a:prstGeom prst="roundRect">
            <a:avLst>
              <a:gd name="adj" fmla="val 7317"/>
            </a:avLst>
          </a:prstGeom>
          <a:solidFill>
            <a:srgbClr val="FFFFFF"/>
          </a:solidFill>
          <a:ln/>
        </p:spPr>
      </p:sp>
      <p:sp>
        <p:nvSpPr>
          <p:cNvPr id="24" name="Shape 22"/>
          <p:cNvSpPr/>
          <p:nvPr/>
        </p:nvSpPr>
        <p:spPr>
          <a:xfrm>
            <a:off x="777240" y="4773168"/>
            <a:ext cx="457200" cy="457200"/>
          </a:xfrm>
          <a:prstGeom prst="ellipse">
            <a:avLst/>
          </a:prstGeom>
          <a:solidFill>
            <a:srgbClr val="B8863B"/>
          </a:solidFill>
          <a:ln/>
        </p:spPr>
      </p:sp>
      <p:sp>
        <p:nvSpPr>
          <p:cNvPr id="25" name="Text 23"/>
          <p:cNvSpPr/>
          <p:nvPr/>
        </p:nvSpPr>
        <p:spPr>
          <a:xfrm>
            <a:off x="777240" y="4773168"/>
            <a:ext cx="457200" cy="457200"/>
          </a:xfrm>
          <a:prstGeom prst="rect">
            <a:avLst/>
          </a:prstGeom>
          <a:noFill/>
          <a:ln/>
        </p:spPr>
        <p:txBody>
          <a:bodyPr wrap="square"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a:t>
            </a:r>
            <a:endParaRPr lang="en-US" sz="1800" dirty="0"/>
          </a:p>
        </p:txBody>
      </p:sp>
      <p:sp>
        <p:nvSpPr>
          <p:cNvPr id="26" name="Text 24"/>
          <p:cNvSpPr/>
          <p:nvPr/>
        </p:nvSpPr>
        <p:spPr>
          <a:xfrm>
            <a:off x="1417320" y="4626864"/>
            <a:ext cx="4663440" cy="749808"/>
          </a:xfrm>
          <a:prstGeom prst="rect">
            <a:avLst/>
          </a:prstGeom>
          <a:noFill/>
          <a:ln/>
        </p:spPr>
        <p:txBody>
          <a:bodyPr wrap="square" rtlCol="0" anchor="ctr"/>
          <a:lstStyle/>
          <a:p>
            <a:pPr marL="0" indent="0">
              <a:lnSpc>
                <a:spcPts val="1500"/>
              </a:lnSpc>
              <a:buNone/>
            </a:pPr>
            <a:r>
              <a:rPr lang="en-US" sz="1250" b="1" dirty="0">
                <a:solidFill>
                  <a:srgbClr val="17212B"/>
                </a:solidFill>
                <a:latin typeface="Calibri" pitchFamily="34" charset="0"/>
                <a:ea typeface="Calibri" pitchFamily="34" charset="-122"/>
                <a:cs typeface="Calibri" pitchFamily="34" charset="-120"/>
              </a:rPr>
              <a:t>Metadata filtering theo law_id</a:t>
            </a:r>
            <a:endParaRPr lang="en-US" sz="1250" dirty="0"/>
          </a:p>
        </p:txBody>
      </p:sp>
      <p:sp>
        <p:nvSpPr>
          <p:cNvPr id="27" name="Text 25"/>
          <p:cNvSpPr/>
          <p:nvPr/>
        </p:nvSpPr>
        <p:spPr>
          <a:xfrm>
            <a:off x="6172200" y="4626864"/>
            <a:ext cx="2148840" cy="749808"/>
          </a:xfrm>
          <a:prstGeom prst="rect">
            <a:avLst/>
          </a:prstGeom>
          <a:noFill/>
          <a:ln/>
        </p:spPr>
        <p:txBody>
          <a:bodyPr wrap="square" rtlCol="0" anchor="ctr"/>
          <a:lstStyle/>
          <a:p>
            <a:pPr marL="0" indent="0">
              <a:buNone/>
            </a:pPr>
            <a:r>
              <a:rPr lang="en-US" sz="1100" b="1" kern="0" spc="50" dirty="0">
                <a:solidFill>
                  <a:srgbClr val="B8863B"/>
                </a:solidFill>
                <a:latin typeface="Calibri" pitchFamily="34" charset="0"/>
                <a:ea typeface="Calibri" pitchFamily="34" charset="-122"/>
                <a:cs typeface="Calibri" pitchFamily="34" charset="-120"/>
              </a:rPr>
              <a:t>TẮT MẶC ĐỊNH</a:t>
            </a:r>
            <a:endParaRPr lang="en-US" sz="1100" dirty="0"/>
          </a:p>
        </p:txBody>
      </p:sp>
      <p:sp>
        <p:nvSpPr>
          <p:cNvPr id="28" name="Text 26"/>
          <p:cNvSpPr/>
          <p:nvPr/>
        </p:nvSpPr>
        <p:spPr>
          <a:xfrm>
            <a:off x="8412480" y="4626864"/>
            <a:ext cx="3017520" cy="749808"/>
          </a:xfrm>
          <a:prstGeom prst="rect">
            <a:avLst/>
          </a:prstGeom>
          <a:noFill/>
          <a:ln/>
        </p:spPr>
        <p:txBody>
          <a:bodyPr wrap="square" rtlCol="0" anchor="ctr"/>
          <a:lstStyle/>
          <a:p>
            <a:pPr marL="0" indent="0">
              <a:lnSpc>
                <a:spcPts val="1400"/>
              </a:lnSpc>
              <a:buNone/>
            </a:pPr>
            <a:r>
              <a:rPr lang="en-US" sz="1100" dirty="0">
                <a:solidFill>
                  <a:srgbClr val="5B6672"/>
                </a:solidFill>
                <a:latin typeface="Calibri" pitchFamily="34" charset="0"/>
                <a:ea typeface="Calibri" pitchFamily="34" charset="-122"/>
                <a:cs typeface="Calibri" pitchFamily="34" charset="-120"/>
              </a:rPr>
              <a:t>Oracle tốt (→0.734), bộ phân loại thật lại hại (→0.531)</a:t>
            </a:r>
            <a:endParaRPr lang="en-US" sz="1100" dirty="0"/>
          </a:p>
        </p:txBody>
      </p:sp>
      <p:sp>
        <p:nvSpPr>
          <p:cNvPr id="29" name="Shape 27"/>
          <p:cNvSpPr/>
          <p:nvPr/>
        </p:nvSpPr>
        <p:spPr>
          <a:xfrm>
            <a:off x="548640" y="5468112"/>
            <a:ext cx="11064240" cy="749808"/>
          </a:xfrm>
          <a:prstGeom prst="roundRect">
            <a:avLst>
              <a:gd name="adj" fmla="val 7317"/>
            </a:avLst>
          </a:prstGeom>
          <a:solidFill>
            <a:srgbClr val="FFFFFF"/>
          </a:solidFill>
          <a:ln/>
        </p:spPr>
      </p:sp>
      <p:sp>
        <p:nvSpPr>
          <p:cNvPr id="30" name="Shape 28"/>
          <p:cNvSpPr/>
          <p:nvPr/>
        </p:nvSpPr>
        <p:spPr>
          <a:xfrm>
            <a:off x="777240" y="5614416"/>
            <a:ext cx="457200" cy="457200"/>
          </a:xfrm>
          <a:prstGeom prst="ellipse">
            <a:avLst/>
          </a:prstGeom>
          <a:solidFill>
            <a:srgbClr val="5B6672"/>
          </a:solidFill>
          <a:ln/>
        </p:spPr>
      </p:sp>
      <p:sp>
        <p:nvSpPr>
          <p:cNvPr id="31" name="Text 29"/>
          <p:cNvSpPr/>
          <p:nvPr/>
        </p:nvSpPr>
        <p:spPr>
          <a:xfrm>
            <a:off x="777240" y="5614416"/>
            <a:ext cx="457200" cy="457200"/>
          </a:xfrm>
          <a:prstGeom prst="rect">
            <a:avLst/>
          </a:prstGeom>
          <a:noFill/>
          <a:ln/>
        </p:spPr>
        <p:txBody>
          <a:bodyPr wrap="square"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i</a:t>
            </a:r>
            <a:endParaRPr lang="en-US" sz="1800" dirty="0"/>
          </a:p>
        </p:txBody>
      </p:sp>
      <p:sp>
        <p:nvSpPr>
          <p:cNvPr id="32" name="Text 30"/>
          <p:cNvSpPr/>
          <p:nvPr/>
        </p:nvSpPr>
        <p:spPr>
          <a:xfrm>
            <a:off x="1417320" y="5468112"/>
            <a:ext cx="4663440" cy="749808"/>
          </a:xfrm>
          <a:prstGeom prst="rect">
            <a:avLst/>
          </a:prstGeom>
          <a:noFill/>
          <a:ln/>
        </p:spPr>
        <p:txBody>
          <a:bodyPr wrap="square" rtlCol="0" anchor="ctr"/>
          <a:lstStyle/>
          <a:p>
            <a:pPr marL="0" indent="0">
              <a:lnSpc>
                <a:spcPts val="1500"/>
              </a:lnSpc>
              <a:buNone/>
            </a:pPr>
            <a:r>
              <a:rPr lang="en-US" sz="1250" b="1" dirty="0">
                <a:solidFill>
                  <a:srgbClr val="17212B"/>
                </a:solidFill>
                <a:latin typeface="Calibri" pitchFamily="34" charset="0"/>
                <a:ea typeface="Calibri" pitchFamily="34" charset="-122"/>
                <a:cs typeface="Calibri" pitchFamily="34" charset="-120"/>
              </a:rPr>
              <a:t>bge-m3 làm ứng viên embedding thứ 3</a:t>
            </a:r>
            <a:endParaRPr lang="en-US" sz="1250" dirty="0"/>
          </a:p>
        </p:txBody>
      </p:sp>
      <p:sp>
        <p:nvSpPr>
          <p:cNvPr id="33" name="Text 31"/>
          <p:cNvSpPr/>
          <p:nvPr/>
        </p:nvSpPr>
        <p:spPr>
          <a:xfrm>
            <a:off x="6172200" y="5468112"/>
            <a:ext cx="2148840" cy="749808"/>
          </a:xfrm>
          <a:prstGeom prst="rect">
            <a:avLst/>
          </a:prstGeom>
          <a:noFill/>
          <a:ln/>
        </p:spPr>
        <p:txBody>
          <a:bodyPr wrap="square" rtlCol="0" anchor="ctr"/>
          <a:lstStyle/>
          <a:p>
            <a:pPr marL="0" indent="0">
              <a:buNone/>
            </a:pPr>
            <a:r>
              <a:rPr lang="en-US" sz="1100" b="1" kern="0" spc="50" dirty="0">
                <a:solidFill>
                  <a:srgbClr val="5B6672"/>
                </a:solidFill>
                <a:latin typeface="Calibri" pitchFamily="34" charset="0"/>
                <a:ea typeface="Calibri" pitchFamily="34" charset="-122"/>
                <a:cs typeface="Calibri" pitchFamily="34" charset="-120"/>
              </a:rPr>
              <a:t>KHÔNG ĐỔI MẶC ĐỊNH</a:t>
            </a:r>
            <a:endParaRPr lang="en-US" sz="1100" dirty="0"/>
          </a:p>
        </p:txBody>
      </p:sp>
      <p:sp>
        <p:nvSpPr>
          <p:cNvPr id="34" name="Text 32"/>
          <p:cNvSpPr/>
          <p:nvPr/>
        </p:nvSpPr>
        <p:spPr>
          <a:xfrm>
            <a:off x="8412480" y="5468112"/>
            <a:ext cx="3017520" cy="749808"/>
          </a:xfrm>
          <a:prstGeom prst="rect">
            <a:avLst/>
          </a:prstGeom>
          <a:noFill/>
          <a:ln/>
        </p:spPr>
        <p:txBody>
          <a:bodyPr wrap="square" rtlCol="0" anchor="ctr"/>
          <a:lstStyle/>
          <a:p>
            <a:pPr marL="0" indent="0">
              <a:lnSpc>
                <a:spcPts val="1400"/>
              </a:lnSpc>
              <a:buNone/>
            </a:pPr>
            <a:r>
              <a:rPr lang="en-US" sz="1100" dirty="0">
                <a:solidFill>
                  <a:srgbClr val="5B6672"/>
                </a:solidFill>
                <a:latin typeface="Calibri" pitchFamily="34" charset="0"/>
                <a:ea typeface="Calibri" pitchFamily="34" charset="-122"/>
                <a:cs typeface="Calibri" pitchFamily="34" charset="-120"/>
              </a:rPr>
              <a:t>Tách biệt thấp nhất (0.1155)</a:t>
            </a:r>
            <a:endParaRPr lang="en-US" sz="1100" dirty="0"/>
          </a:p>
        </p:txBody>
      </p:sp>
      <p:sp>
        <p:nvSpPr>
          <p:cNvPr id="35" name="Text 33"/>
          <p:cNvSpPr/>
          <p:nvPr/>
        </p:nvSpPr>
        <p:spPr>
          <a:xfrm>
            <a:off x="548640" y="6446520"/>
            <a:ext cx="11064240" cy="320040"/>
          </a:xfrm>
          <a:prstGeom prst="rect">
            <a:avLst/>
          </a:prstGeom>
          <a:noFill/>
          <a:ln/>
        </p:spPr>
        <p:txBody>
          <a:bodyPr wrap="square" rtlCol="0" anchor="ctr"/>
          <a:lstStyle/>
          <a:p>
            <a:pPr marL="0" indent="0" algn="ctr">
              <a:buNone/>
            </a:pPr>
            <a:r>
              <a:rPr lang="en-US" sz="1100" i="1" dirty="0">
                <a:solidFill>
                  <a:srgbClr val="2B6E62"/>
                </a:solidFill>
                <a:latin typeface="Calibri" pitchFamily="34" charset="0"/>
                <a:ea typeface="Calibri" pitchFamily="34" charset="-122"/>
                <a:cs typeface="Calibri" pitchFamily="34" charset="-120"/>
              </a:rPr>
              <a:t>2/5 có giá trị rõ ràng, đang bật. 3/5 được đo đầy đủ (kèm test) nhưng số liệu thật không ủng hộ bật mặc định — giữ lại làm tùy chọn đã kiểm chứng thay vì xoá bỏ.</a:t>
            </a:r>
            <a:endParaRPr lang="en-US" sz="1100" dirty="0"/>
          </a:p>
        </p:txBody>
      </p:sp>
      <p:sp>
        <p:nvSpPr>
          <p:cNvPr id="36" name="Text 34"/>
          <p:cNvSpPr/>
          <p:nvPr/>
        </p:nvSpPr>
        <p:spPr>
          <a:xfrm>
            <a:off x="11548872" y="6400800"/>
            <a:ext cx="365760" cy="274320"/>
          </a:xfrm>
          <a:prstGeom prst="rect">
            <a:avLst/>
          </a:prstGeom>
          <a:noFill/>
          <a:ln/>
        </p:spPr>
        <p:txBody>
          <a:bodyPr wrap="square" rtlCol="0" anchor="ctr"/>
          <a:lstStyle/>
          <a:p>
            <a:pPr marL="0" indent="0" algn="r">
              <a:buNone/>
            </a:pPr>
            <a:r>
              <a:rPr lang="en-US" sz="1000" dirty="0">
                <a:solidFill>
                  <a:srgbClr val="5B6672"/>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2F0E9"/>
        </a:solidFill>
        <a:effectLst/>
      </p:bgPr>
    </p:bg>
    <p:spTree>
      <p:nvGrpSpPr>
        <p:cNvPr id="1" name=""/>
        <p:cNvGrpSpPr/>
        <p:nvPr/>
      </p:nvGrpSpPr>
      <p:grpSpPr>
        <a:xfrm>
          <a:off x="0" y="0"/>
          <a:ext cx="0" cy="0"/>
          <a:chOff x="0" y="0"/>
          <a:chExt cx="0" cy="0"/>
        </a:xfrm>
      </p:grpSpPr>
      <p:sp>
        <p:nvSpPr>
          <p:cNvPr id="2" name="Text 0"/>
          <p:cNvSpPr/>
          <p:nvPr/>
        </p:nvSpPr>
        <p:spPr>
          <a:xfrm>
            <a:off x="548640" y="365760"/>
            <a:ext cx="7315200" cy="365760"/>
          </a:xfrm>
          <a:prstGeom prst="rect">
            <a:avLst/>
          </a:prstGeom>
          <a:noFill/>
          <a:ln/>
        </p:spPr>
        <p:txBody>
          <a:bodyPr wrap="square" rtlCol="0" anchor="ctr"/>
          <a:lstStyle/>
          <a:p>
            <a:pPr marL="0" indent="0">
              <a:buNone/>
            </a:pPr>
            <a:r>
              <a:rPr lang="en-US" sz="1200" b="1" kern="0" spc="200" dirty="0">
                <a:solidFill>
                  <a:srgbClr val="2B6E62"/>
                </a:solidFill>
                <a:latin typeface="Calibri" pitchFamily="34" charset="0"/>
                <a:ea typeface="Calibri" pitchFamily="34" charset="-122"/>
                <a:cs typeface="Calibri" pitchFamily="34" charset="-120"/>
              </a:rPr>
              <a:t>THẢO LUẬN</a:t>
            </a:r>
            <a:endParaRPr lang="en-US" sz="1200" dirty="0"/>
          </a:p>
        </p:txBody>
      </p:sp>
      <p:sp>
        <p:nvSpPr>
          <p:cNvPr id="3" name="Text 1"/>
          <p:cNvSpPr/>
          <p:nvPr/>
        </p:nvSpPr>
        <p:spPr>
          <a:xfrm>
            <a:off x="548640" y="685800"/>
            <a:ext cx="11064240" cy="822960"/>
          </a:xfrm>
          <a:prstGeom prst="rect">
            <a:avLst/>
          </a:prstGeom>
          <a:noFill/>
          <a:ln/>
        </p:spPr>
        <p:txBody>
          <a:bodyPr wrap="square" rtlCol="0" anchor="ctr"/>
          <a:lstStyle/>
          <a:p>
            <a:pPr marL="0" indent="0" algn="l">
              <a:buNone/>
            </a:pPr>
            <a:r>
              <a:rPr lang="en-US" sz="3200" b="1" dirty="0">
                <a:solidFill>
                  <a:srgbClr val="17212B"/>
                </a:solidFill>
                <a:latin typeface="Cambria" pitchFamily="34" charset="0"/>
                <a:ea typeface="Cambria" pitchFamily="34" charset="-122"/>
                <a:cs typeface="Cambria" pitchFamily="34" charset="-120"/>
              </a:rPr>
              <a:t>Giới hạn còn tồn tại</a:t>
            </a:r>
            <a:endParaRPr lang="en-US" sz="3200" dirty="0"/>
          </a:p>
        </p:txBody>
      </p:sp>
      <p:sp>
        <p:nvSpPr>
          <p:cNvPr id="4" name="Shape 2"/>
          <p:cNvSpPr/>
          <p:nvPr/>
        </p:nvSpPr>
        <p:spPr>
          <a:xfrm>
            <a:off x="640080" y="1965960"/>
            <a:ext cx="10881360" cy="658368"/>
          </a:xfrm>
          <a:prstGeom prst="roundRect">
            <a:avLst>
              <a:gd name="adj" fmla="val 8333"/>
            </a:avLst>
          </a:prstGeom>
          <a:solidFill>
            <a:srgbClr val="FFFFFF"/>
          </a:solidFill>
          <a:ln/>
        </p:spPr>
      </p:sp>
      <p:sp>
        <p:nvSpPr>
          <p:cNvPr id="5" name="Shape 3"/>
          <p:cNvSpPr/>
          <p:nvPr/>
        </p:nvSpPr>
        <p:spPr>
          <a:xfrm>
            <a:off x="868680" y="2066544"/>
            <a:ext cx="457200" cy="457200"/>
          </a:xfrm>
          <a:prstGeom prst="ellipse">
            <a:avLst/>
          </a:prstGeom>
          <a:solidFill>
            <a:srgbClr val="B8863B"/>
          </a:solidFill>
          <a:ln/>
        </p:spPr>
      </p:sp>
      <p:sp>
        <p:nvSpPr>
          <p:cNvPr id="6" name="Text 4"/>
          <p:cNvSpPr/>
          <p:nvPr/>
        </p:nvSpPr>
        <p:spPr>
          <a:xfrm>
            <a:off x="868680" y="2066544"/>
            <a:ext cx="457200" cy="457200"/>
          </a:xfrm>
          <a:prstGeom prst="rect">
            <a:avLst/>
          </a:prstGeom>
          <a:noFill/>
          <a:ln/>
        </p:spPr>
        <p:txBody>
          <a:bodyPr wrap="square"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a:t>
            </a:r>
            <a:endParaRPr lang="en-US" sz="1600" dirty="0"/>
          </a:p>
        </p:txBody>
      </p:sp>
      <p:sp>
        <p:nvSpPr>
          <p:cNvPr id="7" name="Text 5"/>
          <p:cNvSpPr/>
          <p:nvPr/>
        </p:nvSpPr>
        <p:spPr>
          <a:xfrm>
            <a:off x="1508760" y="1965960"/>
            <a:ext cx="9829800" cy="658368"/>
          </a:xfrm>
          <a:prstGeom prst="rect">
            <a:avLst/>
          </a:prstGeom>
          <a:noFill/>
          <a:ln/>
        </p:spPr>
        <p:txBody>
          <a:bodyPr wrap="square" rtlCol="0" anchor="ctr"/>
          <a:lstStyle/>
          <a:p>
            <a:pPr marL="0" indent="0">
              <a:lnSpc>
                <a:spcPts val="1400"/>
              </a:lnSpc>
              <a:buNone/>
            </a:pPr>
            <a:r>
              <a:rPr lang="en-US" sz="1200" dirty="0">
                <a:solidFill>
                  <a:srgbClr val="17212B"/>
                </a:solidFill>
                <a:latin typeface="Calibri" pitchFamily="34" charset="0"/>
                <a:ea typeface="Calibri" pitchFamily="34" charset="-122"/>
                <a:cs typeface="Calibri" pitchFamily="34" charset="-120"/>
              </a:rPr>
              <a:t>Giám khảo LLM-as-judge cùng họ mô hình với mô hình sinh — có thể thiên lệch tự ưu ái.</a:t>
            </a:r>
            <a:endParaRPr lang="en-US" sz="1200" dirty="0"/>
          </a:p>
        </p:txBody>
      </p:sp>
      <p:sp>
        <p:nvSpPr>
          <p:cNvPr id="8" name="Shape 6"/>
          <p:cNvSpPr/>
          <p:nvPr/>
        </p:nvSpPr>
        <p:spPr>
          <a:xfrm>
            <a:off x="640080" y="2734056"/>
            <a:ext cx="10881360" cy="658368"/>
          </a:xfrm>
          <a:prstGeom prst="roundRect">
            <a:avLst>
              <a:gd name="adj" fmla="val 8333"/>
            </a:avLst>
          </a:prstGeom>
          <a:solidFill>
            <a:srgbClr val="FFFFFF"/>
          </a:solidFill>
          <a:ln/>
        </p:spPr>
      </p:sp>
      <p:sp>
        <p:nvSpPr>
          <p:cNvPr id="9" name="Shape 7"/>
          <p:cNvSpPr/>
          <p:nvPr/>
        </p:nvSpPr>
        <p:spPr>
          <a:xfrm>
            <a:off x="868680" y="2834640"/>
            <a:ext cx="457200" cy="457200"/>
          </a:xfrm>
          <a:prstGeom prst="ellipse">
            <a:avLst/>
          </a:prstGeom>
          <a:solidFill>
            <a:srgbClr val="B8863B"/>
          </a:solidFill>
          <a:ln/>
        </p:spPr>
      </p:sp>
      <p:sp>
        <p:nvSpPr>
          <p:cNvPr id="10" name="Text 8"/>
          <p:cNvSpPr/>
          <p:nvPr/>
        </p:nvSpPr>
        <p:spPr>
          <a:xfrm>
            <a:off x="868680" y="2834640"/>
            <a:ext cx="457200" cy="457200"/>
          </a:xfrm>
          <a:prstGeom prst="rect">
            <a:avLst/>
          </a:prstGeom>
          <a:noFill/>
          <a:ln/>
        </p:spPr>
        <p:txBody>
          <a:bodyPr wrap="square"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a:t>
            </a:r>
            <a:endParaRPr lang="en-US" sz="1600" dirty="0"/>
          </a:p>
        </p:txBody>
      </p:sp>
      <p:sp>
        <p:nvSpPr>
          <p:cNvPr id="11" name="Text 9"/>
          <p:cNvSpPr/>
          <p:nvPr/>
        </p:nvSpPr>
        <p:spPr>
          <a:xfrm>
            <a:off x="1508760" y="2734056"/>
            <a:ext cx="9829800" cy="658368"/>
          </a:xfrm>
          <a:prstGeom prst="rect">
            <a:avLst/>
          </a:prstGeom>
          <a:noFill/>
          <a:ln/>
        </p:spPr>
        <p:txBody>
          <a:bodyPr wrap="square" rtlCol="0" anchor="ctr"/>
          <a:lstStyle/>
          <a:p>
            <a:pPr marL="0" indent="0">
              <a:lnSpc>
                <a:spcPts val="1400"/>
              </a:lnSpc>
              <a:buNone/>
            </a:pPr>
            <a:r>
              <a:rPr lang="en-US" sz="1200" dirty="0">
                <a:solidFill>
                  <a:srgbClr val="17212B"/>
                </a:solidFill>
                <a:latin typeface="Calibri" pitchFamily="34" charset="0"/>
                <a:ea typeface="Calibri" pitchFamily="34" charset="-122"/>
                <a:cs typeface="Calibri" pitchFamily="34" charset="-120"/>
              </a:rPr>
              <a:t>Cỡ mẫu đánh giá sinh văn bản (n=8) còn nhỏ, cần mở rộng để có ý nghĩa thống kê chặt hơn.</a:t>
            </a:r>
            <a:endParaRPr lang="en-US" sz="1200" dirty="0"/>
          </a:p>
        </p:txBody>
      </p:sp>
      <p:sp>
        <p:nvSpPr>
          <p:cNvPr id="12" name="Shape 10"/>
          <p:cNvSpPr/>
          <p:nvPr/>
        </p:nvSpPr>
        <p:spPr>
          <a:xfrm>
            <a:off x="640080" y="3502152"/>
            <a:ext cx="10881360" cy="658368"/>
          </a:xfrm>
          <a:prstGeom prst="roundRect">
            <a:avLst>
              <a:gd name="adj" fmla="val 8333"/>
            </a:avLst>
          </a:prstGeom>
          <a:solidFill>
            <a:srgbClr val="FFFFFF"/>
          </a:solidFill>
          <a:ln/>
        </p:spPr>
      </p:sp>
      <p:sp>
        <p:nvSpPr>
          <p:cNvPr id="13" name="Shape 11"/>
          <p:cNvSpPr/>
          <p:nvPr/>
        </p:nvSpPr>
        <p:spPr>
          <a:xfrm>
            <a:off x="868680" y="3602736"/>
            <a:ext cx="457200" cy="457200"/>
          </a:xfrm>
          <a:prstGeom prst="ellipse">
            <a:avLst/>
          </a:prstGeom>
          <a:solidFill>
            <a:srgbClr val="2B6E62"/>
          </a:solidFill>
          <a:ln/>
        </p:spPr>
      </p:sp>
      <p:sp>
        <p:nvSpPr>
          <p:cNvPr id="14" name="Text 12"/>
          <p:cNvSpPr/>
          <p:nvPr/>
        </p:nvSpPr>
        <p:spPr>
          <a:xfrm>
            <a:off x="868680" y="3602736"/>
            <a:ext cx="457200" cy="457200"/>
          </a:xfrm>
          <a:prstGeom prst="rect">
            <a:avLst/>
          </a:prstGeom>
          <a:noFill/>
          <a:ln/>
        </p:spPr>
        <p:txBody>
          <a:bodyPr wrap="square"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a:t>
            </a:r>
            <a:endParaRPr lang="en-US" sz="1600" dirty="0"/>
          </a:p>
        </p:txBody>
      </p:sp>
      <p:sp>
        <p:nvSpPr>
          <p:cNvPr id="15" name="Text 13"/>
          <p:cNvSpPr/>
          <p:nvPr/>
        </p:nvSpPr>
        <p:spPr>
          <a:xfrm>
            <a:off x="1508760" y="3502152"/>
            <a:ext cx="9829800" cy="658368"/>
          </a:xfrm>
          <a:prstGeom prst="rect">
            <a:avLst/>
          </a:prstGeom>
          <a:noFill/>
          <a:ln/>
        </p:spPr>
        <p:txBody>
          <a:bodyPr wrap="square" rtlCol="0" anchor="ctr"/>
          <a:lstStyle/>
          <a:p>
            <a:pPr marL="0" indent="0">
              <a:lnSpc>
                <a:spcPts val="1400"/>
              </a:lnSpc>
              <a:buNone/>
            </a:pPr>
            <a:r>
              <a:rPr lang="en-US" sz="1200" dirty="0">
                <a:solidFill>
                  <a:srgbClr val="17212B"/>
                </a:solidFill>
                <a:latin typeface="Calibri" pitchFamily="34" charset="0"/>
                <a:ea typeface="Calibri" pitchFamily="34" charset="-122"/>
                <a:cs typeface="Calibri" pitchFamily="34" charset="-120"/>
              </a:rPr>
              <a:t>Sau khi sửa lỗi cắt âm thầm chunk, Recall@5 SAU rerank giảm nhẹ (0.804→0.761) trên tập 46 câu — 46 câu chưa đủ để phân biệt xu hướng thật với nhiễu thống kê, cần tập lớn hơn để đánh giá lại.</a:t>
            </a:r>
            <a:endParaRPr lang="en-US" sz="1200" dirty="0"/>
          </a:p>
        </p:txBody>
      </p:sp>
      <p:sp>
        <p:nvSpPr>
          <p:cNvPr id="16" name="Shape 14"/>
          <p:cNvSpPr/>
          <p:nvPr/>
        </p:nvSpPr>
        <p:spPr>
          <a:xfrm>
            <a:off x="640080" y="4270248"/>
            <a:ext cx="10881360" cy="658368"/>
          </a:xfrm>
          <a:prstGeom prst="roundRect">
            <a:avLst>
              <a:gd name="adj" fmla="val 8333"/>
            </a:avLst>
          </a:prstGeom>
          <a:solidFill>
            <a:srgbClr val="FFFFFF"/>
          </a:solidFill>
          <a:ln/>
        </p:spPr>
      </p:sp>
      <p:sp>
        <p:nvSpPr>
          <p:cNvPr id="17" name="Shape 15"/>
          <p:cNvSpPr/>
          <p:nvPr/>
        </p:nvSpPr>
        <p:spPr>
          <a:xfrm>
            <a:off x="868680" y="4370832"/>
            <a:ext cx="457200" cy="457200"/>
          </a:xfrm>
          <a:prstGeom prst="ellipse">
            <a:avLst/>
          </a:prstGeom>
          <a:solidFill>
            <a:srgbClr val="2B6E62"/>
          </a:solidFill>
          <a:ln/>
        </p:spPr>
      </p:sp>
      <p:sp>
        <p:nvSpPr>
          <p:cNvPr id="18" name="Text 16"/>
          <p:cNvSpPr/>
          <p:nvPr/>
        </p:nvSpPr>
        <p:spPr>
          <a:xfrm>
            <a:off x="868680" y="4370832"/>
            <a:ext cx="457200" cy="457200"/>
          </a:xfrm>
          <a:prstGeom prst="rect">
            <a:avLst/>
          </a:prstGeom>
          <a:noFill/>
          <a:ln/>
        </p:spPr>
        <p:txBody>
          <a:bodyPr wrap="square"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a:t>
            </a:r>
            <a:endParaRPr lang="en-US" sz="1600" dirty="0"/>
          </a:p>
        </p:txBody>
      </p:sp>
      <p:sp>
        <p:nvSpPr>
          <p:cNvPr id="19" name="Text 17"/>
          <p:cNvSpPr/>
          <p:nvPr/>
        </p:nvSpPr>
        <p:spPr>
          <a:xfrm>
            <a:off x="1508760" y="4270248"/>
            <a:ext cx="9829800" cy="658368"/>
          </a:xfrm>
          <a:prstGeom prst="rect">
            <a:avLst/>
          </a:prstGeom>
          <a:noFill/>
          <a:ln/>
        </p:spPr>
        <p:txBody>
          <a:bodyPr wrap="square" rtlCol="0" anchor="ctr"/>
          <a:lstStyle/>
          <a:p>
            <a:pPr marL="0" indent="0">
              <a:lnSpc>
                <a:spcPts val="1400"/>
              </a:lnSpc>
              <a:buNone/>
            </a:pPr>
            <a:r>
              <a:rPr lang="en-US" sz="1200" dirty="0">
                <a:solidFill>
                  <a:srgbClr val="17212B"/>
                </a:solidFill>
                <a:latin typeface="Calibri" pitchFamily="34" charset="0"/>
                <a:ea typeface="Calibri" pitchFamily="34" charset="-122"/>
                <a:cs typeface="Calibri" pitchFamily="34" charset="-120"/>
              </a:rPr>
              <a:t>Chưa có HSMT thật đã phê duyệt trong kho tri thức — hệ thống mạng đấu thầu quốc gia yêu cầu đăng nhập + Client Agent chỉ chạy Windows.</a:t>
            </a:r>
            <a:endParaRPr lang="en-US" sz="1200" dirty="0"/>
          </a:p>
        </p:txBody>
      </p:sp>
      <p:sp>
        <p:nvSpPr>
          <p:cNvPr id="20" name="Shape 18"/>
          <p:cNvSpPr/>
          <p:nvPr/>
        </p:nvSpPr>
        <p:spPr>
          <a:xfrm>
            <a:off x="640080" y="5038344"/>
            <a:ext cx="10881360" cy="658368"/>
          </a:xfrm>
          <a:prstGeom prst="roundRect">
            <a:avLst>
              <a:gd name="adj" fmla="val 8333"/>
            </a:avLst>
          </a:prstGeom>
          <a:solidFill>
            <a:srgbClr val="FFFFFF"/>
          </a:solidFill>
          <a:ln/>
        </p:spPr>
      </p:sp>
      <p:sp>
        <p:nvSpPr>
          <p:cNvPr id="21" name="Shape 19"/>
          <p:cNvSpPr/>
          <p:nvPr/>
        </p:nvSpPr>
        <p:spPr>
          <a:xfrm>
            <a:off x="868680" y="5138928"/>
            <a:ext cx="457200" cy="457200"/>
          </a:xfrm>
          <a:prstGeom prst="ellipse">
            <a:avLst/>
          </a:prstGeom>
          <a:solidFill>
            <a:srgbClr val="2B6E62"/>
          </a:solidFill>
          <a:ln/>
        </p:spPr>
      </p:sp>
      <p:sp>
        <p:nvSpPr>
          <p:cNvPr id="22" name="Text 20"/>
          <p:cNvSpPr/>
          <p:nvPr/>
        </p:nvSpPr>
        <p:spPr>
          <a:xfrm>
            <a:off x="868680" y="5138928"/>
            <a:ext cx="457200" cy="457200"/>
          </a:xfrm>
          <a:prstGeom prst="rect">
            <a:avLst/>
          </a:prstGeom>
          <a:noFill/>
          <a:ln/>
        </p:spPr>
        <p:txBody>
          <a:bodyPr wrap="square"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a:t>
            </a:r>
            <a:endParaRPr lang="en-US" sz="1600" dirty="0"/>
          </a:p>
        </p:txBody>
      </p:sp>
      <p:sp>
        <p:nvSpPr>
          <p:cNvPr id="23" name="Text 21"/>
          <p:cNvSpPr/>
          <p:nvPr/>
        </p:nvSpPr>
        <p:spPr>
          <a:xfrm>
            <a:off x="1508760" y="5038344"/>
            <a:ext cx="9829800" cy="658368"/>
          </a:xfrm>
          <a:prstGeom prst="rect">
            <a:avLst/>
          </a:prstGeom>
          <a:noFill/>
          <a:ln/>
        </p:spPr>
        <p:txBody>
          <a:bodyPr wrap="square" rtlCol="0" anchor="ctr"/>
          <a:lstStyle/>
          <a:p>
            <a:pPr marL="0" indent="0">
              <a:lnSpc>
                <a:spcPts val="1400"/>
              </a:lnSpc>
              <a:buNone/>
            </a:pPr>
            <a:r>
              <a:rPr lang="en-US" sz="1200" dirty="0">
                <a:solidFill>
                  <a:srgbClr val="17212B"/>
                </a:solidFill>
                <a:latin typeface="Calibri" pitchFamily="34" charset="0"/>
                <a:ea typeface="Calibri" pitchFamily="34" charset="-122"/>
                <a:cs typeface="Calibri" pitchFamily="34" charset="-120"/>
              </a:rPr>
              <a:t>Mức 3 mới ghép được nội dung AI soạn, chưa lắp khung cố định (chỉ dẫn nhà thầu, bảng dữ liệu đấu thầu).</a:t>
            </a:r>
            <a:endParaRPr lang="en-US" sz="1200" dirty="0"/>
          </a:p>
        </p:txBody>
      </p:sp>
      <p:sp>
        <p:nvSpPr>
          <p:cNvPr id="24" name="Shape 22"/>
          <p:cNvSpPr/>
          <p:nvPr/>
        </p:nvSpPr>
        <p:spPr>
          <a:xfrm>
            <a:off x="640080" y="5806440"/>
            <a:ext cx="10881360" cy="658368"/>
          </a:xfrm>
          <a:prstGeom prst="roundRect">
            <a:avLst>
              <a:gd name="adj" fmla="val 8333"/>
            </a:avLst>
          </a:prstGeom>
          <a:solidFill>
            <a:srgbClr val="FFFFFF"/>
          </a:solidFill>
          <a:ln/>
        </p:spPr>
      </p:sp>
      <p:sp>
        <p:nvSpPr>
          <p:cNvPr id="25" name="Shape 23"/>
          <p:cNvSpPr/>
          <p:nvPr/>
        </p:nvSpPr>
        <p:spPr>
          <a:xfrm>
            <a:off x="868680" y="5907024"/>
            <a:ext cx="457200" cy="457200"/>
          </a:xfrm>
          <a:prstGeom prst="ellipse">
            <a:avLst/>
          </a:prstGeom>
          <a:solidFill>
            <a:srgbClr val="2B6E62"/>
          </a:solidFill>
          <a:ln/>
        </p:spPr>
      </p:sp>
      <p:sp>
        <p:nvSpPr>
          <p:cNvPr id="26" name="Text 24"/>
          <p:cNvSpPr/>
          <p:nvPr/>
        </p:nvSpPr>
        <p:spPr>
          <a:xfrm>
            <a:off x="868680" y="5907024"/>
            <a:ext cx="457200" cy="457200"/>
          </a:xfrm>
          <a:prstGeom prst="rect">
            <a:avLst/>
          </a:prstGeom>
          <a:noFill/>
          <a:ln/>
        </p:spPr>
        <p:txBody>
          <a:bodyPr wrap="square"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a:t>
            </a:r>
            <a:endParaRPr lang="en-US" sz="1600" dirty="0"/>
          </a:p>
        </p:txBody>
      </p:sp>
      <p:sp>
        <p:nvSpPr>
          <p:cNvPr id="27" name="Text 25"/>
          <p:cNvSpPr/>
          <p:nvPr/>
        </p:nvSpPr>
        <p:spPr>
          <a:xfrm>
            <a:off x="1508760" y="5806440"/>
            <a:ext cx="9829800" cy="658368"/>
          </a:xfrm>
          <a:prstGeom prst="rect">
            <a:avLst/>
          </a:prstGeom>
          <a:noFill/>
          <a:ln/>
        </p:spPr>
        <p:txBody>
          <a:bodyPr wrap="square" rtlCol="0" anchor="ctr"/>
          <a:lstStyle/>
          <a:p>
            <a:pPr marL="0" indent="0">
              <a:lnSpc>
                <a:spcPts val="1400"/>
              </a:lnSpc>
              <a:buNone/>
            </a:pPr>
            <a:r>
              <a:rPr lang="en-US" sz="1200" dirty="0">
                <a:solidFill>
                  <a:srgbClr val="17212B"/>
                </a:solidFill>
                <a:latin typeface="Calibri" pitchFamily="34" charset="0"/>
                <a:ea typeface="Calibri" pitchFamily="34" charset="-122"/>
                <a:cs typeface="Calibri" pitchFamily="34" charset="-120"/>
              </a:rPr>
              <a:t>Rerank cross-encoder vẫn còn độ trễ đáng kể (~7.6s/câu, đã giảm từ ~20s/câu) — cần cân nhắc cho luồng tương tác thời gian thực.</a:t>
            </a:r>
            <a:endParaRPr lang="en-US" sz="1200" dirty="0"/>
          </a:p>
        </p:txBody>
      </p:sp>
      <p:sp>
        <p:nvSpPr>
          <p:cNvPr id="28" name="Text 26"/>
          <p:cNvSpPr/>
          <p:nvPr/>
        </p:nvSpPr>
        <p:spPr>
          <a:xfrm>
            <a:off x="11548872" y="6400800"/>
            <a:ext cx="365760" cy="274320"/>
          </a:xfrm>
          <a:prstGeom prst="rect">
            <a:avLst/>
          </a:prstGeom>
          <a:noFill/>
          <a:ln/>
        </p:spPr>
        <p:txBody>
          <a:bodyPr wrap="square" rtlCol="0" anchor="ctr"/>
          <a:lstStyle/>
          <a:p>
            <a:pPr marL="0" indent="0" algn="r">
              <a:buNone/>
            </a:pPr>
            <a:r>
              <a:rPr lang="en-US" sz="1000" dirty="0">
                <a:solidFill>
                  <a:srgbClr val="5B6672"/>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7212B"/>
        </a:solidFill>
        <a:effectLst/>
      </p:bgPr>
    </p:bg>
    <p:spTree>
      <p:nvGrpSpPr>
        <p:cNvPr id="1" name=""/>
        <p:cNvGrpSpPr/>
        <p:nvPr/>
      </p:nvGrpSpPr>
      <p:grpSpPr>
        <a:xfrm>
          <a:off x="0" y="0"/>
          <a:ext cx="0" cy="0"/>
          <a:chOff x="0" y="0"/>
          <a:chExt cx="0" cy="0"/>
        </a:xfrm>
      </p:grpSpPr>
      <p:sp>
        <p:nvSpPr>
          <p:cNvPr id="2" name="Text 0"/>
          <p:cNvSpPr/>
          <p:nvPr/>
        </p:nvSpPr>
        <p:spPr>
          <a:xfrm>
            <a:off x="548640" y="365760"/>
            <a:ext cx="7315200" cy="365760"/>
          </a:xfrm>
          <a:prstGeom prst="rect">
            <a:avLst/>
          </a:prstGeom>
          <a:noFill/>
          <a:ln/>
        </p:spPr>
        <p:txBody>
          <a:bodyPr wrap="square" rtlCol="0" anchor="ctr"/>
          <a:lstStyle/>
          <a:p>
            <a:pPr marL="0" indent="0">
              <a:buNone/>
            </a:pPr>
            <a:r>
              <a:rPr lang="en-US" sz="1200" b="1" kern="0" spc="200" dirty="0">
                <a:solidFill>
                  <a:srgbClr val="B8863B"/>
                </a:solidFill>
                <a:latin typeface="Calibri" pitchFamily="34" charset="0"/>
                <a:ea typeface="Calibri" pitchFamily="34" charset="-122"/>
                <a:cs typeface="Calibri" pitchFamily="34" charset="-120"/>
              </a:rPr>
              <a:t>KẾT LUẬN</a:t>
            </a:r>
            <a:endParaRPr lang="en-US" sz="1200" dirty="0"/>
          </a:p>
        </p:txBody>
      </p:sp>
      <p:sp>
        <p:nvSpPr>
          <p:cNvPr id="3" name="Text 1"/>
          <p:cNvSpPr/>
          <p:nvPr/>
        </p:nvSpPr>
        <p:spPr>
          <a:xfrm>
            <a:off x="548640" y="685800"/>
            <a:ext cx="11064240" cy="822960"/>
          </a:xfrm>
          <a:prstGeom prst="rect">
            <a:avLst/>
          </a:prstGeom>
          <a:noFill/>
          <a:ln/>
        </p:spPr>
        <p:txBody>
          <a:bodyPr wrap="square" rtlCol="0" anchor="ctr"/>
          <a:lstStyle/>
          <a:p>
            <a:pPr marL="0" indent="0" algn="l">
              <a:buNone/>
            </a:pPr>
            <a:r>
              <a:rPr lang="en-US" sz="2800" b="1" dirty="0">
                <a:solidFill>
                  <a:srgbClr val="FFFFFF"/>
                </a:solidFill>
                <a:latin typeface="Cambria" pitchFamily="34" charset="0"/>
                <a:ea typeface="Cambria" pitchFamily="34" charset="-122"/>
                <a:cs typeface="Cambria" pitchFamily="34" charset="-120"/>
              </a:rPr>
              <a:t>Đóng góp Deep Learning nằm ở thiết kế, ghép nối và đánh giá — đúng đề cương</a:t>
            </a:r>
            <a:endParaRPr lang="en-US" sz="2800" dirty="0"/>
          </a:p>
        </p:txBody>
      </p:sp>
      <p:sp>
        <p:nvSpPr>
          <p:cNvPr id="4" name="Shape 2"/>
          <p:cNvSpPr/>
          <p:nvPr/>
        </p:nvSpPr>
        <p:spPr>
          <a:xfrm>
            <a:off x="822960" y="2441448"/>
            <a:ext cx="128016" cy="128016"/>
          </a:xfrm>
          <a:prstGeom prst="ellipse">
            <a:avLst/>
          </a:prstGeom>
          <a:solidFill>
            <a:srgbClr val="B8863B"/>
          </a:solidFill>
          <a:ln/>
        </p:spPr>
      </p:sp>
      <p:sp>
        <p:nvSpPr>
          <p:cNvPr id="5" name="Text 3"/>
          <p:cNvSpPr/>
          <p:nvPr/>
        </p:nvSpPr>
        <p:spPr>
          <a:xfrm>
            <a:off x="1143000" y="2331720"/>
            <a:ext cx="10149840" cy="731520"/>
          </a:xfrm>
          <a:prstGeom prst="rect">
            <a:avLst/>
          </a:prstGeom>
          <a:noFill/>
          <a:ln/>
        </p:spPr>
        <p:txBody>
          <a:bodyPr wrap="square" rtlCol="0" anchor="ctr"/>
          <a:lstStyle/>
          <a:p>
            <a:pPr marL="0" indent="0">
              <a:lnSpc>
                <a:spcPts val="1800"/>
              </a:lnSpc>
              <a:buNone/>
            </a:pPr>
            <a:r>
              <a:rPr lang="en-US" sz="1400" dirty="0">
                <a:solidFill>
                  <a:srgbClr val="E8E5DC"/>
                </a:solidFill>
                <a:latin typeface="Calibri" pitchFamily="34" charset="0"/>
                <a:ea typeface="Calibri" pitchFamily="34" charset="-122"/>
                <a:cs typeface="Calibri" pitchFamily="34" charset="-120"/>
              </a:rPr>
              <a:t>Kho tri thức pháp luật thật 326 Điều — bao gồm 1 văn bản chuyên ngành CNTT khôi phục từ nguồn thay thế khi bản chính thức chỉ có scan ảnh.</a:t>
            </a:r>
            <a:endParaRPr lang="en-US" sz="1400" dirty="0"/>
          </a:p>
        </p:txBody>
      </p:sp>
      <p:sp>
        <p:nvSpPr>
          <p:cNvPr id="6" name="Shape 4"/>
          <p:cNvSpPr/>
          <p:nvPr/>
        </p:nvSpPr>
        <p:spPr>
          <a:xfrm>
            <a:off x="822960" y="3218688"/>
            <a:ext cx="128016" cy="128016"/>
          </a:xfrm>
          <a:prstGeom prst="ellipse">
            <a:avLst/>
          </a:prstGeom>
          <a:solidFill>
            <a:srgbClr val="B8863B"/>
          </a:solidFill>
          <a:ln/>
        </p:spPr>
      </p:sp>
      <p:sp>
        <p:nvSpPr>
          <p:cNvPr id="7" name="Text 5"/>
          <p:cNvSpPr/>
          <p:nvPr/>
        </p:nvSpPr>
        <p:spPr>
          <a:xfrm>
            <a:off x="1143000" y="3108960"/>
            <a:ext cx="10149840" cy="731520"/>
          </a:xfrm>
          <a:prstGeom prst="rect">
            <a:avLst/>
          </a:prstGeom>
          <a:noFill/>
          <a:ln/>
        </p:spPr>
        <p:txBody>
          <a:bodyPr wrap="square" rtlCol="0" anchor="ctr"/>
          <a:lstStyle/>
          <a:p>
            <a:pPr marL="0" indent="0">
              <a:lnSpc>
                <a:spcPts val="1800"/>
              </a:lnSpc>
              <a:buNone/>
            </a:pPr>
            <a:r>
              <a:rPr lang="en-US" sz="1400" dirty="0">
                <a:solidFill>
                  <a:srgbClr val="E8E5DC"/>
                </a:solidFill>
                <a:latin typeface="Calibri" pitchFamily="34" charset="0"/>
                <a:ea typeface="Calibri" pitchFamily="34" charset="-122"/>
                <a:cs typeface="Calibri" pitchFamily="34" charset="-120"/>
              </a:rPr>
              <a:t>Truy hồi lai + rerank vượt trội mọi phương án đơn lẻ: Recall@5 = 0.761.</a:t>
            </a:r>
            <a:endParaRPr lang="en-US" sz="1400" dirty="0"/>
          </a:p>
        </p:txBody>
      </p:sp>
      <p:sp>
        <p:nvSpPr>
          <p:cNvPr id="8" name="Shape 6"/>
          <p:cNvSpPr/>
          <p:nvPr/>
        </p:nvSpPr>
        <p:spPr>
          <a:xfrm>
            <a:off x="822960" y="3995928"/>
            <a:ext cx="128016" cy="128016"/>
          </a:xfrm>
          <a:prstGeom prst="ellipse">
            <a:avLst/>
          </a:prstGeom>
          <a:solidFill>
            <a:srgbClr val="B8863B"/>
          </a:solidFill>
          <a:ln/>
        </p:spPr>
      </p:sp>
      <p:sp>
        <p:nvSpPr>
          <p:cNvPr id="9" name="Text 7"/>
          <p:cNvSpPr/>
          <p:nvPr/>
        </p:nvSpPr>
        <p:spPr>
          <a:xfrm>
            <a:off x="1143000" y="3886200"/>
            <a:ext cx="10149840" cy="731520"/>
          </a:xfrm>
          <a:prstGeom prst="rect">
            <a:avLst/>
          </a:prstGeom>
          <a:noFill/>
          <a:ln/>
        </p:spPr>
        <p:txBody>
          <a:bodyPr wrap="square" rtlCol="0" anchor="ctr"/>
          <a:lstStyle/>
          <a:p>
            <a:pPr marL="0" indent="0">
              <a:lnSpc>
                <a:spcPts val="1800"/>
              </a:lnSpc>
              <a:buNone/>
            </a:pPr>
            <a:r>
              <a:rPr lang="en-US" sz="1400" dirty="0">
                <a:solidFill>
                  <a:srgbClr val="E8E5DC"/>
                </a:solidFill>
                <a:latin typeface="Calibri" pitchFamily="34" charset="0"/>
                <a:ea typeface="Calibri" pitchFamily="34" charset="-122"/>
                <a:cs typeface="Calibri" pitchFamily="34" charset="-120"/>
              </a:rPr>
              <a:t>RAG nâng độ bám căn cứ pháp lý từ 0.41 lên 0.94 — bằng chứng thực nghiệm trực tiếp cho cơ chế in-context learning.</a:t>
            </a:r>
            <a:endParaRPr lang="en-US" sz="1400" dirty="0"/>
          </a:p>
        </p:txBody>
      </p:sp>
      <p:sp>
        <p:nvSpPr>
          <p:cNvPr id="10" name="Shape 8"/>
          <p:cNvSpPr/>
          <p:nvPr/>
        </p:nvSpPr>
        <p:spPr>
          <a:xfrm>
            <a:off x="822960" y="4773168"/>
            <a:ext cx="128016" cy="128016"/>
          </a:xfrm>
          <a:prstGeom prst="ellipse">
            <a:avLst/>
          </a:prstGeom>
          <a:solidFill>
            <a:srgbClr val="B8863B"/>
          </a:solidFill>
          <a:ln/>
        </p:spPr>
      </p:sp>
      <p:sp>
        <p:nvSpPr>
          <p:cNvPr id="11" name="Text 9"/>
          <p:cNvSpPr/>
          <p:nvPr/>
        </p:nvSpPr>
        <p:spPr>
          <a:xfrm>
            <a:off x="1143000" y="4663440"/>
            <a:ext cx="10149840" cy="731520"/>
          </a:xfrm>
          <a:prstGeom prst="rect">
            <a:avLst/>
          </a:prstGeom>
          <a:noFill/>
          <a:ln/>
        </p:spPr>
        <p:txBody>
          <a:bodyPr wrap="square" rtlCol="0" anchor="ctr"/>
          <a:lstStyle/>
          <a:p>
            <a:pPr marL="0" indent="0">
              <a:lnSpc>
                <a:spcPts val="1800"/>
              </a:lnSpc>
              <a:buNone/>
            </a:pPr>
            <a:r>
              <a:rPr lang="en-US" sz="1400" dirty="0">
                <a:solidFill>
                  <a:srgbClr val="E8E5DC"/>
                </a:solidFill>
                <a:latin typeface="Calibri" pitchFamily="34" charset="0"/>
                <a:ea typeface="Calibri" pitchFamily="34" charset="-122"/>
                <a:cs typeface="Calibri" pitchFamily="34" charset="-120"/>
              </a:rPr>
              <a:t>Rà soát pipeline bằng đo đạc thực tế (không suy đoán) tìm và sửa 3 lỗi thật, minh chứng giá trị kiểm chứng kỹ thuật độc lập.</a:t>
            </a:r>
            <a:endParaRPr lang="en-US" sz="1400" dirty="0"/>
          </a:p>
        </p:txBody>
      </p:sp>
      <p:sp>
        <p:nvSpPr>
          <p:cNvPr id="12" name="Shape 10"/>
          <p:cNvSpPr/>
          <p:nvPr/>
        </p:nvSpPr>
        <p:spPr>
          <a:xfrm>
            <a:off x="822960" y="5550408"/>
            <a:ext cx="128016" cy="128016"/>
          </a:xfrm>
          <a:prstGeom prst="ellipse">
            <a:avLst/>
          </a:prstGeom>
          <a:solidFill>
            <a:srgbClr val="B8863B"/>
          </a:solidFill>
          <a:ln/>
        </p:spPr>
      </p:sp>
      <p:sp>
        <p:nvSpPr>
          <p:cNvPr id="13" name="Text 11"/>
          <p:cNvSpPr/>
          <p:nvPr/>
        </p:nvSpPr>
        <p:spPr>
          <a:xfrm>
            <a:off x="1143000" y="5440680"/>
            <a:ext cx="10149840" cy="731520"/>
          </a:xfrm>
          <a:prstGeom prst="rect">
            <a:avLst/>
          </a:prstGeom>
          <a:noFill/>
          <a:ln/>
        </p:spPr>
        <p:txBody>
          <a:bodyPr wrap="square" rtlCol="0" anchor="ctr"/>
          <a:lstStyle/>
          <a:p>
            <a:pPr marL="0" indent="0">
              <a:lnSpc>
                <a:spcPts val="1800"/>
              </a:lnSpc>
              <a:buNone/>
            </a:pPr>
            <a:r>
              <a:rPr lang="en-US" sz="1400" dirty="0">
                <a:solidFill>
                  <a:srgbClr val="E8E5DC"/>
                </a:solidFill>
                <a:latin typeface="Calibri" pitchFamily="34" charset="0"/>
                <a:ea typeface="Calibri" pitchFamily="34" charset="-122"/>
                <a:cs typeface="Calibri" pitchFamily="34" charset="-120"/>
              </a:rPr>
              <a:t>Phân tích kiến trúc biểu diễn + không gian embedding gắn liền với kết quả truy hồi đo được, không chỉ mô tả lý thuyết suông.</a:t>
            </a:r>
            <a:endParaRPr lang="en-US" sz="1400" dirty="0"/>
          </a:p>
        </p:txBody>
      </p:sp>
      <p:sp>
        <p:nvSpPr>
          <p:cNvPr id="14" name="Text 12"/>
          <p:cNvSpPr/>
          <p:nvPr/>
        </p:nvSpPr>
        <p:spPr>
          <a:xfrm>
            <a:off x="11548872" y="6400800"/>
            <a:ext cx="365760" cy="274320"/>
          </a:xfrm>
          <a:prstGeom prst="rect">
            <a:avLst/>
          </a:prstGeom>
          <a:noFill/>
          <a:ln/>
        </p:spPr>
        <p:txBody>
          <a:bodyPr wrap="square" rtlCol="0" anchor="ctr"/>
          <a:lstStyle/>
          <a:p>
            <a:pPr marL="0" indent="0" algn="r">
              <a:buNone/>
            </a:pPr>
            <a:r>
              <a:rPr lang="en-US" sz="1000" dirty="0">
                <a:solidFill>
                  <a:srgbClr val="5B6672"/>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7212B"/>
        </a:solidFill>
        <a:effectLst/>
      </p:bgPr>
    </p:bg>
    <p:spTree>
      <p:nvGrpSpPr>
        <p:cNvPr id="1" name=""/>
        <p:cNvGrpSpPr/>
        <p:nvPr/>
      </p:nvGrpSpPr>
      <p:grpSpPr>
        <a:xfrm>
          <a:off x="0" y="0"/>
          <a:ext cx="0" cy="0"/>
          <a:chOff x="0" y="0"/>
          <a:chExt cx="0" cy="0"/>
        </a:xfrm>
      </p:grpSpPr>
      <p:sp>
        <p:nvSpPr>
          <p:cNvPr id="2" name="Text 0"/>
          <p:cNvSpPr/>
          <p:nvPr/>
        </p:nvSpPr>
        <p:spPr>
          <a:xfrm>
            <a:off x="822960" y="2651760"/>
            <a:ext cx="10515600" cy="914400"/>
          </a:xfrm>
          <a:prstGeom prst="rect">
            <a:avLst/>
          </a:prstGeom>
          <a:noFill/>
          <a:ln/>
        </p:spPr>
        <p:txBody>
          <a:bodyPr wrap="square"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Cảm ơn quý Thầy/Cô</a:t>
            </a:r>
            <a:endParaRPr lang="en-US" sz="4000" dirty="0"/>
          </a:p>
        </p:txBody>
      </p:sp>
      <p:sp>
        <p:nvSpPr>
          <p:cNvPr id="3" name="Text 1"/>
          <p:cNvSpPr/>
          <p:nvPr/>
        </p:nvSpPr>
        <p:spPr>
          <a:xfrm>
            <a:off x="822960" y="3520440"/>
            <a:ext cx="10515600" cy="640080"/>
          </a:xfrm>
          <a:prstGeom prst="rect">
            <a:avLst/>
          </a:prstGeom>
          <a:noFill/>
          <a:ln/>
        </p:spPr>
        <p:txBody>
          <a:bodyPr wrap="square" rtlCol="0" anchor="ctr"/>
          <a:lstStyle/>
          <a:p>
            <a:pPr marL="0" indent="0">
              <a:buNone/>
            </a:pPr>
            <a:r>
              <a:rPr lang="en-US" sz="2000" dirty="0">
                <a:solidFill>
                  <a:srgbClr val="2B6E62"/>
                </a:solidFill>
                <a:latin typeface="Calibri" pitchFamily="34" charset="0"/>
                <a:ea typeface="Calibri" pitchFamily="34" charset="-122"/>
                <a:cs typeface="Calibri" pitchFamily="34" charset="-120"/>
              </a:rPr>
              <a:t>Hỏi &amp; Đáp</a:t>
            </a:r>
            <a:endParaRPr lang="en-US" sz="2000" dirty="0"/>
          </a:p>
        </p:txBody>
      </p:sp>
      <p:sp>
        <p:nvSpPr>
          <p:cNvPr id="4" name="Shape 2"/>
          <p:cNvSpPr/>
          <p:nvPr/>
        </p:nvSpPr>
        <p:spPr>
          <a:xfrm>
            <a:off x="822960" y="4343400"/>
            <a:ext cx="2926080" cy="0"/>
          </a:xfrm>
          <a:prstGeom prst="line">
            <a:avLst/>
          </a:prstGeom>
          <a:noFill/>
          <a:ln w="31750">
            <a:solidFill>
              <a:srgbClr val="2B6E62"/>
            </a:solidFill>
            <a:prstDash val="solid"/>
          </a:ln>
        </p:spPr>
      </p:sp>
      <p:sp>
        <p:nvSpPr>
          <p:cNvPr id="5" name="Text 3"/>
          <p:cNvSpPr/>
          <p:nvPr/>
        </p:nvSpPr>
        <p:spPr>
          <a:xfrm>
            <a:off x="822960" y="4572000"/>
            <a:ext cx="10515600" cy="457200"/>
          </a:xfrm>
          <a:prstGeom prst="rect">
            <a:avLst/>
          </a:prstGeom>
          <a:noFill/>
          <a:ln/>
        </p:spPr>
        <p:txBody>
          <a:bodyPr wrap="square" rtlCol="0" anchor="ctr"/>
          <a:lstStyle/>
          <a:p>
            <a:pPr marL="0" indent="0">
              <a:buNone/>
            </a:pPr>
            <a:r>
              <a:rPr lang="en-US" sz="1400" dirty="0">
                <a:solidFill>
                  <a:srgbClr val="9FB0AB"/>
                </a:solidFill>
                <a:latin typeface="Calibri" pitchFamily="34" charset="0"/>
                <a:ea typeface="Calibri" pitchFamily="34" charset="-122"/>
                <a:cs typeface="Calibri" pitchFamily="34" charset="-120"/>
              </a:rPr>
              <a:t>Nguyễn Đình Đán  •  Nguyễn Văn Vũ  •  </a:t>
            </a:r>
            <a:r>
              <a:rPr lang="en-US" sz="1400" dirty="0" err="1">
                <a:solidFill>
                  <a:srgbClr val="9FB0AB"/>
                </a:solidFill>
                <a:latin typeface="Calibri" pitchFamily="34" charset="0"/>
                <a:ea typeface="Calibri" pitchFamily="34" charset="-122"/>
                <a:cs typeface="Calibri" pitchFamily="34" charset="-120"/>
              </a:rPr>
              <a:t>Trần</a:t>
            </a:r>
            <a:r>
              <a:rPr lang="en-US" sz="1400" dirty="0">
                <a:solidFill>
                  <a:srgbClr val="9FB0AB"/>
                </a:solidFill>
                <a:latin typeface="Calibri" pitchFamily="34" charset="0"/>
                <a:ea typeface="Calibri" pitchFamily="34" charset="-122"/>
                <a:cs typeface="Calibri" pitchFamily="34" charset="-120"/>
              </a:rPr>
              <a:t> Việt Hoa  •  Hoàng Xuân Sơn  •  Nguyễn Thái Thịnh</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2242</Words>
  <Application>Microsoft Office PowerPoint</Application>
  <PresentationFormat>Widescreen</PresentationFormat>
  <Paragraphs>219</Paragraphs>
  <Slides>17</Slides>
  <Notes>17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Admin</cp:lastModifiedBy>
  <cp:revision>2</cp:revision>
  <dcterms:created xsi:type="dcterms:W3CDTF">2026-08-08T17:22:44Z</dcterms:created>
  <dcterms:modified xsi:type="dcterms:W3CDTF">2026-08-08T17:34:37Z</dcterms:modified>
</cp:coreProperties>
</file>