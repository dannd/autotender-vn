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12B"/>
                </a:solidFill>
                <a:latin typeface="Arial"/>
              </a:defRPr>
            </a:pPr>
            <a:r>
              <a:rPr sz="1300" b="0" i="0" u="none" strike="noStrike">
                <a:solidFill>
                  <a:srgbClr val="17212B"/>
                </a:solidFill>
                <a:latin typeface="Arial"/>
              </a:rPr>
              <a:t>Độ tách biệt không gian embedding</a:t>
            </a:r>
          </a:p>
        </c:rich>
      </c:tx>
      <c:layout/>
      <c:overlay val="0"/>
    </c:title>
    <c:autoTitleDeleted val="0"/>
    <c:plotArea>
      <c:layout/>
      <c:barChart>
        <c:barDir val="col"/>
        <c:grouping val="clustered"/>
        <c:varyColors val="0"/>
        <c:ser>
          <c:idx val="0"/>
          <c:order val="0"/>
          <c:tx>
            <c:strRef>
              <c:f>Sheet1!$B$1</c:f>
              <c:strCache>
                <c:ptCount val="1"/>
                <c:pt idx="0">
                  <c:v>Độ tách biệt (intra − inter)</c:v>
                </c:pt>
              </c:strCache>
            </c:strRef>
          </c:tx>
          <c:spPr>
            <a:solidFill>
              <a:srgbClr val="2B6E62"/>
            </a:solidFill>
            <a:effectLst/>
          </c:spPr>
          <c:invertIfNegative val="0"/>
          <c:dLbls>
            <c:numFmt formatCode="0.0000" sourceLinked="0"/>
            <c:txPr>
              <a:bodyPr/>
              <a:lstStyle/>
              <a:p>
                <a:pPr>
                  <a:defRPr b="0" i="0" strike="noStrike" sz="1200" u="none">
                    <a:solidFill>
                      <a:srgbClr val="17212B"/>
                    </a:solidFill>
                    <a:latin typeface="Arial"/>
                  </a:defRPr>
                </a:pPr>
              </a:p>
            </c:txPr>
            <c:showLegendKey val="0"/>
            <c:showVal val="1"/>
            <c:showCatName val="0"/>
            <c:showSerName val="0"/>
            <c:showPercent val="0"/>
            <c:showBubbleSize val="0"/>
            <c:showLeaderLines val="0"/>
          </c:dLbls>
          <c:cat>
            <c:multiLvlStrRef>
              <c:f>Sheet1!$A$2:$A$3</c:f>
              <c:multiLvlStrCache>
                <c:ptCount val="2"/>
                <c:lvl>
                  <c:pt idx="0">
                    <c:v>vi_bi_encoder
(768d, SimCSE tiếng Việt)</c:v>
                  </c:pt>
                  <c:pt idx="1">
                    <c:v>multilingual_minilm
(384d, đa ngôn ngữ)</c:v>
                  </c:pt>
                </c:lvl>
              </c:multiLvlStrCache>
            </c:multiLvlStrRef>
          </c:cat>
          <c:val>
            <c:numRef>
              <c:f>Sheet1!$B$2:$B$3</c:f>
              <c:numCache>
                <c:formatCode>General</c:formatCode>
                <c:ptCount val="2"/>
                <c:pt idx="0">
                  <c:v>0.1836</c:v>
                </c:pt>
                <c:pt idx="1">
                  <c:v>0.1674</c:v>
                </c:pt>
              </c:numCache>
            </c:numRef>
          </c:val>
        </c:ser>
        <c:dLbls>
          <c:numFmt formatCode="0.0000" sourceLinked="0"/>
          <c:txPr>
            <a:bodyPr/>
            <a:lstStyle/>
            <a:p>
              <a:pPr>
                <a:defRPr b="0" i="0" strike="noStrike" sz="1200" u="none">
                  <a:solidFill>
                    <a:srgbClr val="17212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6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9D4C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Recall@5</c:v>
                </c:pt>
              </c:strCache>
            </c:strRef>
          </c:tx>
          <c:spPr>
            <a:solidFill>
              <a:srgbClr val="5B6672"/>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Sheet1!$B$2:$B$5</c:f>
              <c:numCache>
                <c:formatCode>General</c:formatCode>
                <c:ptCount val="4"/>
                <c:pt idx="0">
                  <c:v>0.565</c:v>
                </c:pt>
                <c:pt idx="1">
                  <c:v>0.696</c:v>
                </c:pt>
                <c:pt idx="2">
                  <c:v>0.674</c:v>
                </c:pt>
                <c:pt idx="3">
                  <c:v>0.761</c:v>
                </c:pt>
              </c:numCache>
            </c:numRef>
          </c:val>
        </c:ser>
        <c:ser>
          <c:idx val="1"/>
          <c:order val="1"/>
          <c:tx>
            <c:strRef>
              <c:f>Sheet1!$C$1</c:f>
              <c:strCache>
                <c:ptCount val="1"/>
                <c:pt idx="0">
                  <c:v>MRR</c:v>
                </c:pt>
              </c:strCache>
            </c:strRef>
          </c:tx>
          <c:spPr>
            <a:solidFill>
              <a:srgbClr val="2B6E62"/>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Sheet1!$C$2:$C$5</c:f>
              <c:numCache>
                <c:formatCode>General</c:formatCode>
                <c:ptCount val="4"/>
                <c:pt idx="0">
                  <c:v>0.385</c:v>
                </c:pt>
                <c:pt idx="1">
                  <c:v>0.546</c:v>
                </c:pt>
                <c:pt idx="2">
                  <c:v>0.537</c:v>
                </c:pt>
                <c:pt idx="3">
                  <c:v>0.587</c:v>
                </c:pt>
              </c:numCache>
            </c:numRef>
          </c:val>
        </c:ser>
        <c:ser>
          <c:idx val="2"/>
          <c:order val="2"/>
          <c:tx>
            <c:strRef>
              <c:f>Sheet1!$D$1</c:f>
              <c:strCache>
                <c:ptCount val="1"/>
                <c:pt idx="0">
                  <c:v>nDCG@5</c:v>
                </c:pt>
              </c:strCache>
            </c:strRef>
          </c:tx>
          <c:spPr>
            <a:solidFill>
              <a:srgbClr val="B8863B"/>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Sheet1!$D$2:$D$5</c:f>
              <c:numCache>
                <c:formatCode>General</c:formatCode>
                <c:ptCount val="4"/>
                <c:pt idx="0">
                  <c:v>0.426</c:v>
                </c:pt>
                <c:pt idx="1">
                  <c:v>0.58</c:v>
                </c:pt>
                <c:pt idx="2">
                  <c:v>0.564</c:v>
                </c:pt>
                <c:pt idx="3">
                  <c:v>0.627</c:v>
                </c:pt>
              </c:numCache>
            </c:numRef>
          </c:val>
        </c:ser>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17212B"/>
                </a:solidFill>
                <a:latin typeface="Arial"/>
              </a:defRPr>
            </a:pPr>
            <a:endParaRPr lang="en-US"/>
          </a:p>
        </c:txPr>
        <c:crossAx val="2094734552"/>
        <c:crosses val="autoZero"/>
        <c:auto val="1"/>
        <c:lblAlgn val="ctr"/>
        <c:noMultiLvlLbl val="1"/>
      </c:catAx>
      <c:valAx>
        <c:axId val="2094734552"/>
        <c:scaling>
          <c:orientation val="minMax"/>
          <c:max val="0.9"/>
        </c:scaling>
        <c:delete val="0"/>
        <c:axPos val="l"/>
        <c:majorGridlines>
          <c:spPr>
            <a:ln w="9525" cap="flat">
              <a:solidFill>
                <a:srgbClr val="D9D4C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7212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22960" y="1371600"/>
            <a:ext cx="10515600" cy="365760"/>
          </a:xfrm>
          <a:prstGeom prst="rect">
            <a:avLst/>
          </a:prstGeom>
          <a:noFill/>
          <a:ln/>
        </p:spPr>
        <p:txBody>
          <a:bodyPr wrap="square" rtlCol="0" anchor="ctr"/>
          <a:lstStyle/>
          <a:p>
            <a:pPr indent="0" marL="0">
              <a:buNone/>
            </a:pPr>
            <a:r>
              <a:rPr lang="en-US" sz="1300" b="1" spc="200" kern="0" dirty="0">
                <a:solidFill>
                  <a:srgbClr val="2B6E62"/>
                </a:solidFill>
                <a:latin typeface="Calibri" pitchFamily="34" charset="0"/>
                <a:ea typeface="Calibri" pitchFamily="34" charset="-122"/>
                <a:cs typeface="Calibri" pitchFamily="34" charset="-120"/>
              </a:rPr>
              <a:t>ĐỒ ÁN CUỐI MÔN · DEEP LEARNING · BẬC THẠC SĨ</a:t>
            </a:r>
            <a:endParaRPr lang="en-US" sz="1300" dirty="0"/>
          </a:p>
        </p:txBody>
      </p:sp>
      <p:sp>
        <p:nvSpPr>
          <p:cNvPr id="3" name="Text 1"/>
          <p:cNvSpPr/>
          <p:nvPr/>
        </p:nvSpPr>
        <p:spPr>
          <a:xfrm>
            <a:off x="822960" y="1783080"/>
            <a:ext cx="105156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AutoTender-VN</a:t>
            </a:r>
            <a:endParaRPr lang="en-US" sz="5400" dirty="0"/>
          </a:p>
        </p:txBody>
      </p:sp>
      <p:sp>
        <p:nvSpPr>
          <p:cNvPr id="4" name="Text 2"/>
          <p:cNvSpPr/>
          <p:nvPr/>
        </p:nvSpPr>
        <p:spPr>
          <a:xfrm>
            <a:off x="822960" y="2880360"/>
            <a:ext cx="9875520" cy="1005840"/>
          </a:xfrm>
          <a:prstGeom prst="rect">
            <a:avLst/>
          </a:prstGeom>
          <a:noFill/>
          <a:ln/>
        </p:spPr>
        <p:txBody>
          <a:bodyPr wrap="square" rtlCol="0" anchor="ctr"/>
          <a:lstStyle/>
          <a:p>
            <a:pPr indent="0" marL="0">
              <a:lnSpc>
                <a:spcPts val="2600"/>
              </a:lnSpc>
              <a:buNone/>
            </a:pPr>
            <a:r>
              <a:rPr lang="en-US" sz="1900" dirty="0">
                <a:solidFill>
                  <a:srgbClr val="CFE0DC"/>
                </a:solidFill>
                <a:latin typeface="Calibri" pitchFamily="34" charset="0"/>
                <a:ea typeface="Calibri" pitchFamily="34" charset="-122"/>
                <a:cs typeface="Calibri" pitchFamily="34" charset="-120"/>
              </a:rPr>
              <a:t>Hệ thống RAG hỗ trợ soạn thảo Hồ sơ mời thầu Công nghệ thông tin</a:t>
            </a:r>
            <a:endParaRPr lang="en-US" sz="1900" dirty="0"/>
          </a:p>
          <a:p>
            <a:pPr indent="0" marL="0">
              <a:lnSpc>
                <a:spcPts val="2600"/>
              </a:lnSpc>
              <a:buNone/>
            </a:pPr>
            <a:r>
              <a:rPr lang="en-US" sz="1900" dirty="0">
                <a:solidFill>
                  <a:srgbClr val="CFE0DC"/>
                </a:solidFill>
                <a:latin typeface="Calibri" pitchFamily="34" charset="0"/>
                <a:ea typeface="Calibri" pitchFamily="34" charset="-122"/>
                <a:cs typeface="Calibri" pitchFamily="34" charset="-120"/>
              </a:rPr>
              <a:t>dựa trên Kho tri thức Pháp luật Đấu thầu Việt Nam</a:t>
            </a:r>
            <a:endParaRPr lang="en-US" sz="1900" dirty="0"/>
          </a:p>
        </p:txBody>
      </p:sp>
      <p:sp>
        <p:nvSpPr>
          <p:cNvPr id="5" name="Shape 3"/>
          <p:cNvSpPr/>
          <p:nvPr/>
        </p:nvSpPr>
        <p:spPr>
          <a:xfrm>
            <a:off x="822960" y="4160520"/>
            <a:ext cx="2926080" cy="0"/>
          </a:xfrm>
          <a:prstGeom prst="line">
            <a:avLst/>
          </a:prstGeom>
          <a:noFill/>
          <a:ln w="31750">
            <a:solidFill>
              <a:srgbClr val="2B6E62"/>
            </a:solidFill>
            <a:prstDash val="solid"/>
          </a:ln>
        </p:spPr>
      </p:sp>
      <p:sp>
        <p:nvSpPr>
          <p:cNvPr id="6" name="Text 4"/>
          <p:cNvSpPr/>
          <p:nvPr/>
        </p:nvSpPr>
        <p:spPr>
          <a:xfrm>
            <a:off x="822960" y="4434840"/>
            <a:ext cx="10515600" cy="45720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Nguyễn Đình Đán  •  Nguyễn Văn Vũ  •  Triệu Việt Hoa  •  Hoàng Xuân Sơn  •  Nguyễn Thái Thịnh</a:t>
            </a:r>
            <a:endParaRPr lang="en-US" sz="1500" dirty="0"/>
          </a:p>
        </p:txBody>
      </p:sp>
      <p:sp>
        <p:nvSpPr>
          <p:cNvPr id="7" name="Text 5"/>
          <p:cNvSpPr/>
          <p:nvPr/>
        </p:nvSpPr>
        <p:spPr>
          <a:xfrm>
            <a:off x="822960" y="4846320"/>
            <a:ext cx="10515600" cy="365760"/>
          </a:xfrm>
          <a:prstGeom prst="rect">
            <a:avLst/>
          </a:prstGeom>
          <a:noFill/>
          <a:ln/>
        </p:spPr>
        <p:txBody>
          <a:bodyPr wrap="square" rtlCol="0" anchor="ctr"/>
          <a:lstStyle/>
          <a:p>
            <a:pPr indent="0" marL="0">
              <a:buNone/>
            </a:pPr>
            <a:r>
              <a:rPr lang="en-US" sz="1300" i="1" dirty="0">
                <a:solidFill>
                  <a:srgbClr val="9FB0AB"/>
                </a:solidFill>
                <a:latin typeface="Calibri" pitchFamily="34" charset="0"/>
                <a:ea typeface="Calibri" pitchFamily="34" charset="-122"/>
                <a:cs typeface="Calibri" pitchFamily="34" charset="-120"/>
              </a:rPr>
              <a:t>Trường Kinh doanh FSB, Đại học FPT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VẤN ĐỀ &amp; ĐỘNG LỰC</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Soạn HSMT đúng luật là việc chậm, rủi ro, và khó tự động hoá an toàn</a:t>
            </a:r>
            <a:endParaRPr lang="en-US" sz="3200" dirty="0"/>
          </a:p>
        </p:txBody>
      </p:sp>
      <p:sp>
        <p:nvSpPr>
          <p:cNvPr id="4" name="Shape 2"/>
          <p:cNvSpPr/>
          <p:nvPr/>
        </p:nvSpPr>
        <p:spPr>
          <a:xfrm>
            <a:off x="54864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5" name="Shape 3"/>
          <p:cNvSpPr/>
          <p:nvPr/>
        </p:nvSpPr>
        <p:spPr>
          <a:xfrm>
            <a:off x="868680" y="2468880"/>
            <a:ext cx="548640" cy="548640"/>
          </a:xfrm>
          <a:prstGeom prst="ellipse">
            <a:avLst/>
          </a:prstGeom>
          <a:solidFill>
            <a:srgbClr val="2B6E62"/>
          </a:solidFill>
          <a:ln/>
        </p:spPr>
      </p:sp>
      <p:sp>
        <p:nvSpPr>
          <p:cNvPr id="6" name="Text 4"/>
          <p:cNvSpPr/>
          <p:nvPr/>
        </p:nvSpPr>
        <p:spPr>
          <a:xfrm>
            <a:off x="86868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86868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Pháp luật thay đổi liên tục</a:t>
            </a:r>
            <a:endParaRPr lang="en-US" sz="1700" dirty="0"/>
          </a:p>
        </p:txBody>
      </p:sp>
      <p:sp>
        <p:nvSpPr>
          <p:cNvPr id="8" name="Text 6"/>
          <p:cNvSpPr/>
          <p:nvPr/>
        </p:nvSpPr>
        <p:spPr>
          <a:xfrm>
            <a:off x="86868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Luật gốc + 2 luật sửa đổi + nghị định + thông tư — người soạn phải đối chiếu nhiều văn bản cùng lúc.</a:t>
            </a:r>
            <a:endParaRPr lang="en-US" sz="1250" dirty="0"/>
          </a:p>
        </p:txBody>
      </p:sp>
      <p:sp>
        <p:nvSpPr>
          <p:cNvPr id="9" name="Shape 7"/>
          <p:cNvSpPr/>
          <p:nvPr/>
        </p:nvSpPr>
        <p:spPr>
          <a:xfrm>
            <a:off x="438912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10" name="Shape 8"/>
          <p:cNvSpPr/>
          <p:nvPr/>
        </p:nvSpPr>
        <p:spPr>
          <a:xfrm>
            <a:off x="4709160" y="2468880"/>
            <a:ext cx="548640" cy="548640"/>
          </a:xfrm>
          <a:prstGeom prst="ellipse">
            <a:avLst/>
          </a:prstGeom>
          <a:solidFill>
            <a:srgbClr val="2B6E62"/>
          </a:solidFill>
          <a:ln/>
        </p:spPr>
      </p:sp>
      <p:sp>
        <p:nvSpPr>
          <p:cNvPr id="11" name="Text 9"/>
          <p:cNvSpPr/>
          <p:nvPr/>
        </p:nvSpPr>
        <p:spPr>
          <a:xfrm>
            <a:off x="470916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470916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Sai sót có hậu quả pháp lý</a:t>
            </a:r>
            <a:endParaRPr lang="en-US" sz="1700" dirty="0"/>
          </a:p>
        </p:txBody>
      </p:sp>
      <p:sp>
        <p:nvSpPr>
          <p:cNvPr id="13" name="Text 11"/>
          <p:cNvSpPr/>
          <p:nvPr/>
        </p:nvSpPr>
        <p:spPr>
          <a:xfrm>
            <a:off x="470916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Trích dẫn sai điều khoản hoặc dùng văn bản hết hiệu lực không đơn thuần là lỗi văn bản.</a:t>
            </a:r>
            <a:endParaRPr lang="en-US" sz="1250" dirty="0"/>
          </a:p>
        </p:txBody>
      </p:sp>
      <p:sp>
        <p:nvSpPr>
          <p:cNvPr id="14" name="Shape 12"/>
          <p:cNvSpPr/>
          <p:nvPr/>
        </p:nvSpPr>
        <p:spPr>
          <a:xfrm>
            <a:off x="822960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15" name="Shape 13"/>
          <p:cNvSpPr/>
          <p:nvPr/>
        </p:nvSpPr>
        <p:spPr>
          <a:xfrm>
            <a:off x="8549640" y="2468880"/>
            <a:ext cx="548640" cy="548640"/>
          </a:xfrm>
          <a:prstGeom prst="ellipse">
            <a:avLst/>
          </a:prstGeom>
          <a:solidFill>
            <a:srgbClr val="2B6E62"/>
          </a:solidFill>
          <a:ln/>
        </p:spPr>
      </p:sp>
      <p:sp>
        <p:nvSpPr>
          <p:cNvPr id="16" name="Text 14"/>
          <p:cNvSpPr/>
          <p:nvPr/>
        </p:nvSpPr>
        <p:spPr>
          <a:xfrm>
            <a:off x="854964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854964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Gọi thẳng LLM không đủ an toàn</a:t>
            </a:r>
            <a:endParaRPr lang="en-US" sz="1700" dirty="0"/>
          </a:p>
        </p:txBody>
      </p:sp>
      <p:sp>
        <p:nvSpPr>
          <p:cNvPr id="18" name="Text 16"/>
          <p:cNvSpPr/>
          <p:nvPr/>
        </p:nvSpPr>
        <p:spPr>
          <a:xfrm>
            <a:off x="854964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Mô hình ngôn ngữ có thể “ảo giác” — tự bịa điều khoản nghe hợp lý nhưng không có thật.</a:t>
            </a:r>
            <a:endParaRPr lang="en-US" sz="1250" dirty="0"/>
          </a:p>
        </p:txBody>
      </p:sp>
      <p:sp>
        <p:nvSpPr>
          <p:cNvPr id="19" name="Text 17"/>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HƯỚNG TIẾP CẬN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RAG: buộc mô hình tra cứu văn bản thật trước khi trả lời</a:t>
            </a:r>
            <a:endParaRPr lang="en-US" sz="3200" dirty="0"/>
          </a:p>
        </p:txBody>
      </p:sp>
      <p:sp>
        <p:nvSpPr>
          <p:cNvPr id="4" name="Shape 2"/>
          <p:cNvSpPr/>
          <p:nvPr/>
        </p:nvSpPr>
        <p:spPr>
          <a:xfrm>
            <a:off x="548640" y="2148840"/>
            <a:ext cx="5486400" cy="3977640"/>
          </a:xfrm>
          <a:prstGeom prst="roundRect">
            <a:avLst>
              <a:gd name="adj" fmla="val 1839"/>
            </a:avLst>
          </a:prstGeom>
          <a:solidFill>
            <a:srgbClr val="E4EEEC"/>
          </a:solidFill>
          <a:ln/>
          <a:effectLst>
            <a:outerShdw sx="100000" sy="100000" kx="0" ky="0" algn="bl" rotWithShape="0" blurRad="76200" dist="25400" dir="5400000">
              <a:srgbClr val="000000">
                <a:alpha val="12000"/>
              </a:srgbClr>
            </a:outerShdw>
          </a:effectLst>
        </p:spPr>
      </p:sp>
      <p:sp>
        <p:nvSpPr>
          <p:cNvPr id="5" name="Text 3"/>
          <p:cNvSpPr/>
          <p:nvPr/>
        </p:nvSpPr>
        <p:spPr>
          <a:xfrm>
            <a:off x="914400" y="2468880"/>
            <a:ext cx="4754880" cy="502920"/>
          </a:xfrm>
          <a:prstGeom prst="rect">
            <a:avLst/>
          </a:prstGeom>
          <a:noFill/>
          <a:ln/>
        </p:spPr>
        <p:txBody>
          <a:bodyPr wrap="square" rtlCol="0" anchor="ctr"/>
          <a:lstStyle/>
          <a:p>
            <a:pPr indent="0" marL="0">
              <a:buNone/>
            </a:pPr>
            <a:r>
              <a:rPr lang="en-US" sz="1800" b="1" dirty="0">
                <a:solidFill>
                  <a:srgbClr val="2B6E62"/>
                </a:solidFill>
                <a:latin typeface="Cambria" pitchFamily="34" charset="0"/>
                <a:ea typeface="Cambria" pitchFamily="34" charset="-122"/>
                <a:cs typeface="Cambria" pitchFamily="34" charset="-120"/>
              </a:rPr>
              <a:t>Thi mở sách, không phải thi đóng sách</a:t>
            </a:r>
            <a:endParaRPr lang="en-US" sz="1800" dirty="0"/>
          </a:p>
        </p:txBody>
      </p:sp>
      <p:sp>
        <p:nvSpPr>
          <p:cNvPr id="6" name="Text 4"/>
          <p:cNvSpPr/>
          <p:nvPr/>
        </p:nvSpPr>
        <p:spPr>
          <a:xfrm>
            <a:off x="914400" y="3063240"/>
            <a:ext cx="4754880" cy="1828800"/>
          </a:xfrm>
          <a:prstGeom prst="rect">
            <a:avLst/>
          </a:prstGeom>
          <a:noFill/>
          <a:ln/>
        </p:spPr>
        <p:txBody>
          <a:bodyPr wrap="square" rtlCol="0" anchor="ctr"/>
          <a:lstStyle/>
          <a:p>
            <a:pPr indent="0" marL="0">
              <a:lnSpc>
                <a:spcPts val="1900"/>
              </a:lnSpc>
              <a:buNone/>
            </a:pPr>
            <a:r>
              <a:rPr lang="en-US" sz="1350" dirty="0">
                <a:solidFill>
                  <a:srgbClr val="17212B"/>
                </a:solidFill>
                <a:latin typeface="Calibri" pitchFamily="34" charset="0"/>
                <a:ea typeface="Calibri" pitchFamily="34" charset="-122"/>
                <a:cs typeface="Calibri" pitchFamily="34" charset="-120"/>
              </a:rPr>
              <a:t>LLM có tri thức cố định tại thời điểm huấn luyện — không biết điều luật ban hành sau đó, dễ “bịa” khi thiếu căn cứ. RAG chèn đúng đoạn luật liên quan vào ngữ cảnh trước khi mô hình soạn câu trả lời, và bắt buộc trích dẫn nguồn cho mọi khẳng định.</a:t>
            </a:r>
            <a:endParaRPr lang="en-US" sz="1350" dirty="0"/>
          </a:p>
        </p:txBody>
      </p:sp>
      <p:sp>
        <p:nvSpPr>
          <p:cNvPr id="7" name="Text 5"/>
          <p:cNvSpPr/>
          <p:nvPr/>
        </p:nvSpPr>
        <p:spPr>
          <a:xfrm>
            <a:off x="914400" y="5029200"/>
            <a:ext cx="4754880" cy="822960"/>
          </a:xfrm>
          <a:prstGeom prst="rect">
            <a:avLst/>
          </a:prstGeom>
          <a:noFill/>
          <a:ln/>
        </p:spPr>
        <p:txBody>
          <a:bodyPr wrap="square" rtlCol="0" anchor="ctr"/>
          <a:lstStyle/>
          <a:p>
            <a:pPr indent="0" marL="0">
              <a:buNone/>
            </a:pPr>
            <a:r>
              <a:rPr lang="en-US" sz="1200" i="1" dirty="0">
                <a:solidFill>
                  <a:srgbClr val="2B6E62"/>
                </a:solidFill>
                <a:latin typeface="Calibri" pitchFamily="34" charset="0"/>
                <a:ea typeface="Calibri" pitchFamily="34" charset="-122"/>
                <a:cs typeface="Calibri" pitchFamily="34" charset="-120"/>
              </a:rPr>
              <a:t>Không sinh trọn bộ HSMT bằng 1 prompt — hệ thống là trợ lý soạn từng mục, có căn cứ.</a:t>
            </a:r>
            <a:endParaRPr lang="en-US" sz="1200" dirty="0"/>
          </a:p>
        </p:txBody>
      </p:sp>
      <p:sp>
        <p:nvSpPr>
          <p:cNvPr id="8" name="Shape 6"/>
          <p:cNvSpPr/>
          <p:nvPr/>
        </p:nvSpPr>
        <p:spPr>
          <a:xfrm>
            <a:off x="6400800" y="21488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9" name="Shape 7"/>
          <p:cNvSpPr/>
          <p:nvPr/>
        </p:nvSpPr>
        <p:spPr>
          <a:xfrm>
            <a:off x="6675120" y="2404872"/>
            <a:ext cx="594360" cy="594360"/>
          </a:xfrm>
          <a:prstGeom prst="ellipse">
            <a:avLst/>
          </a:prstGeom>
          <a:solidFill>
            <a:srgbClr val="B8863B"/>
          </a:solidFill>
          <a:ln/>
        </p:spPr>
      </p:sp>
      <p:sp>
        <p:nvSpPr>
          <p:cNvPr id="10" name="Text 8"/>
          <p:cNvSpPr/>
          <p:nvPr/>
        </p:nvSpPr>
        <p:spPr>
          <a:xfrm>
            <a:off x="6675120" y="24048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1" name="Text 9"/>
          <p:cNvSpPr/>
          <p:nvPr/>
        </p:nvSpPr>
        <p:spPr>
          <a:xfrm>
            <a:off x="7452360" y="22677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Retrieval</a:t>
            </a:r>
            <a:endParaRPr lang="en-US" sz="1500" dirty="0"/>
          </a:p>
        </p:txBody>
      </p:sp>
      <p:sp>
        <p:nvSpPr>
          <p:cNvPr id="12" name="Text 10"/>
          <p:cNvSpPr/>
          <p:nvPr/>
        </p:nvSpPr>
        <p:spPr>
          <a:xfrm>
            <a:off x="7452360" y="26334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Tìm đoạn luật liên quan nhất bằng so khớp ngữ nghĩa + từ khoá</a:t>
            </a:r>
            <a:endParaRPr lang="en-US" sz="1150" dirty="0"/>
          </a:p>
        </p:txBody>
      </p:sp>
      <p:sp>
        <p:nvSpPr>
          <p:cNvPr id="13" name="Shape 11"/>
          <p:cNvSpPr/>
          <p:nvPr/>
        </p:nvSpPr>
        <p:spPr>
          <a:xfrm>
            <a:off x="6400800" y="35204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4" name="Shape 12"/>
          <p:cNvSpPr/>
          <p:nvPr/>
        </p:nvSpPr>
        <p:spPr>
          <a:xfrm>
            <a:off x="6675120" y="3776472"/>
            <a:ext cx="594360" cy="594360"/>
          </a:xfrm>
          <a:prstGeom prst="ellipse">
            <a:avLst/>
          </a:prstGeom>
          <a:solidFill>
            <a:srgbClr val="B8863B"/>
          </a:solidFill>
          <a:ln/>
        </p:spPr>
      </p:sp>
      <p:sp>
        <p:nvSpPr>
          <p:cNvPr id="15" name="Text 13"/>
          <p:cNvSpPr/>
          <p:nvPr/>
        </p:nvSpPr>
        <p:spPr>
          <a:xfrm>
            <a:off x="6675120" y="37764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4"/>
          <p:cNvSpPr/>
          <p:nvPr/>
        </p:nvSpPr>
        <p:spPr>
          <a:xfrm>
            <a:off x="7452360" y="36393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Augmentation</a:t>
            </a:r>
            <a:endParaRPr lang="en-US" sz="1500" dirty="0"/>
          </a:p>
        </p:txBody>
      </p:sp>
      <p:sp>
        <p:nvSpPr>
          <p:cNvPr id="17" name="Text 15"/>
          <p:cNvSpPr/>
          <p:nvPr/>
        </p:nvSpPr>
        <p:spPr>
          <a:xfrm>
            <a:off x="7452360" y="40050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Nhét các đoạn tìm được vào prompt làm ngữ cảnh</a:t>
            </a:r>
            <a:endParaRPr lang="en-US" sz="1150" dirty="0"/>
          </a:p>
        </p:txBody>
      </p:sp>
      <p:sp>
        <p:nvSpPr>
          <p:cNvPr id="18" name="Shape 16"/>
          <p:cNvSpPr/>
          <p:nvPr/>
        </p:nvSpPr>
        <p:spPr>
          <a:xfrm>
            <a:off x="6400800" y="48920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9" name="Shape 17"/>
          <p:cNvSpPr/>
          <p:nvPr/>
        </p:nvSpPr>
        <p:spPr>
          <a:xfrm>
            <a:off x="6675120" y="5148072"/>
            <a:ext cx="594360" cy="594360"/>
          </a:xfrm>
          <a:prstGeom prst="ellipse">
            <a:avLst/>
          </a:prstGeom>
          <a:solidFill>
            <a:srgbClr val="B8863B"/>
          </a:solidFill>
          <a:ln/>
        </p:spPr>
      </p:sp>
      <p:sp>
        <p:nvSpPr>
          <p:cNvPr id="20" name="Text 18"/>
          <p:cNvSpPr/>
          <p:nvPr/>
        </p:nvSpPr>
        <p:spPr>
          <a:xfrm>
            <a:off x="6675120" y="51480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9"/>
          <p:cNvSpPr/>
          <p:nvPr/>
        </p:nvSpPr>
        <p:spPr>
          <a:xfrm>
            <a:off x="7452360" y="50109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Generation</a:t>
            </a:r>
            <a:endParaRPr lang="en-US" sz="1500" dirty="0"/>
          </a:p>
        </p:txBody>
      </p:sp>
      <p:sp>
        <p:nvSpPr>
          <p:cNvPr id="22" name="Text 20"/>
          <p:cNvSpPr/>
          <p:nvPr/>
        </p:nvSpPr>
        <p:spPr>
          <a:xfrm>
            <a:off x="7452360" y="53766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LLM soạn câu trả lời dựa trên ngữ cảnh, kèm trích dẫn nguồn</a:t>
            </a:r>
            <a:endParaRPr lang="en-US" sz="1150" dirty="0"/>
          </a:p>
        </p:txBody>
      </p:sp>
      <p:sp>
        <p:nvSpPr>
          <p:cNvPr id="23" name="Text 21"/>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KIẾN TRÚC HỆ THỐNG — OFFLINE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Dựng kho tri thức: 5 văn bản luật thật, 326 Điều, 684 đoạn</a:t>
            </a:r>
            <a:endParaRPr lang="en-US" sz="3200" dirty="0"/>
          </a:p>
        </p:txBody>
      </p:sp>
      <p:sp>
        <p:nvSpPr>
          <p:cNvPr id="4" name="Shape 2"/>
          <p:cNvSpPr/>
          <p:nvPr/>
        </p:nvSpPr>
        <p:spPr>
          <a:xfrm>
            <a:off x="640080" y="2286000"/>
            <a:ext cx="2468880" cy="1371600"/>
          </a:xfrm>
          <a:prstGeom prst="roundRect">
            <a:avLst>
              <a:gd name="adj" fmla="val 5333"/>
            </a:avLst>
          </a:prstGeom>
          <a:solidFill>
            <a:srgbClr val="17212B"/>
          </a:solidFill>
          <a:ln/>
          <a:effectLst>
            <a:outerShdw sx="100000" sy="100000" kx="0" ky="0" algn="bl" rotWithShape="0" blurRad="76200" dist="25400" dir="5400000">
              <a:srgbClr val="000000">
                <a:alpha val="12000"/>
              </a:srgbClr>
            </a:outerShdw>
          </a:effectLst>
        </p:spPr>
      </p:sp>
      <p:sp>
        <p:nvSpPr>
          <p:cNvPr id="5" name="Text 3"/>
          <p:cNvSpPr/>
          <p:nvPr/>
        </p:nvSpPr>
        <p:spPr>
          <a:xfrm>
            <a:off x="7772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Kho tri thức</a:t>
            </a:r>
            <a:endParaRPr lang="en-US" sz="1350" dirty="0"/>
          </a:p>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(5 văn bản luật thật)</a:t>
            </a:r>
            <a:endParaRPr lang="en-US" sz="1350" dirty="0"/>
          </a:p>
        </p:txBody>
      </p:sp>
      <p:sp>
        <p:nvSpPr>
          <p:cNvPr id="6" name="Shape 4"/>
          <p:cNvSpPr/>
          <p:nvPr/>
        </p:nvSpPr>
        <p:spPr>
          <a:xfrm>
            <a:off x="3182112" y="2834640"/>
            <a:ext cx="356616" cy="274320"/>
          </a:xfrm>
          <a:prstGeom prst="rightArrow">
            <a:avLst/>
          </a:prstGeom>
          <a:solidFill>
            <a:srgbClr val="B8863B"/>
          </a:solidFill>
          <a:ln/>
        </p:spPr>
      </p:sp>
      <p:sp>
        <p:nvSpPr>
          <p:cNvPr id="7" name="Shape 5"/>
          <p:cNvSpPr/>
          <p:nvPr/>
        </p:nvSpPr>
        <p:spPr>
          <a:xfrm>
            <a:off x="36118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8" name="Text 6"/>
          <p:cNvSpPr/>
          <p:nvPr/>
        </p:nvSpPr>
        <p:spPr>
          <a:xfrm>
            <a:off x="37490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Chunk</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theo Điều/Khoản</a:t>
            </a:r>
            <a:endParaRPr lang="en-US" sz="1350" dirty="0"/>
          </a:p>
        </p:txBody>
      </p:sp>
      <p:sp>
        <p:nvSpPr>
          <p:cNvPr id="9" name="Shape 7"/>
          <p:cNvSpPr/>
          <p:nvPr/>
        </p:nvSpPr>
        <p:spPr>
          <a:xfrm>
            <a:off x="6153912" y="2834640"/>
            <a:ext cx="356616" cy="274320"/>
          </a:xfrm>
          <a:prstGeom prst="rightArrow">
            <a:avLst/>
          </a:prstGeom>
          <a:solidFill>
            <a:srgbClr val="B8863B"/>
          </a:solidFill>
          <a:ln/>
        </p:spPr>
      </p:sp>
      <p:sp>
        <p:nvSpPr>
          <p:cNvPr id="10" name="Shape 8"/>
          <p:cNvSpPr/>
          <p:nvPr/>
        </p:nvSpPr>
        <p:spPr>
          <a:xfrm>
            <a:off x="65836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11" name="Text 9"/>
          <p:cNvSpPr/>
          <p:nvPr/>
        </p:nvSpPr>
        <p:spPr>
          <a:xfrm>
            <a:off x="67208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Embed</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(2 model)</a:t>
            </a:r>
            <a:endParaRPr lang="en-US" sz="1350" dirty="0"/>
          </a:p>
        </p:txBody>
      </p:sp>
      <p:sp>
        <p:nvSpPr>
          <p:cNvPr id="12" name="Shape 10"/>
          <p:cNvSpPr/>
          <p:nvPr/>
        </p:nvSpPr>
        <p:spPr>
          <a:xfrm>
            <a:off x="9125712" y="2834640"/>
            <a:ext cx="356616" cy="274320"/>
          </a:xfrm>
          <a:prstGeom prst="rightArrow">
            <a:avLst/>
          </a:prstGeom>
          <a:solidFill>
            <a:srgbClr val="B8863B"/>
          </a:solidFill>
          <a:ln/>
        </p:spPr>
      </p:sp>
      <p:sp>
        <p:nvSpPr>
          <p:cNvPr id="13" name="Shape 11"/>
          <p:cNvSpPr/>
          <p:nvPr/>
        </p:nvSpPr>
        <p:spPr>
          <a:xfrm>
            <a:off x="95554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14" name="Text 12"/>
          <p:cNvSpPr/>
          <p:nvPr/>
        </p:nvSpPr>
        <p:spPr>
          <a:xfrm>
            <a:off x="96926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Index</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FAISS + BM25</a:t>
            </a:r>
            <a:endParaRPr lang="en-US" sz="1350" dirty="0"/>
          </a:p>
        </p:txBody>
      </p:sp>
      <p:sp>
        <p:nvSpPr>
          <p:cNvPr id="15" name="Shape 13"/>
          <p:cNvSpPr/>
          <p:nvPr/>
        </p:nvSpPr>
        <p:spPr>
          <a:xfrm>
            <a:off x="640080" y="4114800"/>
            <a:ext cx="10881360" cy="2057400"/>
          </a:xfrm>
          <a:prstGeom prst="roundRect">
            <a:avLst>
              <a:gd name="adj" fmla="val 3556"/>
            </a:avLst>
          </a:prstGeom>
          <a:solidFill>
            <a:srgbClr val="FFFFFF"/>
          </a:solidFill>
          <a:ln/>
          <a:effectLst>
            <a:outerShdw sx="100000" sy="100000" kx="0" ky="0" algn="bl" rotWithShape="0" blurRad="76200" dist="25400" dir="5400000">
              <a:srgbClr val="000000">
                <a:alpha val="12000"/>
              </a:srgbClr>
            </a:outerShdw>
          </a:effectLst>
        </p:spPr>
      </p:sp>
      <p:sp>
        <p:nvSpPr>
          <p:cNvPr id="16" name="Text 14"/>
          <p:cNvSpPr/>
          <p:nvPr/>
        </p:nvSpPr>
        <p:spPr>
          <a:xfrm>
            <a:off x="914400" y="4251960"/>
            <a:ext cx="5486400" cy="320040"/>
          </a:xfrm>
          <a:prstGeom prst="rect">
            <a:avLst/>
          </a:prstGeom>
          <a:noFill/>
          <a:ln/>
        </p:spPr>
        <p:txBody>
          <a:bodyPr wrap="square" rtlCol="0" anchor="ctr"/>
          <a:lstStyle/>
          <a:p>
            <a:pPr indent="0" marL="0">
              <a:buNone/>
            </a:pPr>
            <a:r>
              <a:rPr lang="en-US" sz="1250" b="1" dirty="0">
                <a:solidFill>
                  <a:srgbClr val="2B6E62"/>
                </a:solidFill>
                <a:latin typeface="Calibri" pitchFamily="34" charset="0"/>
                <a:ea typeface="Calibri" pitchFamily="34" charset="-122"/>
                <a:cs typeface="Calibri" pitchFamily="34" charset="-120"/>
              </a:rPr>
              <a:t>Bốn nguồn văn bản thật:</a:t>
            </a:r>
            <a:endParaRPr lang="en-US" sz="1250" dirty="0"/>
          </a:p>
        </p:txBody>
      </p:sp>
      <p:sp>
        <p:nvSpPr>
          <p:cNvPr id="17" name="Text 15"/>
          <p:cNvSpPr/>
          <p:nvPr/>
        </p:nvSpPr>
        <p:spPr>
          <a:xfrm>
            <a:off x="914400" y="4572000"/>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Luật Đấu thầu 22/2023/QH15 (hợp nhất 57/2024, 90/2025) — 90 Điều</a:t>
            </a:r>
            <a:endParaRPr lang="en-US" sz="1200" dirty="0"/>
          </a:p>
        </p:txBody>
      </p:sp>
      <p:sp>
        <p:nvSpPr>
          <p:cNvPr id="18" name="Text 16"/>
          <p:cNvSpPr/>
          <p:nvPr/>
        </p:nvSpPr>
        <p:spPr>
          <a:xfrm>
            <a:off x="914400" y="4956048"/>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Nghị định 214/2025/NĐ-CP — 145 Điều</a:t>
            </a:r>
            <a:endParaRPr lang="en-US" sz="1200" dirty="0"/>
          </a:p>
        </p:txBody>
      </p:sp>
      <p:sp>
        <p:nvSpPr>
          <p:cNvPr id="19" name="Text 17"/>
          <p:cNvSpPr/>
          <p:nvPr/>
        </p:nvSpPr>
        <p:spPr>
          <a:xfrm>
            <a:off x="914400" y="5340096"/>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Thông tư 01/2024 &amp; 22/2024/TT-BKHĐT — 48 Điều</a:t>
            </a:r>
            <a:endParaRPr lang="en-US" sz="1200" dirty="0"/>
          </a:p>
        </p:txBody>
      </p:sp>
      <p:sp>
        <p:nvSpPr>
          <p:cNvPr id="20" name="Text 18"/>
          <p:cNvSpPr/>
          <p:nvPr/>
        </p:nvSpPr>
        <p:spPr>
          <a:xfrm>
            <a:off x="914400" y="5724144"/>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Nghị định 45/2026/NĐ-CP (chuyên ngành CNTT) — 43 Điều, khôi phục từ nguồn thay thế vì bản chính thức chỉ là PDF scan ảnh</a:t>
            </a:r>
            <a:endParaRPr lang="en-US" sz="1200" dirty="0"/>
          </a:p>
        </p:txBody>
      </p:sp>
      <p:sp>
        <p:nvSpPr>
          <p:cNvPr id="21" name="Text 19"/>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KIẾN TRÚC HỆ THỐNG — ONLINE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Soạn HSMT: truy hồi lai + rerank → sinh có trích dẫn → kiểm tra tuân thủ</a:t>
            </a:r>
            <a:endParaRPr lang="en-US" sz="3200" dirty="0"/>
          </a:p>
        </p:txBody>
      </p:sp>
      <p:sp>
        <p:nvSpPr>
          <p:cNvPr id="4" name="Shape 2"/>
          <p:cNvSpPr/>
          <p:nvPr/>
        </p:nvSpPr>
        <p:spPr>
          <a:xfrm>
            <a:off x="548640"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5" name="Text 3"/>
          <p:cNvSpPr/>
          <p:nvPr/>
        </p:nvSpPr>
        <p:spPr>
          <a:xfrm>
            <a:off x="640080"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Thông tin</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gói thầu</a:t>
            </a:r>
            <a:endParaRPr lang="en-US" sz="1250" dirty="0"/>
          </a:p>
        </p:txBody>
      </p:sp>
      <p:sp>
        <p:nvSpPr>
          <p:cNvPr id="6" name="Shape 4"/>
          <p:cNvSpPr/>
          <p:nvPr/>
        </p:nvSpPr>
        <p:spPr>
          <a:xfrm>
            <a:off x="2542032" y="3035808"/>
            <a:ext cx="201168" cy="237744"/>
          </a:xfrm>
          <a:prstGeom prst="rightArrow">
            <a:avLst/>
          </a:prstGeom>
          <a:solidFill>
            <a:srgbClr val="17212B"/>
          </a:solidFill>
          <a:ln/>
        </p:spPr>
      </p:sp>
      <p:sp>
        <p:nvSpPr>
          <p:cNvPr id="7" name="Shape 5"/>
          <p:cNvSpPr/>
          <p:nvPr/>
        </p:nvSpPr>
        <p:spPr>
          <a:xfrm>
            <a:off x="2770632"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8" name="Text 6"/>
          <p:cNvSpPr/>
          <p:nvPr/>
        </p:nvSpPr>
        <p:spPr>
          <a:xfrm>
            <a:off x="2862072"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Hybrid</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Retrieve</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(dense+BM25)</a:t>
            </a:r>
            <a:endParaRPr lang="en-US" sz="1250" dirty="0"/>
          </a:p>
        </p:txBody>
      </p:sp>
      <p:sp>
        <p:nvSpPr>
          <p:cNvPr id="9" name="Shape 7"/>
          <p:cNvSpPr/>
          <p:nvPr/>
        </p:nvSpPr>
        <p:spPr>
          <a:xfrm>
            <a:off x="4764024" y="3035808"/>
            <a:ext cx="201168" cy="237744"/>
          </a:xfrm>
          <a:prstGeom prst="rightArrow">
            <a:avLst/>
          </a:prstGeom>
          <a:solidFill>
            <a:srgbClr val="17212B"/>
          </a:solidFill>
          <a:ln/>
        </p:spPr>
      </p:sp>
      <p:sp>
        <p:nvSpPr>
          <p:cNvPr id="10" name="Shape 8"/>
          <p:cNvSpPr/>
          <p:nvPr/>
        </p:nvSpPr>
        <p:spPr>
          <a:xfrm>
            <a:off x="4992624"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11" name="Text 9"/>
          <p:cNvSpPr/>
          <p:nvPr/>
        </p:nvSpPr>
        <p:spPr>
          <a:xfrm>
            <a:off x="5084064"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Rerank</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(cross-encoder)</a:t>
            </a:r>
            <a:endParaRPr lang="en-US" sz="1250" dirty="0"/>
          </a:p>
        </p:txBody>
      </p:sp>
      <p:sp>
        <p:nvSpPr>
          <p:cNvPr id="12" name="Shape 10"/>
          <p:cNvSpPr/>
          <p:nvPr/>
        </p:nvSpPr>
        <p:spPr>
          <a:xfrm>
            <a:off x="6986016" y="3035808"/>
            <a:ext cx="201168" cy="237744"/>
          </a:xfrm>
          <a:prstGeom prst="rightArrow">
            <a:avLst/>
          </a:prstGeom>
          <a:solidFill>
            <a:srgbClr val="17212B"/>
          </a:solidFill>
          <a:ln/>
        </p:spPr>
      </p:sp>
      <p:sp>
        <p:nvSpPr>
          <p:cNvPr id="13" name="Shape 11"/>
          <p:cNvSpPr/>
          <p:nvPr/>
        </p:nvSpPr>
        <p:spPr>
          <a:xfrm>
            <a:off x="7214616" y="2377440"/>
            <a:ext cx="1965960" cy="1554480"/>
          </a:xfrm>
          <a:prstGeom prst="roundRect">
            <a:avLst>
              <a:gd name="adj" fmla="val 4706"/>
            </a:avLst>
          </a:prstGeom>
          <a:solidFill>
            <a:srgbClr val="B8863B"/>
          </a:solidFill>
          <a:ln/>
          <a:effectLst>
            <a:outerShdw sx="100000" sy="100000" kx="0" ky="0" algn="bl" rotWithShape="0" blurRad="76200" dist="25400" dir="5400000">
              <a:srgbClr val="000000">
                <a:alpha val="12000"/>
              </a:srgbClr>
            </a:outerShdw>
          </a:effectLst>
        </p:spPr>
      </p:sp>
      <p:sp>
        <p:nvSpPr>
          <p:cNvPr id="14" name="Text 12"/>
          <p:cNvSpPr/>
          <p:nvPr/>
        </p:nvSpPr>
        <p:spPr>
          <a:xfrm>
            <a:off x="7306056"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Claude API</a:t>
            </a:r>
            <a:endParaRPr lang="en-US" sz="1250" dirty="0"/>
          </a:p>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soạn + trích dẫn</a:t>
            </a:r>
            <a:endParaRPr lang="en-US" sz="1250" dirty="0"/>
          </a:p>
        </p:txBody>
      </p:sp>
      <p:sp>
        <p:nvSpPr>
          <p:cNvPr id="15" name="Shape 13"/>
          <p:cNvSpPr/>
          <p:nvPr/>
        </p:nvSpPr>
        <p:spPr>
          <a:xfrm>
            <a:off x="9208008" y="3035808"/>
            <a:ext cx="201168" cy="237744"/>
          </a:xfrm>
          <a:prstGeom prst="rightArrow">
            <a:avLst/>
          </a:prstGeom>
          <a:solidFill>
            <a:srgbClr val="17212B"/>
          </a:solidFill>
          <a:ln/>
        </p:spPr>
      </p:sp>
      <p:sp>
        <p:nvSpPr>
          <p:cNvPr id="16" name="Shape 14"/>
          <p:cNvSpPr/>
          <p:nvPr/>
        </p:nvSpPr>
        <p:spPr>
          <a:xfrm>
            <a:off x="9436608"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17" name="Text 15"/>
          <p:cNvSpPr/>
          <p:nvPr/>
        </p:nvSpPr>
        <p:spPr>
          <a:xfrm>
            <a:off x="9528048"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Kiểm tra</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tuân thủ</a:t>
            </a:r>
            <a:endParaRPr lang="en-US" sz="1250" dirty="0"/>
          </a:p>
        </p:txBody>
      </p:sp>
      <p:sp>
        <p:nvSpPr>
          <p:cNvPr id="18" name="Shape 16"/>
          <p:cNvSpPr/>
          <p:nvPr/>
        </p:nvSpPr>
        <p:spPr>
          <a:xfrm>
            <a:off x="548640" y="4297680"/>
            <a:ext cx="5257800" cy="1874520"/>
          </a:xfrm>
          <a:prstGeom prst="roundRect">
            <a:avLst>
              <a:gd name="adj" fmla="val 3902"/>
            </a:avLst>
          </a:prstGeom>
          <a:solidFill>
            <a:srgbClr val="FFFFFF"/>
          </a:solidFill>
          <a:ln/>
          <a:effectLst>
            <a:outerShdw sx="100000" sy="100000" kx="0" ky="0" algn="bl" rotWithShape="0" blurRad="76200" dist="25400" dir="5400000">
              <a:srgbClr val="000000">
                <a:alpha val="12000"/>
              </a:srgbClr>
            </a:outerShdw>
          </a:effectLst>
        </p:spPr>
      </p:sp>
      <p:sp>
        <p:nvSpPr>
          <p:cNvPr id="19" name="Text 17"/>
          <p:cNvSpPr/>
          <p:nvPr/>
        </p:nvSpPr>
        <p:spPr>
          <a:xfrm>
            <a:off x="822960" y="4434840"/>
            <a:ext cx="4663440" cy="32004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Bộ kiểm tra số liệu độc lập</a:t>
            </a:r>
            <a:endParaRPr lang="en-US" sz="1400" dirty="0"/>
          </a:p>
        </p:txBody>
      </p:sp>
      <p:sp>
        <p:nvSpPr>
          <p:cNvPr id="20" name="Text 18"/>
          <p:cNvSpPr/>
          <p:nvPr/>
        </p:nvSpPr>
        <p:spPr>
          <a:xfrm>
            <a:off x="822960" y="4754880"/>
            <a:ext cx="4663440" cy="1280160"/>
          </a:xfrm>
          <a:prstGeom prst="rect">
            <a:avLst/>
          </a:prstGeom>
          <a:noFill/>
          <a:ln/>
        </p:spPr>
        <p:txBody>
          <a:bodyPr wrap="square" rtlCol="0" anchor="ctr"/>
          <a:lstStyle/>
          <a:p>
            <a:pPr indent="0" marL="0">
              <a:lnSpc>
                <a:spcPts val="1700"/>
              </a:lnSpc>
              <a:buNone/>
            </a:pPr>
            <a:r>
              <a:rPr lang="en-US" sz="1200" dirty="0">
                <a:solidFill>
                  <a:srgbClr val="5B6672"/>
                </a:solidFill>
                <a:latin typeface="Calibri" pitchFamily="34" charset="0"/>
                <a:ea typeface="Calibri" pitchFamily="34" charset="-122"/>
                <a:cs typeface="Calibri" pitchFamily="34" charset="-120"/>
              </a:rPr>
              <a:t>Mọi con số trong văn bản sinh ra phải khớp với thông tin gói thầu người dùng nhập — lệch thì gắn cờ R4, không để mô hình tự quyết định số liệu nghiệp vụ.</a:t>
            </a:r>
            <a:endParaRPr lang="en-US" sz="1200" dirty="0"/>
          </a:p>
        </p:txBody>
      </p:sp>
      <p:sp>
        <p:nvSpPr>
          <p:cNvPr id="21" name="Shape 19"/>
          <p:cNvSpPr/>
          <p:nvPr/>
        </p:nvSpPr>
        <p:spPr>
          <a:xfrm>
            <a:off x="6035040" y="4297680"/>
            <a:ext cx="5577840" cy="1874520"/>
          </a:xfrm>
          <a:prstGeom prst="roundRect">
            <a:avLst>
              <a:gd name="adj" fmla="val 3902"/>
            </a:avLst>
          </a:prstGeom>
          <a:solidFill>
            <a:srgbClr val="FFFFFF"/>
          </a:solidFill>
          <a:ln/>
          <a:effectLst>
            <a:outerShdw sx="100000" sy="100000" kx="0" ky="0" algn="bl" rotWithShape="0" blurRad="76200" dist="25400" dir="5400000">
              <a:srgbClr val="000000">
                <a:alpha val="12000"/>
              </a:srgbClr>
            </a:outerShdw>
          </a:effectLst>
        </p:spPr>
      </p:sp>
      <p:sp>
        <p:nvSpPr>
          <p:cNvPr id="22" name="Text 20"/>
          <p:cNvSpPr/>
          <p:nvPr/>
        </p:nvSpPr>
        <p:spPr>
          <a:xfrm>
            <a:off x="6309360" y="4434840"/>
            <a:ext cx="5029200" cy="32004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Cờ tuân thủ R1–R5</a:t>
            </a:r>
            <a:endParaRPr lang="en-US" sz="1400" dirty="0"/>
          </a:p>
        </p:txBody>
      </p:sp>
      <p:sp>
        <p:nvSpPr>
          <p:cNvPr id="23" name="Text 21"/>
          <p:cNvSpPr/>
          <p:nvPr/>
        </p:nvSpPr>
        <p:spPr>
          <a:xfrm>
            <a:off x="6309360" y="4754880"/>
            <a:ext cx="5029200" cy="1280160"/>
          </a:xfrm>
          <a:prstGeom prst="rect">
            <a:avLst/>
          </a:prstGeom>
          <a:noFill/>
          <a:ln/>
        </p:spPr>
        <p:txBody>
          <a:bodyPr wrap="square" rtlCol="0" anchor="ctr"/>
          <a:lstStyle/>
          <a:p>
            <a:pPr indent="0" marL="0">
              <a:lnSpc>
                <a:spcPts val="1700"/>
              </a:lnSpc>
              <a:buNone/>
            </a:pPr>
            <a:r>
              <a:rPr lang="en-US" sz="1200" dirty="0">
                <a:solidFill>
                  <a:srgbClr val="5B6672"/>
                </a:solidFill>
                <a:latin typeface="Calibri" pitchFamily="34" charset="0"/>
                <a:ea typeface="Calibri" pitchFamily="34" charset="-122"/>
                <a:cs typeface="Calibri" pitchFamily="34" charset="-120"/>
              </a:rPr>
              <a:t>Đủ thành phần bắt buộc theo Điều 44 (R5); phát hiện dấu hiệu hạn chế cạnh tranh — nhãn hiệu cụ thể (R1), ngưỡng doanh thu bất hợp lý (R2), thông số “may đo” (R3).</a:t>
            </a:r>
            <a:endParaRPr lang="en-US" sz="1200" dirty="0"/>
          </a:p>
        </p:txBody>
      </p:sp>
      <p:sp>
        <p:nvSpPr>
          <p:cNvPr id="24" name="Text 2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SẢN PHẨM BÀN GIAO</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Ba mức kết quả — không sinh trọn bộ HSMT bằng một prompt</a:t>
            </a:r>
            <a:endParaRPr lang="en-US" sz="3200" dirty="0"/>
          </a:p>
        </p:txBody>
      </p:sp>
      <p:sp>
        <p:nvSpPr>
          <p:cNvPr id="4" name="Shape 2"/>
          <p:cNvSpPr/>
          <p:nvPr/>
        </p:nvSpPr>
        <p:spPr>
          <a:xfrm>
            <a:off x="548640" y="2194560"/>
            <a:ext cx="3520440" cy="3566160"/>
          </a:xfrm>
          <a:prstGeom prst="roundRect">
            <a:avLst>
              <a:gd name="adj" fmla="val 2078"/>
            </a:avLst>
          </a:prstGeom>
          <a:solidFill>
            <a:srgbClr val="FFFFFF"/>
          </a:solidFill>
          <a:ln/>
          <a:effectLst>
            <a:outerShdw sx="100000" sy="100000" kx="0" ky="0" algn="bl" rotWithShape="0" blurRad="76200" dist="25400" dir="5400000">
              <a:srgbClr val="000000">
                <a:alpha val="12000"/>
              </a:srgbClr>
            </a:outerShdw>
          </a:effectLst>
        </p:spPr>
      </p:sp>
      <p:sp>
        <p:nvSpPr>
          <p:cNvPr id="5" name="Text 3"/>
          <p:cNvSpPr/>
          <p:nvPr/>
        </p:nvSpPr>
        <p:spPr>
          <a:xfrm>
            <a:off x="822960" y="2468880"/>
            <a:ext cx="297180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MỨC 1</a:t>
            </a:r>
            <a:endParaRPr lang="en-US" sz="1300" dirty="0"/>
          </a:p>
        </p:txBody>
      </p:sp>
      <p:sp>
        <p:nvSpPr>
          <p:cNvPr id="6" name="Text 4"/>
          <p:cNvSpPr/>
          <p:nvPr/>
        </p:nvSpPr>
        <p:spPr>
          <a:xfrm>
            <a:off x="822960" y="2880360"/>
            <a:ext cx="2971800" cy="822960"/>
          </a:xfrm>
          <a:prstGeom prst="rect">
            <a:avLst/>
          </a:prstGeom>
          <a:noFill/>
          <a:ln/>
        </p:spPr>
        <p:txBody>
          <a:bodyPr wrap="square" rtlCol="0" anchor="ctr"/>
          <a:lstStyle/>
          <a:p>
            <a:pPr indent="0" marL="0">
              <a:lnSpc>
                <a:spcPts val="2300"/>
              </a:lnSpc>
              <a:buNone/>
            </a:pPr>
            <a:r>
              <a:rPr lang="en-US" sz="1900" b="1" dirty="0">
                <a:solidFill>
                  <a:srgbClr val="17212B"/>
                </a:solidFill>
                <a:latin typeface="Cambria" pitchFamily="34" charset="0"/>
                <a:ea typeface="Cambria" pitchFamily="34" charset="-122"/>
                <a:cs typeface="Cambria" pitchFamily="34" charset="-120"/>
              </a:rPr>
              <a:t>Hỏi–đáp có trích dẫn</a:t>
            </a:r>
            <a:endParaRPr lang="en-US" sz="1900" dirty="0"/>
          </a:p>
        </p:txBody>
      </p:sp>
      <p:sp>
        <p:nvSpPr>
          <p:cNvPr id="7" name="Text 5"/>
          <p:cNvSpPr/>
          <p:nvPr/>
        </p:nvSpPr>
        <p:spPr>
          <a:xfrm>
            <a:off x="822960" y="3794760"/>
            <a:ext cx="2971800" cy="173736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Trả lời câu hỏi tự do về quy định đấu thầu, kèm trích dẫn Điều/Khoản thật.</a:t>
            </a:r>
            <a:endParaRPr lang="en-US" sz="1250" dirty="0"/>
          </a:p>
        </p:txBody>
      </p:sp>
      <p:sp>
        <p:nvSpPr>
          <p:cNvPr id="8" name="Shape 6"/>
          <p:cNvSpPr/>
          <p:nvPr/>
        </p:nvSpPr>
        <p:spPr>
          <a:xfrm>
            <a:off x="4389120" y="2194560"/>
            <a:ext cx="3520440" cy="3566160"/>
          </a:xfrm>
          <a:prstGeom prst="roundRect">
            <a:avLst>
              <a:gd name="adj" fmla="val 2078"/>
            </a:avLst>
          </a:prstGeom>
          <a:solidFill>
            <a:srgbClr val="17212B"/>
          </a:solidFill>
          <a:ln/>
          <a:effectLst>
            <a:outerShdw sx="100000" sy="100000" kx="0" ky="0" algn="bl" rotWithShape="0" blurRad="76200" dist="25400" dir="5400000">
              <a:srgbClr val="000000">
                <a:alpha val="12000"/>
              </a:srgbClr>
            </a:outerShdw>
          </a:effectLst>
        </p:spPr>
      </p:sp>
      <p:sp>
        <p:nvSpPr>
          <p:cNvPr id="9" name="Text 7"/>
          <p:cNvSpPr/>
          <p:nvPr/>
        </p:nvSpPr>
        <p:spPr>
          <a:xfrm>
            <a:off x="4663440" y="2468880"/>
            <a:ext cx="2971800" cy="365760"/>
          </a:xfrm>
          <a:prstGeom prst="rect">
            <a:avLst/>
          </a:prstGeom>
          <a:noFill/>
          <a:ln/>
        </p:spPr>
        <p:txBody>
          <a:bodyPr wrap="square" rtlCol="0" anchor="ctr"/>
          <a:lstStyle/>
          <a:p>
            <a:pPr indent="0" marL="0">
              <a:buNone/>
            </a:pPr>
            <a:r>
              <a:rPr lang="en-US" sz="1300" b="1" spc="150" kern="0" dirty="0">
                <a:solidFill>
                  <a:srgbClr val="B8863B"/>
                </a:solidFill>
                <a:latin typeface="Calibri" pitchFamily="34" charset="0"/>
                <a:ea typeface="Calibri" pitchFamily="34" charset="-122"/>
                <a:cs typeface="Calibri" pitchFamily="34" charset="-120"/>
              </a:rPr>
              <a:t>MỨC 2</a:t>
            </a:r>
            <a:endParaRPr lang="en-US" sz="1300" dirty="0"/>
          </a:p>
        </p:txBody>
      </p:sp>
      <p:sp>
        <p:nvSpPr>
          <p:cNvPr id="10" name="Text 8"/>
          <p:cNvSpPr/>
          <p:nvPr/>
        </p:nvSpPr>
        <p:spPr>
          <a:xfrm>
            <a:off x="4663440" y="2880360"/>
            <a:ext cx="2971800" cy="822960"/>
          </a:xfrm>
          <a:prstGeom prst="rect">
            <a:avLst/>
          </a:prstGeom>
          <a:noFill/>
          <a:ln/>
        </p:spPr>
        <p:txBody>
          <a:bodyPr wrap="square" rtlCol="0" anchor="ctr"/>
          <a:lstStyle/>
          <a:p>
            <a:pPr indent="0" marL="0">
              <a:lnSpc>
                <a:spcPts val="2300"/>
              </a:lnSpc>
              <a:buNone/>
            </a:pPr>
            <a:r>
              <a:rPr lang="en-US" sz="1900" b="1" dirty="0">
                <a:solidFill>
                  <a:srgbClr val="FFFFFF"/>
                </a:solidFill>
                <a:latin typeface="Cambria" pitchFamily="34" charset="0"/>
                <a:ea typeface="Cambria" pitchFamily="34" charset="-122"/>
                <a:cs typeface="Cambria" pitchFamily="34" charset="-120"/>
              </a:rPr>
              <a:t>Soạn một mục HSMT</a:t>
            </a:r>
            <a:endParaRPr lang="en-US" sz="1900" dirty="0"/>
          </a:p>
        </p:txBody>
      </p:sp>
      <p:sp>
        <p:nvSpPr>
          <p:cNvPr id="11" name="Text 9"/>
          <p:cNvSpPr/>
          <p:nvPr/>
        </p:nvSpPr>
        <p:spPr>
          <a:xfrm>
            <a:off x="4663440" y="3794760"/>
            <a:ext cx="2971800" cy="1737360"/>
          </a:xfrm>
          <a:prstGeom prst="rect">
            <a:avLst/>
          </a:prstGeom>
          <a:noFill/>
          <a:ln/>
        </p:spPr>
        <p:txBody>
          <a:bodyPr wrap="square" rtlCol="0" anchor="ctr"/>
          <a:lstStyle/>
          <a:p>
            <a:pPr indent="0" marL="0">
              <a:lnSpc>
                <a:spcPts val="1700"/>
              </a:lnSpc>
              <a:buNone/>
            </a:pPr>
            <a:r>
              <a:rPr lang="en-US" sz="1250" dirty="0">
                <a:solidFill>
                  <a:srgbClr val="CFE0DC"/>
                </a:solidFill>
                <a:latin typeface="Calibri" pitchFamily="34" charset="0"/>
                <a:ea typeface="Calibri" pitchFamily="34" charset="-122"/>
                <a:cs typeface="Calibri" pitchFamily="34" charset="-120"/>
              </a:rPr>
              <a:t>Nhập thông tin gói thầu → soạn Chương III/V, có trích dẫn + cờ tuân thủ. Trọng tâm của đề tài.</a:t>
            </a:r>
            <a:endParaRPr lang="en-US" sz="1250" dirty="0"/>
          </a:p>
        </p:txBody>
      </p:sp>
      <p:sp>
        <p:nvSpPr>
          <p:cNvPr id="12" name="Shape 10"/>
          <p:cNvSpPr/>
          <p:nvPr/>
        </p:nvSpPr>
        <p:spPr>
          <a:xfrm>
            <a:off x="8229600" y="2194560"/>
            <a:ext cx="3520440" cy="3566160"/>
          </a:xfrm>
          <a:prstGeom prst="roundRect">
            <a:avLst>
              <a:gd name="adj" fmla="val 2078"/>
            </a:avLst>
          </a:prstGeom>
          <a:solidFill>
            <a:srgbClr val="FFFFFF"/>
          </a:solidFill>
          <a:ln/>
          <a:effectLst>
            <a:outerShdw sx="100000" sy="100000" kx="0" ky="0" algn="bl" rotWithShape="0" blurRad="76200" dist="25400" dir="5400000">
              <a:srgbClr val="000000">
                <a:alpha val="12000"/>
              </a:srgbClr>
            </a:outerShdw>
          </a:effectLst>
        </p:spPr>
      </p:sp>
      <p:sp>
        <p:nvSpPr>
          <p:cNvPr id="13" name="Text 11"/>
          <p:cNvSpPr/>
          <p:nvPr/>
        </p:nvSpPr>
        <p:spPr>
          <a:xfrm>
            <a:off x="8503920" y="2468880"/>
            <a:ext cx="2971800" cy="365760"/>
          </a:xfrm>
          <a:prstGeom prst="rect">
            <a:avLst/>
          </a:prstGeom>
          <a:noFill/>
          <a:ln/>
        </p:spPr>
        <p:txBody>
          <a:bodyPr wrap="square" rtlCol="0" anchor="ctr"/>
          <a:lstStyle/>
          <a:p>
            <a:pPr indent="0" marL="0">
              <a:buNone/>
            </a:pPr>
            <a:r>
              <a:rPr lang="en-US" sz="1300" b="1" spc="150" kern="0" dirty="0">
                <a:solidFill>
                  <a:srgbClr val="5B6672"/>
                </a:solidFill>
                <a:latin typeface="Calibri" pitchFamily="34" charset="0"/>
                <a:ea typeface="Calibri" pitchFamily="34" charset="-122"/>
                <a:cs typeface="Calibri" pitchFamily="34" charset="-120"/>
              </a:rPr>
              <a:t>MỨC 3</a:t>
            </a:r>
            <a:endParaRPr lang="en-US" sz="1300" dirty="0"/>
          </a:p>
        </p:txBody>
      </p:sp>
      <p:sp>
        <p:nvSpPr>
          <p:cNvPr id="14" name="Text 12"/>
          <p:cNvSpPr/>
          <p:nvPr/>
        </p:nvSpPr>
        <p:spPr>
          <a:xfrm>
            <a:off x="8503920" y="2880360"/>
            <a:ext cx="2971800" cy="822960"/>
          </a:xfrm>
          <a:prstGeom prst="rect">
            <a:avLst/>
          </a:prstGeom>
          <a:noFill/>
          <a:ln/>
        </p:spPr>
        <p:txBody>
          <a:bodyPr wrap="square" rtlCol="0" anchor="ctr"/>
          <a:lstStyle/>
          <a:p>
            <a:pPr indent="0" marL="0">
              <a:lnSpc>
                <a:spcPts val="2300"/>
              </a:lnSpc>
              <a:buNone/>
            </a:pPr>
            <a:r>
              <a:rPr lang="en-US" sz="1900" b="1" dirty="0">
                <a:solidFill>
                  <a:srgbClr val="17212B"/>
                </a:solidFill>
                <a:latin typeface="Cambria" pitchFamily="34" charset="0"/>
                <a:ea typeface="Cambria" pitchFamily="34" charset="-122"/>
                <a:cs typeface="Cambria" pitchFamily="34" charset="-120"/>
              </a:rPr>
              <a:t>Ghép bản nháp một phần</a:t>
            </a:r>
            <a:endParaRPr lang="en-US" sz="1900" dirty="0"/>
          </a:p>
        </p:txBody>
      </p:sp>
      <p:sp>
        <p:nvSpPr>
          <p:cNvPr id="15" name="Text 13"/>
          <p:cNvSpPr/>
          <p:nvPr/>
        </p:nvSpPr>
        <p:spPr>
          <a:xfrm>
            <a:off x="8503920" y="3794760"/>
            <a:ext cx="2971800" cy="173736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Gộp các mục đã soạn thành 1 tài liệu xuất PDF/DOCX. Chưa lắp khung cố định (chỉ dẫn nhà thầu...).</a:t>
            </a:r>
            <a:endParaRPr lang="en-US" sz="1250" dirty="0"/>
          </a:p>
        </p:txBody>
      </p:sp>
      <p:sp>
        <p:nvSpPr>
          <p:cNvPr id="16" name="Text 14"/>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Bi-encoder truy hồi rẻ · Cross-encoder rerank chính xác</a:t>
            </a:r>
            <a:endParaRPr lang="en-US" sz="3200" dirty="0"/>
          </a:p>
        </p:txBody>
      </p:sp>
      <p:sp>
        <p:nvSpPr>
          <p:cNvPr id="4" name="Shape 2"/>
          <p:cNvSpPr/>
          <p:nvPr/>
        </p:nvSpPr>
        <p:spPr>
          <a:xfrm>
            <a:off x="548640" y="2194560"/>
            <a:ext cx="5349240" cy="3931920"/>
          </a:xfrm>
          <a:prstGeom prst="roundRect">
            <a:avLst>
              <a:gd name="adj" fmla="val 1860"/>
            </a:avLst>
          </a:prstGeom>
          <a:solidFill>
            <a:srgbClr val="FFFFFF"/>
          </a:solidFill>
          <a:ln/>
          <a:effectLst>
            <a:outerShdw sx="100000" sy="100000" kx="0" ky="0" algn="bl" rotWithShape="0" blurRad="76200" dist="25400" dir="5400000">
              <a:srgbClr val="000000">
                <a:alpha val="12000"/>
              </a:srgbClr>
            </a:outerShdw>
          </a:effectLst>
        </p:spPr>
      </p:sp>
      <p:sp>
        <p:nvSpPr>
          <p:cNvPr id="5" name="Text 3"/>
          <p:cNvSpPr/>
          <p:nvPr/>
        </p:nvSpPr>
        <p:spPr>
          <a:xfrm>
            <a:off x="868680" y="2423160"/>
            <a:ext cx="4754880" cy="365760"/>
          </a:xfrm>
          <a:prstGeom prst="rect">
            <a:avLst/>
          </a:prstGeom>
          <a:noFill/>
          <a:ln/>
        </p:spPr>
        <p:txBody>
          <a:bodyPr wrap="square" rtlCol="0" anchor="ctr"/>
          <a:lstStyle/>
          <a:p>
            <a:pPr indent="0" marL="0">
              <a:buNone/>
            </a:pPr>
            <a:r>
              <a:rPr lang="en-US" sz="1600" b="1" dirty="0">
                <a:solidFill>
                  <a:srgbClr val="2B6E62"/>
                </a:solidFill>
                <a:latin typeface="Cambria" pitchFamily="34" charset="0"/>
                <a:ea typeface="Cambria" pitchFamily="34" charset="-122"/>
                <a:cs typeface="Cambria" pitchFamily="34" charset="-120"/>
              </a:rPr>
              <a:t>Bi-encoder (dense retrieval)</a:t>
            </a:r>
            <a:endParaRPr lang="en-US" sz="1600" dirty="0"/>
          </a:p>
        </p:txBody>
      </p:sp>
      <p:sp>
        <p:nvSpPr>
          <p:cNvPr id="6" name="Text 4"/>
          <p:cNvSpPr/>
          <p:nvPr/>
        </p:nvSpPr>
        <p:spPr>
          <a:xfrm>
            <a:off x="868680" y="2880360"/>
            <a:ext cx="4754880" cy="1737360"/>
          </a:xfrm>
          <a:prstGeom prst="rect">
            <a:avLst/>
          </a:prstGeom>
          <a:noFill/>
          <a:ln/>
        </p:spPr>
        <p:txBody>
          <a:bodyPr wrap="square" rtlCol="0" anchor="ctr"/>
          <a:lstStyle/>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Truy vấn và tài liệu được mã hoá ĐỘC LẬP qua cùng transformer encoder. Self-attention đa đầu tổng hợp thông tin theo trọng số giữa các token; mean-pooling nén chuỗi vector-theo-token thành 1 vector câu. So khớp bằng cosine similarity — rẻ, tính trước được cho toàn kho tri thức.</a:t>
            </a:r>
            <a:endParaRPr lang="en-US" sz="1250" dirty="0"/>
          </a:p>
        </p:txBody>
      </p:sp>
      <p:sp>
        <p:nvSpPr>
          <p:cNvPr id="7" name="Text 5"/>
          <p:cNvSpPr/>
          <p:nvPr/>
        </p:nvSpPr>
        <p:spPr>
          <a:xfrm>
            <a:off x="868680" y="5394960"/>
            <a:ext cx="4754880" cy="548640"/>
          </a:xfrm>
          <a:prstGeom prst="rect">
            <a:avLst/>
          </a:prstGeom>
          <a:noFill/>
          <a:ln/>
        </p:spPr>
        <p:txBody>
          <a:bodyPr wrap="square" rtlCol="0" anchor="ctr"/>
          <a:lstStyle/>
          <a:p>
            <a:pPr indent="0" marL="0">
              <a:buNone/>
            </a:pPr>
            <a:r>
              <a:rPr lang="en-US" sz="1200" i="1" dirty="0">
                <a:solidFill>
                  <a:srgbClr val="2B6E62"/>
                </a:solidFill>
                <a:latin typeface="Calibri" pitchFamily="34" charset="0"/>
                <a:ea typeface="Calibri" pitchFamily="34" charset="-122"/>
                <a:cs typeface="Calibri" pitchFamily="34" charset="-120"/>
              </a:rPr>
              <a:t>→ Dùng để lọc thô top-50 từ toàn bộ 684 đoạn</a:t>
            </a:r>
            <a:endParaRPr lang="en-US" sz="1200" dirty="0"/>
          </a:p>
        </p:txBody>
      </p:sp>
      <p:sp>
        <p:nvSpPr>
          <p:cNvPr id="8" name="Shape 6"/>
          <p:cNvSpPr/>
          <p:nvPr/>
        </p:nvSpPr>
        <p:spPr>
          <a:xfrm>
            <a:off x="6172200" y="2194560"/>
            <a:ext cx="5440680" cy="3931920"/>
          </a:xfrm>
          <a:prstGeom prst="roundRect">
            <a:avLst>
              <a:gd name="adj" fmla="val 1860"/>
            </a:avLst>
          </a:prstGeom>
          <a:solidFill>
            <a:srgbClr val="17212B"/>
          </a:solidFill>
          <a:ln/>
          <a:effectLst>
            <a:outerShdw sx="100000" sy="100000" kx="0" ky="0" algn="bl" rotWithShape="0" blurRad="76200" dist="25400" dir="5400000">
              <a:srgbClr val="000000">
                <a:alpha val="12000"/>
              </a:srgbClr>
            </a:outerShdw>
          </a:effectLst>
        </p:spPr>
      </p:sp>
      <p:sp>
        <p:nvSpPr>
          <p:cNvPr id="9" name="Text 7"/>
          <p:cNvSpPr/>
          <p:nvPr/>
        </p:nvSpPr>
        <p:spPr>
          <a:xfrm>
            <a:off x="6492240" y="2423160"/>
            <a:ext cx="4846320" cy="365760"/>
          </a:xfrm>
          <a:prstGeom prst="rect">
            <a:avLst/>
          </a:prstGeom>
          <a:noFill/>
          <a:ln/>
        </p:spPr>
        <p:txBody>
          <a:bodyPr wrap="square" rtlCol="0" anchor="ctr"/>
          <a:lstStyle/>
          <a:p>
            <a:pPr indent="0" marL="0">
              <a:buNone/>
            </a:pPr>
            <a:r>
              <a:rPr lang="en-US" sz="1600" b="1" dirty="0">
                <a:solidFill>
                  <a:srgbClr val="B8863B"/>
                </a:solidFill>
                <a:latin typeface="Cambria" pitchFamily="34" charset="0"/>
                <a:ea typeface="Cambria" pitchFamily="34" charset="-122"/>
                <a:cs typeface="Cambria" pitchFamily="34" charset="-120"/>
              </a:rPr>
              <a:t>Cross-encoder (rerank)</a:t>
            </a:r>
            <a:endParaRPr lang="en-US" sz="1600" dirty="0"/>
          </a:p>
        </p:txBody>
      </p:sp>
      <p:sp>
        <p:nvSpPr>
          <p:cNvPr id="10" name="Text 8"/>
          <p:cNvSpPr/>
          <p:nvPr/>
        </p:nvSpPr>
        <p:spPr>
          <a:xfrm>
            <a:off x="6492240" y="2880360"/>
            <a:ext cx="4846320" cy="1737360"/>
          </a:xfrm>
          <a:prstGeom prst="rect">
            <a:avLst/>
          </a:prstGeom>
          <a:noFill/>
          <a:ln/>
        </p:spPr>
        <p:txBody>
          <a:bodyPr wrap="square" rtlCol="0" anchor="ctr"/>
          <a:lstStyle/>
          <a:p>
            <a:pPr indent="0" marL="0">
              <a:lnSpc>
                <a:spcPts val="1800"/>
              </a:lnSpc>
              <a:buNone/>
            </a:pPr>
            <a:r>
              <a:rPr lang="en-US" sz="1250" dirty="0">
                <a:solidFill>
                  <a:srgbClr val="E8E5DC"/>
                </a:solidFill>
                <a:latin typeface="Calibri" pitchFamily="34" charset="0"/>
                <a:ea typeface="Calibri" pitchFamily="34" charset="-122"/>
                <a:cs typeface="Calibri" pitchFamily="34" charset="-120"/>
              </a:rPr>
              <a:t>Cặp (truy vấn, tài liệu) được NỐI thành 1 chuỗi input duy nhất — self-attention so khớp trực tiếp từng token của truy vấn với từng token tài liệu ngay trong lúc mã hoá. Chính xác hơn bi-encoder vì không mất thông tin tương tác chi tiết, nhưng phải chạy lại cho mọi cặp — không tính trước được.</a:t>
            </a:r>
            <a:endParaRPr lang="en-US" sz="1250" dirty="0"/>
          </a:p>
        </p:txBody>
      </p:sp>
      <p:sp>
        <p:nvSpPr>
          <p:cNvPr id="11" name="Text 9"/>
          <p:cNvSpPr/>
          <p:nvPr/>
        </p:nvSpPr>
        <p:spPr>
          <a:xfrm>
            <a:off x="6492240" y="5394960"/>
            <a:ext cx="4846320" cy="548640"/>
          </a:xfrm>
          <a:prstGeom prst="rect">
            <a:avLst/>
          </a:prstGeom>
          <a:noFill/>
          <a:ln/>
        </p:spPr>
        <p:txBody>
          <a:bodyPr wrap="square" rtlCol="0" anchor="ctr"/>
          <a:lstStyle/>
          <a:p>
            <a:pPr indent="0" marL="0">
              <a:buNone/>
            </a:pPr>
            <a:r>
              <a:rPr lang="en-US" sz="1200" i="1" dirty="0">
                <a:solidFill>
                  <a:srgbClr val="B8863B"/>
                </a:solidFill>
                <a:latin typeface="Calibri" pitchFamily="34" charset="0"/>
                <a:ea typeface="Calibri" pitchFamily="34" charset="-122"/>
                <a:cs typeface="Calibri" pitchFamily="34" charset="-120"/>
              </a:rPr>
              <a:t>→ Chỉ dùng để xếp hạng lại top-50 đã lọc thô, xuống top-5</a:t>
            </a:r>
            <a:endParaRPr lang="en-US" sz="1200" dirty="0"/>
          </a:p>
        </p:txBody>
      </p:sp>
      <p:sp>
        <p:nvSpPr>
          <p:cNvPr id="12" name="Text 10"/>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Khảo sát không gian embedding bằng t-SNE</a:t>
            </a:r>
            <a:endParaRPr lang="en-US" sz="3200" dirty="0"/>
          </a:p>
        </p:txBody>
      </p:sp>
      <p:pic>
        <p:nvPicPr>
          <p:cNvPr id="4" name="Image 0" descr="D:\PyCharmProject\DeepLearning\autotender-vn\reports\figures\embedding_vi_bi_encoder_tsne.png">    </p:cNvPr>
          <p:cNvPicPr>
            <a:picLocks noChangeAspect="1"/>
          </p:cNvPicPr>
          <p:nvPr/>
        </p:nvPicPr>
        <p:blipFill>
          <a:blip r:embed="rId1"/>
          <a:stretch>
            <a:fillRect/>
          </a:stretch>
        </p:blipFill>
        <p:spPr>
          <a:xfrm>
            <a:off x="548640" y="2103120"/>
            <a:ext cx="5577840" cy="4160520"/>
          </a:xfrm>
          <a:prstGeom prst="rect">
            <a:avLst/>
          </a:prstGeom>
        </p:spPr>
      </p:pic>
      <p:sp>
        <p:nvSpPr>
          <p:cNvPr id="5" name="Text 2"/>
          <p:cNvSpPr/>
          <p:nvPr/>
        </p:nvSpPr>
        <p:spPr>
          <a:xfrm>
            <a:off x="548640" y="6263640"/>
            <a:ext cx="5577840" cy="320040"/>
          </a:xfrm>
          <a:prstGeom prst="rect">
            <a:avLst/>
          </a:prstGeom>
          <a:noFill/>
          <a:ln/>
        </p:spPr>
        <p:txBody>
          <a:bodyPr wrap="square" rtlCol="0" anchor="ctr"/>
          <a:lstStyle/>
          <a:p>
            <a:pPr algn="ctr" indent="0" marL="0">
              <a:buNone/>
            </a:pPr>
            <a:r>
              <a:rPr lang="en-US" sz="1050" i="1" dirty="0">
                <a:solidFill>
                  <a:srgbClr val="5B6672"/>
                </a:solidFill>
                <a:latin typeface="Calibri" pitchFamily="34" charset="0"/>
                <a:ea typeface="Calibri" pitchFamily="34" charset="-122"/>
                <a:cs typeface="Calibri" pitchFamily="34" charset="-120"/>
              </a:rPr>
              <a:t>t-SNE của vi_bi_encoder trên 684 đoạn, tô màu theo văn bản nguồn</a:t>
            </a:r>
            <a:endParaRPr lang="en-US" sz="1050" dirty="0"/>
          </a:p>
        </p:txBody>
      </p:sp>
      <p:sp>
        <p:nvSpPr>
          <p:cNvPr id="6" name="Shape 3"/>
          <p:cNvSpPr/>
          <p:nvPr/>
        </p:nvSpPr>
        <p:spPr>
          <a:xfrm>
            <a:off x="6400800" y="2103120"/>
            <a:ext cx="5212080" cy="4480560"/>
          </a:xfrm>
          <a:prstGeom prst="roundRect">
            <a:avLst>
              <a:gd name="adj" fmla="val 1633"/>
            </a:avLst>
          </a:prstGeom>
          <a:solidFill>
            <a:srgbClr val="FFFFFF"/>
          </a:solidFill>
          <a:ln/>
          <a:effectLst>
            <a:outerShdw sx="100000" sy="100000" kx="0" ky="0" algn="bl" rotWithShape="0" blurRad="76200" dist="25400" dir="5400000">
              <a:srgbClr val="000000">
                <a:alpha val="12000"/>
              </a:srgbClr>
            </a:outerShdw>
          </a:effectLst>
        </p:spPr>
      </p:sp>
      <p:sp>
        <p:nvSpPr>
          <p:cNvPr id="7" name="Text 4"/>
          <p:cNvSpPr/>
          <p:nvPr/>
        </p:nvSpPr>
        <p:spPr>
          <a:xfrm>
            <a:off x="6720840" y="2331720"/>
            <a:ext cx="4572000" cy="365760"/>
          </a:xfrm>
          <a:prstGeom prst="rect">
            <a:avLst/>
          </a:prstGeom>
          <a:noFill/>
          <a:ln/>
        </p:spPr>
        <p:txBody>
          <a:bodyPr wrap="square" rtlCol="0" anchor="ctr"/>
          <a:lstStyle/>
          <a:p>
            <a:pPr indent="0" marL="0">
              <a:buNone/>
            </a:pPr>
            <a:r>
              <a:rPr lang="en-US" sz="1500" b="1" dirty="0">
                <a:solidFill>
                  <a:srgbClr val="2B6E62"/>
                </a:solidFill>
                <a:latin typeface="Cambria" pitchFamily="34" charset="0"/>
                <a:ea typeface="Cambria" pitchFamily="34" charset="-122"/>
                <a:cs typeface="Cambria" pitchFamily="34" charset="-120"/>
              </a:rPr>
              <a:t>Quan sát</a:t>
            </a:r>
            <a:endParaRPr lang="en-US" sz="1500" dirty="0"/>
          </a:p>
        </p:txBody>
      </p:sp>
      <p:sp>
        <p:nvSpPr>
          <p:cNvPr id="8" name="Text 5"/>
          <p:cNvSpPr/>
          <p:nvPr/>
        </p:nvSpPr>
        <p:spPr>
          <a:xfrm>
            <a:off x="6720840" y="2788920"/>
            <a:ext cx="4572000" cy="3657600"/>
          </a:xfrm>
          <a:prstGeom prst="rect">
            <a:avLst/>
          </a:prstGeom>
          <a:noFill/>
          <a:ln/>
        </p:spPr>
        <p:txBody>
          <a:bodyPr wrap="square" rtlCol="0" anchor="ctr"/>
          <a:lstStyle/>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Khối trung tâm lớn trộn lẫn Luật và Nghị định — hợp lý vì Nghị định chi tiết hoá Luật, dùng chung thuật ngữ.</a:t>
            </a:r>
            <a:endParaRPr lang="en-US" sz="1250" dirty="0"/>
          </a:p>
          <a:p>
            <a:pPr indent="0" marL="0">
              <a:lnSpc>
                <a:spcPts val="1800"/>
              </a:lnSpc>
              <a:buNone/>
            </a:pPr>
            <a:endParaRPr lang="en-US" sz="1250" dirty="0"/>
          </a:p>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Các cụm nhỏ tách biệt ở rìa khớp với phát hiện thủ công: nhiều Điều của Nghị định 214/2025 dùng lại gần nguyên văn cấu trúc/tiêu đề cho các loại gói thầu khác nhau — tạo nhóm văn bản gần giống hệt nhau về ngữ nghĩa.</a:t>
            </a:r>
            <a:endParaRPr lang="en-US" sz="1250" dirty="0"/>
          </a:p>
          <a:p>
            <a:pPr indent="0" marL="0">
              <a:lnSpc>
                <a:spcPts val="1800"/>
              </a:lnSpc>
              <a:buNone/>
            </a:pPr>
            <a:endParaRPr lang="en-US" sz="1250" dirty="0"/>
          </a:p>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Đây chính là trường hợp bi-encoder khó phân biệt (vector câu nén cả câu, phần khác biệt chỉ vài từ) — và là lý do rerank bằng cross-encoder cải thiện Recall@5 rõ rệt.</a:t>
            </a:r>
            <a:endParaRPr lang="en-US" sz="1250" dirty="0"/>
          </a:p>
        </p:txBody>
      </p:sp>
      <p:sp>
        <p:nvSpPr>
          <p:cNvPr id="9" name="Text 6"/>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 sánh 2 mô hình embedding: tiếng Việt chuyên biệt thắng về độ tách biệt</a:t>
            </a:r>
            <a:endParaRPr lang="en-US" sz="3200" dirty="0"/>
          </a:p>
        </p:txBody>
      </p:sp>
      <p:graphicFrame>
        <p:nvGraphicFramePr>
          <p:cNvPr id="4" name="Chart 0" descr=""/>
          <p:cNvGraphicFramePr/>
          <p:nvPr/>
        </p:nvGraphicFramePr>
        <p:xfrm>
          <a:off x="640080" y="22860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537960" y="2286000"/>
            <a:ext cx="5074920" cy="3840480"/>
          </a:xfrm>
          <a:prstGeom prst="roundRect">
            <a:avLst>
              <a:gd name="adj" fmla="val 1905"/>
            </a:avLst>
          </a:prstGeom>
          <a:solidFill>
            <a:srgbClr val="FFFFFF"/>
          </a:solidFill>
          <a:ln/>
          <a:effectLst>
            <a:outerShdw sx="100000" sy="100000" kx="0" ky="0" algn="bl" rotWithShape="0" blurRad="76200" dist="25400" dir="5400000">
              <a:srgbClr val="000000">
                <a:alpha val="12000"/>
              </a:srgbClr>
            </a:outerShdw>
          </a:effectLst>
        </p:spPr>
      </p:sp>
      <p:sp>
        <p:nvSpPr>
          <p:cNvPr id="6" name="Text 3"/>
          <p:cNvSpPr/>
          <p:nvPr/>
        </p:nvSpPr>
        <p:spPr>
          <a:xfrm>
            <a:off x="6858000" y="2514600"/>
            <a:ext cx="4480560" cy="36576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“Độ tách biệt” = ?</a:t>
            </a:r>
            <a:endParaRPr lang="en-US" sz="1400" dirty="0"/>
          </a:p>
        </p:txBody>
      </p:sp>
      <p:sp>
        <p:nvSpPr>
          <p:cNvPr id="7" name="Text 4"/>
          <p:cNvSpPr/>
          <p:nvPr/>
        </p:nvSpPr>
        <p:spPr>
          <a:xfrm>
            <a:off x="6858000" y="2880360"/>
            <a:ext cx="4480560" cy="1005840"/>
          </a:xfrm>
          <a:prstGeom prst="rect">
            <a:avLst/>
          </a:prstGeom>
          <a:noFill/>
          <a:ln/>
        </p:spPr>
        <p:txBody>
          <a:bodyPr wrap="square" rtlCol="0" anchor="ctr"/>
          <a:lstStyle/>
          <a:p>
            <a:pPr indent="0" marL="0">
              <a:lnSpc>
                <a:spcPts val="1600"/>
              </a:lnSpc>
              <a:buNone/>
            </a:pPr>
            <a:r>
              <a:rPr lang="en-US" sz="1200" dirty="0">
                <a:solidFill>
                  <a:srgbClr val="17212B"/>
                </a:solidFill>
                <a:latin typeface="Calibri" pitchFamily="34" charset="0"/>
                <a:ea typeface="Calibri" pitchFamily="34" charset="-122"/>
                <a:cs typeface="Calibri" pitchFamily="34" charset="-120"/>
              </a:rPr>
              <a:t>Cosine similarity trung bình giữa các đoạn CÙNG một Điều, trừ similarity trung bình giữa các đoạn KHÁC Điều. Không gian tốt cho truy hồi phải có độ tách biệt cao.</a:t>
            </a:r>
            <a:endParaRPr lang="en-US" sz="1200" dirty="0"/>
          </a:p>
        </p:txBody>
      </p:sp>
      <p:sp>
        <p:nvSpPr>
          <p:cNvPr id="8" name="Text 5"/>
          <p:cNvSpPr/>
          <p:nvPr/>
        </p:nvSpPr>
        <p:spPr>
          <a:xfrm>
            <a:off x="6858000" y="3977640"/>
            <a:ext cx="4480560" cy="1188720"/>
          </a:xfrm>
          <a:prstGeom prst="rect">
            <a:avLst/>
          </a:prstGeom>
          <a:noFill/>
          <a:ln/>
        </p:spPr>
        <p:txBody>
          <a:bodyPr wrap="square" rtlCol="0" anchor="ctr"/>
          <a:lstStyle/>
          <a:p>
            <a:pPr indent="0" marL="0">
              <a:lnSpc>
                <a:spcPts val="1600"/>
              </a:lnSpc>
              <a:buNone/>
            </a:pPr>
            <a:r>
              <a:rPr lang="en-US" sz="1200" dirty="0">
                <a:solidFill>
                  <a:srgbClr val="17212B"/>
                </a:solidFill>
                <a:latin typeface="Calibri" pitchFamily="34" charset="0"/>
                <a:ea typeface="Calibri" pitchFamily="34" charset="-122"/>
                <a:cs typeface="Calibri" pitchFamily="34" charset="-120"/>
              </a:rPr>
              <a:t>Model đa ngôn ngữ có similarity tuyệt đối cao hơn ở cả 2 nhóm — dấu hiệu embedding “co cụm” hơn. Model tiếng Việt chuyên biệt tách biệt tương đối tốt hơn (0.1836 &gt; 0.1674, sau khi sửa lỗi mã hoá — xem slide sau).</a:t>
            </a:r>
            <a:endParaRPr lang="en-US" sz="1200" dirty="0"/>
          </a:p>
        </p:txBody>
      </p:sp>
      <p:sp>
        <p:nvSpPr>
          <p:cNvPr id="9" name="Text 6"/>
          <p:cNvSpPr/>
          <p:nvPr/>
        </p:nvSpPr>
        <p:spPr>
          <a:xfrm>
            <a:off x="6858000" y="5257800"/>
            <a:ext cx="4480560" cy="777240"/>
          </a:xfrm>
          <a:prstGeom prst="rect">
            <a:avLst/>
          </a:prstGeom>
          <a:noFill/>
          <a:ln/>
        </p:spPr>
        <p:txBody>
          <a:bodyPr wrap="square" rtlCol="0" anchor="ctr"/>
          <a:lstStyle/>
          <a:p>
            <a:pPr indent="0" marL="0">
              <a:lnSpc>
                <a:spcPts val="1600"/>
              </a:lnSpc>
              <a:buNone/>
            </a:pPr>
            <a:r>
              <a:rPr lang="en-US" sz="1200" i="1" dirty="0">
                <a:solidFill>
                  <a:srgbClr val="2B6E62"/>
                </a:solidFill>
                <a:latin typeface="Calibri" pitchFamily="34" charset="0"/>
                <a:ea typeface="Calibri" pitchFamily="34" charset="-122"/>
                <a:cs typeface="Calibri" pitchFamily="34" charset="-120"/>
              </a:rPr>
              <a:t>Khớp với Recall@5 đo trực tiếp: vi_bi_encoder = 0.696 (dense-only), tốt hơn hẳn khi không rerank.</a:t>
            </a:r>
            <a:endParaRPr lang="en-US" sz="1200" dirty="0"/>
          </a:p>
        </p:txBody>
      </p:sp>
      <p:sp>
        <p:nvSpPr>
          <p:cNvPr id="10" name="Text 7"/>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Vì sao RAG giảm ảo giác: góc nhìn cơ chế transformer</a:t>
            </a:r>
            <a:endParaRPr lang="en-US" sz="3200" dirty="0"/>
          </a:p>
        </p:txBody>
      </p:sp>
      <p:sp>
        <p:nvSpPr>
          <p:cNvPr id="4" name="Shape 2"/>
          <p:cNvSpPr/>
          <p:nvPr/>
        </p:nvSpPr>
        <p:spPr>
          <a:xfrm>
            <a:off x="822960" y="2286000"/>
            <a:ext cx="10515600" cy="1143000"/>
          </a:xfrm>
          <a:prstGeom prst="roundRect">
            <a:avLst>
              <a:gd name="adj" fmla="val 6400"/>
            </a:avLst>
          </a:prstGeom>
          <a:solidFill>
            <a:srgbClr val="222E3A"/>
          </a:solidFill>
          <a:ln/>
        </p:spPr>
      </p:sp>
      <p:sp>
        <p:nvSpPr>
          <p:cNvPr id="5" name="Text 3"/>
          <p:cNvSpPr/>
          <p:nvPr/>
        </p:nvSpPr>
        <p:spPr>
          <a:xfrm>
            <a:off x="1097280" y="242316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Sinh tự hồi quy</a:t>
            </a:r>
            <a:endParaRPr lang="en-US" sz="1500" dirty="0"/>
          </a:p>
        </p:txBody>
      </p:sp>
      <p:sp>
        <p:nvSpPr>
          <p:cNvPr id="6" name="Text 4"/>
          <p:cNvSpPr/>
          <p:nvPr/>
        </p:nvSpPr>
        <p:spPr>
          <a:xfrm>
            <a:off x="4206240" y="239572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Claude là transformer decoder: mỗi token dự đoán dựa trên TOÀN BỘ chuỗi đã có trước đó, qua self-attention có mặt nạ nhân quả (causal mask).</a:t>
            </a:r>
            <a:endParaRPr lang="en-US" sz="1250" dirty="0"/>
          </a:p>
        </p:txBody>
      </p:sp>
      <p:sp>
        <p:nvSpPr>
          <p:cNvPr id="7" name="Shape 5"/>
          <p:cNvSpPr/>
          <p:nvPr/>
        </p:nvSpPr>
        <p:spPr>
          <a:xfrm>
            <a:off x="822960" y="3611880"/>
            <a:ext cx="10515600" cy="1143000"/>
          </a:xfrm>
          <a:prstGeom prst="roundRect">
            <a:avLst>
              <a:gd name="adj" fmla="val 6400"/>
            </a:avLst>
          </a:prstGeom>
          <a:solidFill>
            <a:srgbClr val="222E3A"/>
          </a:solidFill>
          <a:ln/>
        </p:spPr>
      </p:sp>
      <p:sp>
        <p:nvSpPr>
          <p:cNvPr id="8" name="Text 6"/>
          <p:cNvSpPr/>
          <p:nvPr/>
        </p:nvSpPr>
        <p:spPr>
          <a:xfrm>
            <a:off x="1097280" y="374904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Tri thức bị “đông cứng”</a:t>
            </a:r>
            <a:endParaRPr lang="en-US" sz="1500" dirty="0"/>
          </a:p>
        </p:txBody>
      </p:sp>
      <p:sp>
        <p:nvSpPr>
          <p:cNvPr id="9" name="Text 7"/>
          <p:cNvSpPr/>
          <p:nvPr/>
        </p:nvSpPr>
        <p:spPr>
          <a:xfrm>
            <a:off x="4206240" y="372160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Tri thức của mô hình nén vào trọng số lúc pretraining, cố định tại thời điểm suy luận — không thể biết điều luật ban hành sau đó.</a:t>
            </a:r>
            <a:endParaRPr lang="en-US" sz="1250" dirty="0"/>
          </a:p>
        </p:txBody>
      </p:sp>
      <p:sp>
        <p:nvSpPr>
          <p:cNvPr id="10" name="Shape 8"/>
          <p:cNvSpPr/>
          <p:nvPr/>
        </p:nvSpPr>
        <p:spPr>
          <a:xfrm>
            <a:off x="822960" y="4937760"/>
            <a:ext cx="10515600" cy="1143000"/>
          </a:xfrm>
          <a:prstGeom prst="roundRect">
            <a:avLst>
              <a:gd name="adj" fmla="val 6400"/>
            </a:avLst>
          </a:prstGeom>
          <a:solidFill>
            <a:srgbClr val="222E3A"/>
          </a:solidFill>
          <a:ln/>
        </p:spPr>
      </p:sp>
      <p:sp>
        <p:nvSpPr>
          <p:cNvPr id="11" name="Text 9"/>
          <p:cNvSpPr/>
          <p:nvPr/>
        </p:nvSpPr>
        <p:spPr>
          <a:xfrm>
            <a:off x="1097280" y="507492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In-context learning</a:t>
            </a:r>
            <a:endParaRPr lang="en-US" sz="1500" dirty="0"/>
          </a:p>
        </p:txBody>
      </p:sp>
      <p:sp>
        <p:nvSpPr>
          <p:cNvPr id="12" name="Text 10"/>
          <p:cNvSpPr/>
          <p:nvPr/>
        </p:nvSpPr>
        <p:spPr>
          <a:xfrm>
            <a:off x="4206240" y="504748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Khi đoạn trích dẫn thật được chèn vào prompt, self-attention “chú ý” đến chúng ở MỌI bước sinh tiếp theo — như một dạng suy luận few-shot không cần cập nhật trọng số.</a:t>
            </a:r>
            <a:endParaRPr lang="en-US" sz="1250" dirty="0"/>
          </a:p>
        </p:txBody>
      </p:sp>
      <p:sp>
        <p:nvSpPr>
          <p:cNvPr id="13" name="Text 11"/>
          <p:cNvSpPr/>
          <p:nvPr/>
        </p:nvSpPr>
        <p:spPr>
          <a:xfrm>
            <a:off x="822960" y="6263640"/>
            <a:ext cx="10515600" cy="365760"/>
          </a:xfrm>
          <a:prstGeom prst="rect">
            <a:avLst/>
          </a:prstGeom>
          <a:noFill/>
          <a:ln/>
        </p:spPr>
        <p:txBody>
          <a:bodyPr wrap="square" rtlCol="0" anchor="ctr"/>
          <a:lstStyle/>
          <a:p>
            <a:pPr indent="0" marL="0">
              <a:buNone/>
            </a:pPr>
            <a:r>
              <a:rPr lang="en-US" sz="1250" i="1" dirty="0">
                <a:solidFill>
                  <a:srgbClr val="2B6E62"/>
                </a:solidFill>
                <a:latin typeface="Calibri" pitchFamily="34" charset="0"/>
                <a:ea typeface="Calibri" pitchFamily="34" charset="-122"/>
                <a:cs typeface="Calibri" pitchFamily="34" charset="-120"/>
              </a:rPr>
              <a:t>Kết quả thực nghiệm (Slide 12) là bằng chứng định lượng trực tiếp cho lập luận này.</a:t>
            </a:r>
            <a:endParaRPr lang="en-US" sz="1250" dirty="0"/>
          </a:p>
        </p:txBody>
      </p:sp>
      <p:sp>
        <p:nvSpPr>
          <p:cNvPr id="14" name="Text 1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Đánh giá truy hồi trên 46 câu hỏi gán tay</a:t>
            </a:r>
            <a:endParaRPr lang="en-US" sz="3200" dirty="0"/>
          </a:p>
        </p:txBody>
      </p:sp>
      <p:graphicFrame>
        <p:nvGraphicFramePr>
          <p:cNvPr id="4" name="Chart 0" descr=""/>
          <p:cNvGraphicFramePr/>
          <p:nvPr/>
        </p:nvGraphicFramePr>
        <p:xfrm>
          <a:off x="548640" y="2148840"/>
          <a:ext cx="110642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6172200"/>
            <a:ext cx="11064240" cy="411480"/>
          </a:xfrm>
          <a:prstGeom prst="rect">
            <a:avLst/>
          </a:prstGeom>
          <a:noFill/>
          <a:ln/>
        </p:spPr>
        <p:txBody>
          <a:bodyPr wrap="square" rtlCol="0" anchor="ctr"/>
          <a:lstStyle/>
          <a:p>
            <a:pPr algn="ctr" indent="0" marL="0">
              <a:buNone/>
            </a:pPr>
            <a:r>
              <a:rPr lang="en-US" sz="1200" i="1" dirty="0">
                <a:solidFill>
                  <a:srgbClr val="2B6E62"/>
                </a:solidFill>
                <a:latin typeface="Calibri" pitchFamily="34" charset="0"/>
                <a:ea typeface="Calibri" pitchFamily="34" charset="-122"/>
                <a:cs typeface="Calibri" pitchFamily="34" charset="-120"/>
              </a:rPr>
              <a:t>Rerank cross-encoder cải thiện nhiều nhất trên mọi chỉ số — chi phí ~7.6s/câu (đã giảm 61% sau khi sửa lỗi hiệu năng — slide sau) so với ~0.06–0.3s không rerank.</a:t>
            </a:r>
            <a:endParaRPr lang="en-US" sz="1200" dirty="0"/>
          </a:p>
        </p:txBody>
      </p:sp>
      <p:sp>
        <p:nvSpPr>
          <p:cNvPr id="6" name="Text 3"/>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RÀ SOÁT KỸ THUẬT PIPELINE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3 lỗi thật phát hiện khi rà soát code — không chỉ đọc tài liệu</a:t>
            </a:r>
            <a:endParaRPr lang="en-US" sz="3200" dirty="0"/>
          </a:p>
        </p:txBody>
      </p:sp>
      <p:sp>
        <p:nvSpPr>
          <p:cNvPr id="4" name="Shape 2"/>
          <p:cNvSpPr/>
          <p:nvPr/>
        </p:nvSpPr>
        <p:spPr>
          <a:xfrm>
            <a:off x="548640" y="2148840"/>
            <a:ext cx="10881360" cy="1234440"/>
          </a:xfrm>
          <a:prstGeom prst="roundRect">
            <a:avLst>
              <a:gd name="adj" fmla="val 5926"/>
            </a:avLst>
          </a:prstGeom>
          <a:solidFill>
            <a:srgbClr val="FFFFFF"/>
          </a:solidFill>
          <a:ln/>
          <a:effectLst>
            <a:outerShdw sx="100000" sy="100000" kx="0" ky="0" algn="bl" rotWithShape="0" blurRad="76200" dist="25400" dir="5400000">
              <a:srgbClr val="000000">
                <a:alpha val="12000"/>
              </a:srgbClr>
            </a:outerShdw>
          </a:effectLst>
        </p:spPr>
      </p:sp>
      <p:sp>
        <p:nvSpPr>
          <p:cNvPr id="5" name="Shape 3"/>
          <p:cNvSpPr/>
          <p:nvPr/>
        </p:nvSpPr>
        <p:spPr>
          <a:xfrm>
            <a:off x="822960" y="2404872"/>
            <a:ext cx="685800" cy="685800"/>
          </a:xfrm>
          <a:prstGeom prst="ellipse">
            <a:avLst/>
          </a:prstGeom>
          <a:solidFill>
            <a:srgbClr val="B8863B"/>
          </a:solidFill>
          <a:ln/>
        </p:spPr>
      </p:sp>
      <p:sp>
        <p:nvSpPr>
          <p:cNvPr id="6" name="Text 4"/>
          <p:cNvSpPr/>
          <p:nvPr/>
        </p:nvSpPr>
        <p:spPr>
          <a:xfrm>
            <a:off x="822960" y="2404872"/>
            <a:ext cx="685800" cy="68580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1828800" y="2258568"/>
            <a:ext cx="6126480" cy="365760"/>
          </a:xfrm>
          <a:prstGeom prst="rect">
            <a:avLst/>
          </a:prstGeom>
          <a:noFill/>
          <a:ln/>
        </p:spPr>
        <p:txBody>
          <a:bodyPr wrap="square" rtlCol="0" anchor="ctr"/>
          <a:lstStyle/>
          <a:p>
            <a:pPr indent="0" marL="0">
              <a:buNone/>
            </a:pPr>
            <a:r>
              <a:rPr lang="en-US" sz="1450" b="1" dirty="0">
                <a:solidFill>
                  <a:srgbClr val="17212B"/>
                </a:solidFill>
                <a:latin typeface="Cambria" pitchFamily="34" charset="0"/>
                <a:ea typeface="Cambria" pitchFamily="34" charset="-122"/>
                <a:cs typeface="Cambria" pitchFamily="34" charset="-120"/>
              </a:rPr>
              <a:t>Rerank tải lại model mỗi lượt gọi</a:t>
            </a:r>
            <a:endParaRPr lang="en-US" sz="1450" dirty="0"/>
          </a:p>
        </p:txBody>
      </p:sp>
      <p:sp>
        <p:nvSpPr>
          <p:cNvPr id="8" name="Text 6"/>
          <p:cNvSpPr/>
          <p:nvPr/>
        </p:nvSpPr>
        <p:spPr>
          <a:xfrm>
            <a:off x="1828800" y="2624328"/>
            <a:ext cx="6126480" cy="685800"/>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CrossEncoder khởi tạo lại từ đầu mỗi lần — đo thực tế ~6-7s lãng phí/câu. Thêm cache theo tên model.</a:t>
            </a:r>
            <a:endParaRPr lang="en-US" sz="1100" dirty="0"/>
          </a:p>
        </p:txBody>
      </p:sp>
      <p:sp>
        <p:nvSpPr>
          <p:cNvPr id="9" name="Text 7"/>
          <p:cNvSpPr/>
          <p:nvPr/>
        </p:nvSpPr>
        <p:spPr>
          <a:xfrm>
            <a:off x="8138160" y="2286000"/>
            <a:ext cx="3063240" cy="960120"/>
          </a:xfrm>
          <a:prstGeom prst="rect">
            <a:avLst/>
          </a:prstGeom>
          <a:noFill/>
          <a:ln/>
        </p:spPr>
        <p:txBody>
          <a:bodyPr wrap="square" rtlCol="0" anchor="ctr"/>
          <a:lstStyle/>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-57% thời gian rerank</a:t>
            </a:r>
            <a:endParaRPr lang="en-US" sz="1200" dirty="0"/>
          </a:p>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(908s → 391s / 46 câu)</a:t>
            </a:r>
            <a:endParaRPr lang="en-US" sz="1200" dirty="0"/>
          </a:p>
        </p:txBody>
      </p:sp>
      <p:sp>
        <p:nvSpPr>
          <p:cNvPr id="10" name="Shape 8"/>
          <p:cNvSpPr/>
          <p:nvPr/>
        </p:nvSpPr>
        <p:spPr>
          <a:xfrm>
            <a:off x="548640" y="3566160"/>
            <a:ext cx="10881360" cy="1234440"/>
          </a:xfrm>
          <a:prstGeom prst="roundRect">
            <a:avLst>
              <a:gd name="adj" fmla="val 5926"/>
            </a:avLst>
          </a:prstGeom>
          <a:solidFill>
            <a:srgbClr val="FFFFFF"/>
          </a:solidFill>
          <a:ln/>
          <a:effectLst>
            <a:outerShdw sx="100000" sy="100000" kx="0" ky="0" algn="bl" rotWithShape="0" blurRad="76200" dist="25400" dir="5400000">
              <a:srgbClr val="000000">
                <a:alpha val="12000"/>
              </a:srgbClr>
            </a:outerShdw>
          </a:effectLst>
        </p:spPr>
      </p:sp>
      <p:sp>
        <p:nvSpPr>
          <p:cNvPr id="11" name="Shape 9"/>
          <p:cNvSpPr/>
          <p:nvPr/>
        </p:nvSpPr>
        <p:spPr>
          <a:xfrm>
            <a:off x="822960" y="3822192"/>
            <a:ext cx="685800" cy="685800"/>
          </a:xfrm>
          <a:prstGeom prst="ellipse">
            <a:avLst/>
          </a:prstGeom>
          <a:solidFill>
            <a:srgbClr val="B8863B"/>
          </a:solidFill>
          <a:ln/>
        </p:spPr>
      </p:sp>
      <p:sp>
        <p:nvSpPr>
          <p:cNvPr id="12" name="Text 10"/>
          <p:cNvSpPr/>
          <p:nvPr/>
        </p:nvSpPr>
        <p:spPr>
          <a:xfrm>
            <a:off x="822960" y="3822192"/>
            <a:ext cx="685800" cy="68580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1828800" y="3675888"/>
            <a:ext cx="6126480" cy="365760"/>
          </a:xfrm>
          <a:prstGeom prst="rect">
            <a:avLst/>
          </a:prstGeom>
          <a:noFill/>
          <a:ln/>
        </p:spPr>
        <p:txBody>
          <a:bodyPr wrap="square" rtlCol="0" anchor="ctr"/>
          <a:lstStyle/>
          <a:p>
            <a:pPr indent="0" marL="0">
              <a:buNone/>
            </a:pPr>
            <a:r>
              <a:rPr lang="en-US" sz="1450" b="1" dirty="0">
                <a:solidFill>
                  <a:srgbClr val="17212B"/>
                </a:solidFill>
                <a:latin typeface="Cambria" pitchFamily="34" charset="0"/>
                <a:ea typeface="Cambria" pitchFamily="34" charset="-122"/>
                <a:cs typeface="Cambria" pitchFamily="34" charset="-120"/>
              </a:rPr>
              <a:t>Đưa dư ứng viên vào rerank</a:t>
            </a:r>
            <a:endParaRPr lang="en-US" sz="1450" dirty="0"/>
          </a:p>
        </p:txBody>
      </p:sp>
      <p:sp>
        <p:nvSpPr>
          <p:cNvPr id="14" name="Text 12"/>
          <p:cNvSpPr/>
          <p:nvPr/>
        </p:nvSpPr>
        <p:spPr>
          <a:xfrm>
            <a:off x="1828800" y="4041648"/>
            <a:ext cx="6126480" cy="685800"/>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Hợp nhất RRF trả về tới 82 ứng viên thay vì 50 đã khai báo trước khi rerank — tăng 64% khối lượng tính.</a:t>
            </a:r>
            <a:endParaRPr lang="en-US" sz="1100" dirty="0"/>
          </a:p>
        </p:txBody>
      </p:sp>
      <p:sp>
        <p:nvSpPr>
          <p:cNvPr id="15" name="Text 13"/>
          <p:cNvSpPr/>
          <p:nvPr/>
        </p:nvSpPr>
        <p:spPr>
          <a:xfrm>
            <a:off x="8138160" y="3703320"/>
            <a:ext cx="3063240" cy="960120"/>
          </a:xfrm>
          <a:prstGeom prst="rect">
            <a:avLst/>
          </a:prstGeom>
          <a:noFill/>
          <a:ln/>
        </p:spPr>
        <p:txBody>
          <a:bodyPr wrap="square" rtlCol="0" anchor="ctr"/>
          <a:lstStyle/>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Cắt đúng candidate_k</a:t>
            </a:r>
            <a:endParaRPr lang="en-US" sz="1200" dirty="0"/>
          </a:p>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trước khi rerank</a:t>
            </a:r>
            <a:endParaRPr lang="en-US" sz="1200" dirty="0"/>
          </a:p>
        </p:txBody>
      </p:sp>
      <p:sp>
        <p:nvSpPr>
          <p:cNvPr id="16" name="Shape 14"/>
          <p:cNvSpPr/>
          <p:nvPr/>
        </p:nvSpPr>
        <p:spPr>
          <a:xfrm>
            <a:off x="548640" y="4983480"/>
            <a:ext cx="10881360" cy="1234440"/>
          </a:xfrm>
          <a:prstGeom prst="roundRect">
            <a:avLst>
              <a:gd name="adj" fmla="val 5926"/>
            </a:avLst>
          </a:prstGeom>
          <a:solidFill>
            <a:srgbClr val="FFFFFF"/>
          </a:solidFill>
          <a:ln/>
          <a:effectLst>
            <a:outerShdw sx="100000" sy="100000" kx="0" ky="0" algn="bl" rotWithShape="0" blurRad="76200" dist="25400" dir="5400000">
              <a:srgbClr val="000000">
                <a:alpha val="12000"/>
              </a:srgbClr>
            </a:outerShdw>
          </a:effectLst>
        </p:spPr>
      </p:sp>
      <p:sp>
        <p:nvSpPr>
          <p:cNvPr id="17" name="Shape 15"/>
          <p:cNvSpPr/>
          <p:nvPr/>
        </p:nvSpPr>
        <p:spPr>
          <a:xfrm>
            <a:off x="822960" y="5239512"/>
            <a:ext cx="685800" cy="685800"/>
          </a:xfrm>
          <a:prstGeom prst="ellipse">
            <a:avLst/>
          </a:prstGeom>
          <a:solidFill>
            <a:srgbClr val="B8863B"/>
          </a:solidFill>
          <a:ln/>
        </p:spPr>
      </p:sp>
      <p:sp>
        <p:nvSpPr>
          <p:cNvPr id="18" name="Text 16"/>
          <p:cNvSpPr/>
          <p:nvPr/>
        </p:nvSpPr>
        <p:spPr>
          <a:xfrm>
            <a:off x="822960" y="5239512"/>
            <a:ext cx="685800" cy="68580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1828800" y="5093208"/>
            <a:ext cx="6126480" cy="365760"/>
          </a:xfrm>
          <a:prstGeom prst="rect">
            <a:avLst/>
          </a:prstGeom>
          <a:noFill/>
          <a:ln/>
        </p:spPr>
        <p:txBody>
          <a:bodyPr wrap="square" rtlCol="0" anchor="ctr"/>
          <a:lstStyle/>
          <a:p>
            <a:pPr indent="0" marL="0">
              <a:buNone/>
            </a:pPr>
            <a:r>
              <a:rPr lang="en-US" sz="1450" b="1" dirty="0">
                <a:solidFill>
                  <a:srgbClr val="17212B"/>
                </a:solidFill>
                <a:latin typeface="Cambria" pitchFamily="34" charset="0"/>
                <a:ea typeface="Cambria" pitchFamily="34" charset="-122"/>
                <a:cs typeface="Cambria" pitchFamily="34" charset="-120"/>
              </a:rPr>
              <a:t>65% chunk bị cắt âm thầm khi embed</a:t>
            </a:r>
            <a:endParaRPr lang="en-US" sz="1450" dirty="0"/>
          </a:p>
        </p:txBody>
      </p:sp>
      <p:sp>
        <p:nvSpPr>
          <p:cNvPr id="20" name="Text 18"/>
          <p:cNvSpPr/>
          <p:nvPr/>
        </p:nvSpPr>
        <p:spPr>
          <a:xfrm>
            <a:off x="1828800" y="5458968"/>
            <a:ext cx="6126480" cy="685800"/>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vietnamese-bi-encoder giới hạn KIẾN TRÚC 256 token, nhưng 447/684 chunk dài hơn — SentenceTransformer.encode() cắt phần sau, không báo lỗi.</a:t>
            </a:r>
            <a:endParaRPr lang="en-US" sz="1100" dirty="0"/>
          </a:p>
        </p:txBody>
      </p:sp>
      <p:sp>
        <p:nvSpPr>
          <p:cNvPr id="21" name="Text 19"/>
          <p:cNvSpPr/>
          <p:nvPr/>
        </p:nvSpPr>
        <p:spPr>
          <a:xfrm>
            <a:off x="8138160" y="5120640"/>
            <a:ext cx="3063240" cy="960120"/>
          </a:xfrm>
          <a:prstGeom prst="rect">
            <a:avLst/>
          </a:prstGeom>
          <a:noFill/>
          <a:ln/>
        </p:spPr>
        <p:txBody>
          <a:bodyPr wrap="square" rtlCol="0" anchor="ctr"/>
          <a:lstStyle/>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Độ tách biệt embedding</a:t>
            </a:r>
            <a:endParaRPr lang="en-US" sz="1200" dirty="0"/>
          </a:p>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+13% đến +15%</a:t>
            </a:r>
            <a:endParaRPr lang="en-US" sz="1200" dirty="0"/>
          </a:p>
        </p:txBody>
      </p:sp>
      <p:sp>
        <p:nvSpPr>
          <p:cNvPr id="22" name="Text 20"/>
          <p:cNvSpPr/>
          <p:nvPr/>
        </p:nvSpPr>
        <p:spPr>
          <a:xfrm>
            <a:off x="548640" y="6446520"/>
            <a:ext cx="10881360" cy="320040"/>
          </a:xfrm>
          <a:prstGeom prst="rect">
            <a:avLst/>
          </a:prstGeom>
          <a:noFill/>
          <a:ln/>
        </p:spPr>
        <p:txBody>
          <a:bodyPr wrap="square" rtlCol="0" anchor="ctr"/>
          <a:lstStyle/>
          <a:p>
            <a:pPr algn="ctr" indent="0" marL="0">
              <a:buNone/>
            </a:pPr>
            <a:r>
              <a:rPr lang="en-US" sz="1100" i="1" dirty="0">
                <a:solidFill>
                  <a:srgbClr val="5B6672"/>
                </a:solidFill>
                <a:latin typeface="Calibri" pitchFamily="34" charset="0"/>
                <a:ea typeface="Calibri" pitchFamily="34" charset="-122"/>
                <a:cs typeface="Calibri" pitchFamily="34" charset="-120"/>
              </a:rPr>
              <a:t>Đo lại bằng eval thật sau mỗi fix — không suy đoán tác động. Chi tiết: docs/DATA_CARD.md Mục 12.1.</a:t>
            </a:r>
            <a:endParaRPr lang="en-US" sz="1100" dirty="0"/>
          </a:p>
        </p:txBody>
      </p:sp>
      <p:sp>
        <p:nvSpPr>
          <p:cNvPr id="23" name="Text 21"/>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RAG so với gọi thẳng LLM: bằng chứng định lượng</a:t>
            </a:r>
            <a:endParaRPr lang="en-US" sz="3200" dirty="0"/>
          </a:p>
        </p:txBody>
      </p:sp>
      <p:sp>
        <p:nvSpPr>
          <p:cNvPr id="4" name="Shape 2"/>
          <p:cNvSpPr/>
          <p:nvPr/>
        </p:nvSpPr>
        <p:spPr>
          <a:xfrm>
            <a:off x="822960" y="2286000"/>
            <a:ext cx="5166360" cy="3566160"/>
          </a:xfrm>
          <a:prstGeom prst="roundRect">
            <a:avLst>
              <a:gd name="adj" fmla="val 2051"/>
            </a:avLst>
          </a:prstGeom>
          <a:solidFill>
            <a:srgbClr val="222E3A"/>
          </a:solidFill>
          <a:ln/>
          <a:effectLst>
            <a:outerShdw sx="100000" sy="100000" kx="0" ky="0" algn="bl" rotWithShape="0" blurRad="76200" dist="25400" dir="5400000">
              <a:srgbClr val="000000">
                <a:alpha val="12000"/>
              </a:srgbClr>
            </a:outerShdw>
          </a:effectLst>
        </p:spPr>
      </p:sp>
      <p:sp>
        <p:nvSpPr>
          <p:cNvPr id="5" name="Text 3"/>
          <p:cNvSpPr/>
          <p:nvPr/>
        </p:nvSpPr>
        <p:spPr>
          <a:xfrm>
            <a:off x="1188720" y="2514600"/>
            <a:ext cx="448056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FAITHFULNESS</a:t>
            </a:r>
            <a:endParaRPr lang="en-US" sz="1300" dirty="0"/>
          </a:p>
        </p:txBody>
      </p:sp>
      <p:sp>
        <p:nvSpPr>
          <p:cNvPr id="6" name="Text 4"/>
          <p:cNvSpPr/>
          <p:nvPr/>
        </p:nvSpPr>
        <p:spPr>
          <a:xfrm>
            <a:off x="1188720" y="2926080"/>
            <a:ext cx="2011680" cy="1371600"/>
          </a:xfrm>
          <a:prstGeom prst="rect">
            <a:avLst/>
          </a:prstGeom>
          <a:noFill/>
          <a:ln/>
        </p:spPr>
        <p:txBody>
          <a:bodyPr wrap="square" rtlCol="0" anchor="ctr"/>
          <a:lstStyle/>
          <a:p>
            <a:pPr algn="l" indent="0" marL="0">
              <a:buNone/>
            </a:pPr>
            <a:r>
              <a:rPr lang="en-US" sz="5200" b="1" dirty="0">
                <a:solidFill>
                  <a:srgbClr val="8A93A0"/>
                </a:solidFill>
                <a:latin typeface="Cambria" pitchFamily="34" charset="0"/>
                <a:ea typeface="Cambria" pitchFamily="34" charset="-122"/>
                <a:cs typeface="Cambria" pitchFamily="34" charset="-120"/>
              </a:rPr>
              <a:t>0.41</a:t>
            </a:r>
            <a:endParaRPr lang="en-US" sz="5200" dirty="0"/>
          </a:p>
        </p:txBody>
      </p:sp>
      <p:sp>
        <p:nvSpPr>
          <p:cNvPr id="7" name="Shape 5"/>
          <p:cNvSpPr/>
          <p:nvPr/>
        </p:nvSpPr>
        <p:spPr>
          <a:xfrm>
            <a:off x="3154680" y="3429000"/>
            <a:ext cx="502920" cy="365760"/>
          </a:xfrm>
          <a:prstGeom prst="rightArrow">
            <a:avLst/>
          </a:prstGeom>
          <a:solidFill>
            <a:srgbClr val="B8863B"/>
          </a:solidFill>
          <a:ln/>
        </p:spPr>
      </p:sp>
      <p:sp>
        <p:nvSpPr>
          <p:cNvPr id="8" name="Text 6"/>
          <p:cNvSpPr/>
          <p:nvPr/>
        </p:nvSpPr>
        <p:spPr>
          <a:xfrm>
            <a:off x="3749040" y="2926080"/>
            <a:ext cx="1828800" cy="1371600"/>
          </a:xfrm>
          <a:prstGeom prst="rect">
            <a:avLst/>
          </a:prstGeom>
          <a:noFill/>
          <a:ln/>
        </p:spPr>
        <p:txBody>
          <a:bodyPr wrap="square" rtlCol="0" anchor="ctr"/>
          <a:lstStyle/>
          <a:p>
            <a:pPr algn="l" indent="0" marL="0">
              <a:buNone/>
            </a:pPr>
            <a:r>
              <a:rPr lang="en-US" sz="5200" b="1" dirty="0">
                <a:solidFill>
                  <a:srgbClr val="B8863B"/>
                </a:solidFill>
                <a:latin typeface="Cambria" pitchFamily="34" charset="0"/>
                <a:ea typeface="Cambria" pitchFamily="34" charset="-122"/>
                <a:cs typeface="Cambria" pitchFamily="34" charset="-120"/>
              </a:rPr>
              <a:t>0.94</a:t>
            </a:r>
            <a:endParaRPr lang="en-US" sz="5200" dirty="0"/>
          </a:p>
        </p:txBody>
      </p:sp>
      <p:sp>
        <p:nvSpPr>
          <p:cNvPr id="9" name="Text 7"/>
          <p:cNvSpPr/>
          <p:nvPr/>
        </p:nvSpPr>
        <p:spPr>
          <a:xfrm>
            <a:off x="1188720" y="4480560"/>
            <a:ext cx="4480560" cy="365760"/>
          </a:xfrm>
          <a:prstGeom prst="rect">
            <a:avLst/>
          </a:prstGeom>
          <a:noFill/>
          <a:ln/>
        </p:spPr>
        <p:txBody>
          <a:bodyPr wrap="square" rtlCol="0" anchor="ctr"/>
          <a:lstStyle/>
          <a:p>
            <a:pPr indent="0" marL="0">
              <a:buNone/>
            </a:pPr>
            <a:r>
              <a:rPr lang="en-US" sz="1250" dirty="0">
                <a:solidFill>
                  <a:srgbClr val="CFE0DC"/>
                </a:solidFill>
                <a:latin typeface="Calibri" pitchFamily="34" charset="0"/>
                <a:ea typeface="Calibri" pitchFamily="34" charset="-122"/>
                <a:cs typeface="Calibri" pitchFamily="34" charset="-120"/>
              </a:rPr>
              <a:t>LLM-only  →  RAG (bám căn cứ pháp lý)</a:t>
            </a:r>
            <a:endParaRPr lang="en-US" sz="1250" dirty="0"/>
          </a:p>
        </p:txBody>
      </p:sp>
      <p:sp>
        <p:nvSpPr>
          <p:cNvPr id="10" name="Shape 8"/>
          <p:cNvSpPr/>
          <p:nvPr/>
        </p:nvSpPr>
        <p:spPr>
          <a:xfrm>
            <a:off x="6263640" y="2286000"/>
            <a:ext cx="5166360" cy="3566160"/>
          </a:xfrm>
          <a:prstGeom prst="roundRect">
            <a:avLst>
              <a:gd name="adj" fmla="val 2051"/>
            </a:avLst>
          </a:prstGeom>
          <a:solidFill>
            <a:srgbClr val="222E3A"/>
          </a:solidFill>
          <a:ln/>
          <a:effectLst>
            <a:outerShdw sx="100000" sy="100000" kx="0" ky="0" algn="bl" rotWithShape="0" blurRad="76200" dist="25400" dir="5400000">
              <a:srgbClr val="000000">
                <a:alpha val="12000"/>
              </a:srgbClr>
            </a:outerShdw>
          </a:effectLst>
        </p:spPr>
      </p:sp>
      <p:sp>
        <p:nvSpPr>
          <p:cNvPr id="11" name="Text 9"/>
          <p:cNvSpPr/>
          <p:nvPr/>
        </p:nvSpPr>
        <p:spPr>
          <a:xfrm>
            <a:off x="6629400" y="2514600"/>
            <a:ext cx="448056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COMPLETENESS</a:t>
            </a:r>
            <a:endParaRPr lang="en-US" sz="1300" dirty="0"/>
          </a:p>
        </p:txBody>
      </p:sp>
      <p:sp>
        <p:nvSpPr>
          <p:cNvPr id="12" name="Text 10"/>
          <p:cNvSpPr/>
          <p:nvPr/>
        </p:nvSpPr>
        <p:spPr>
          <a:xfrm>
            <a:off x="6629400" y="2926080"/>
            <a:ext cx="2011680" cy="1371600"/>
          </a:xfrm>
          <a:prstGeom prst="rect">
            <a:avLst/>
          </a:prstGeom>
          <a:noFill/>
          <a:ln/>
        </p:spPr>
        <p:txBody>
          <a:bodyPr wrap="square" rtlCol="0" anchor="ctr"/>
          <a:lstStyle/>
          <a:p>
            <a:pPr algn="l" indent="0" marL="0">
              <a:buNone/>
            </a:pPr>
            <a:r>
              <a:rPr lang="en-US" sz="5200" b="1" dirty="0">
                <a:solidFill>
                  <a:srgbClr val="8A93A0"/>
                </a:solidFill>
                <a:latin typeface="Cambria" pitchFamily="34" charset="0"/>
                <a:ea typeface="Cambria" pitchFamily="34" charset="-122"/>
                <a:cs typeface="Cambria" pitchFamily="34" charset="-120"/>
              </a:rPr>
              <a:t>0.44</a:t>
            </a:r>
            <a:endParaRPr lang="en-US" sz="5200" dirty="0"/>
          </a:p>
        </p:txBody>
      </p:sp>
      <p:sp>
        <p:nvSpPr>
          <p:cNvPr id="13" name="Shape 11"/>
          <p:cNvSpPr/>
          <p:nvPr/>
        </p:nvSpPr>
        <p:spPr>
          <a:xfrm>
            <a:off x="8595360" y="3429000"/>
            <a:ext cx="502920" cy="365760"/>
          </a:xfrm>
          <a:prstGeom prst="rightArrow">
            <a:avLst/>
          </a:prstGeom>
          <a:solidFill>
            <a:srgbClr val="B8863B"/>
          </a:solidFill>
          <a:ln/>
        </p:spPr>
      </p:sp>
      <p:sp>
        <p:nvSpPr>
          <p:cNvPr id="14" name="Text 12"/>
          <p:cNvSpPr/>
          <p:nvPr/>
        </p:nvSpPr>
        <p:spPr>
          <a:xfrm>
            <a:off x="9189720" y="2926080"/>
            <a:ext cx="1828800" cy="1371600"/>
          </a:xfrm>
          <a:prstGeom prst="rect">
            <a:avLst/>
          </a:prstGeom>
          <a:noFill/>
          <a:ln/>
        </p:spPr>
        <p:txBody>
          <a:bodyPr wrap="square" rtlCol="0" anchor="ctr"/>
          <a:lstStyle/>
          <a:p>
            <a:pPr algn="l" indent="0" marL="0">
              <a:buNone/>
            </a:pPr>
            <a:r>
              <a:rPr lang="en-US" sz="5200" b="1" dirty="0">
                <a:solidFill>
                  <a:srgbClr val="B8863B"/>
                </a:solidFill>
                <a:latin typeface="Cambria" pitchFamily="34" charset="0"/>
                <a:ea typeface="Cambria" pitchFamily="34" charset="-122"/>
                <a:cs typeface="Cambria" pitchFamily="34" charset="-120"/>
              </a:rPr>
              <a:t>0.87</a:t>
            </a:r>
            <a:endParaRPr lang="en-US" sz="5200" dirty="0"/>
          </a:p>
        </p:txBody>
      </p:sp>
      <p:sp>
        <p:nvSpPr>
          <p:cNvPr id="15" name="Text 13"/>
          <p:cNvSpPr/>
          <p:nvPr/>
        </p:nvSpPr>
        <p:spPr>
          <a:xfrm>
            <a:off x="6629400" y="4480560"/>
            <a:ext cx="4480560" cy="365760"/>
          </a:xfrm>
          <a:prstGeom prst="rect">
            <a:avLst/>
          </a:prstGeom>
          <a:noFill/>
          <a:ln/>
        </p:spPr>
        <p:txBody>
          <a:bodyPr wrap="square" rtlCol="0" anchor="ctr"/>
          <a:lstStyle/>
          <a:p>
            <a:pPr indent="0" marL="0">
              <a:buNone/>
            </a:pPr>
            <a:r>
              <a:rPr lang="en-US" sz="1250" dirty="0">
                <a:solidFill>
                  <a:srgbClr val="CFE0DC"/>
                </a:solidFill>
                <a:latin typeface="Calibri" pitchFamily="34" charset="0"/>
                <a:ea typeface="Calibri" pitchFamily="34" charset="-122"/>
                <a:cs typeface="Calibri" pitchFamily="34" charset="-120"/>
              </a:rPr>
              <a:t>LLM-only  →  RAG (đầy đủ nội dung yêu cầu)</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indent="0" marL="0">
              <a:buNone/>
            </a:pPr>
            <a:r>
              <a:rPr lang="en-US" sz="1150" i="1" dirty="0">
                <a:solidFill>
                  <a:srgbClr val="9FB0AB"/>
                </a:solidFill>
                <a:latin typeface="Calibri" pitchFamily="34" charset="0"/>
                <a:ea typeface="Calibri" pitchFamily="34" charset="-122"/>
                <a:cs typeface="Calibri" pitchFamily="34" charset="-120"/>
              </a:rPr>
              <a:t>Đo bằng LLM-as-judge trên 8 câu hỏi soạn mục HSMT thật (n=8 — bằng chứng định hướng, chưa phải kết luận thống kê chặt).</a:t>
            </a:r>
            <a:endParaRPr lang="en-US" sz="1150" dirty="0"/>
          </a:p>
        </p:txBody>
      </p:sp>
      <p:sp>
        <p:nvSpPr>
          <p:cNvPr id="17" name="Text 15"/>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THẢO LUẬN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Giới hạn còn tồn tại</a:t>
            </a:r>
            <a:endParaRPr lang="en-US" sz="3200" dirty="0"/>
          </a:p>
        </p:txBody>
      </p:sp>
      <p:sp>
        <p:nvSpPr>
          <p:cNvPr id="4" name="Shape 2"/>
          <p:cNvSpPr/>
          <p:nvPr/>
        </p:nvSpPr>
        <p:spPr>
          <a:xfrm>
            <a:off x="640080" y="1965960"/>
            <a:ext cx="10881360" cy="658368"/>
          </a:xfrm>
          <a:prstGeom prst="roundRect">
            <a:avLst>
              <a:gd name="adj" fmla="val 8333"/>
            </a:avLst>
          </a:prstGeom>
          <a:solidFill>
            <a:srgbClr val="FFFFFF"/>
          </a:solidFill>
          <a:ln/>
        </p:spPr>
      </p:sp>
      <p:sp>
        <p:nvSpPr>
          <p:cNvPr id="5" name="Shape 3"/>
          <p:cNvSpPr/>
          <p:nvPr/>
        </p:nvSpPr>
        <p:spPr>
          <a:xfrm>
            <a:off x="868680" y="2066544"/>
            <a:ext cx="457200" cy="457200"/>
          </a:xfrm>
          <a:prstGeom prst="ellipse">
            <a:avLst/>
          </a:prstGeom>
          <a:solidFill>
            <a:srgbClr val="B8863B"/>
          </a:solidFill>
          <a:ln/>
        </p:spPr>
      </p:sp>
      <p:sp>
        <p:nvSpPr>
          <p:cNvPr id="6" name="Text 4"/>
          <p:cNvSpPr/>
          <p:nvPr/>
        </p:nvSpPr>
        <p:spPr>
          <a:xfrm>
            <a:off x="868680" y="2066544"/>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p:nvPr/>
        </p:nvSpPr>
        <p:spPr>
          <a:xfrm>
            <a:off x="1508760" y="1965960"/>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Giám khảo LLM-as-judge cùng họ mô hình với mô hình sinh — có thể thiên lệch tự ưu ái.</a:t>
            </a:r>
            <a:endParaRPr lang="en-US" sz="1200" dirty="0"/>
          </a:p>
        </p:txBody>
      </p:sp>
      <p:sp>
        <p:nvSpPr>
          <p:cNvPr id="8" name="Shape 6"/>
          <p:cNvSpPr/>
          <p:nvPr/>
        </p:nvSpPr>
        <p:spPr>
          <a:xfrm>
            <a:off x="640080" y="2734056"/>
            <a:ext cx="10881360" cy="658368"/>
          </a:xfrm>
          <a:prstGeom prst="roundRect">
            <a:avLst>
              <a:gd name="adj" fmla="val 8333"/>
            </a:avLst>
          </a:prstGeom>
          <a:solidFill>
            <a:srgbClr val="FFFFFF"/>
          </a:solidFill>
          <a:ln/>
        </p:spPr>
      </p:sp>
      <p:sp>
        <p:nvSpPr>
          <p:cNvPr id="9" name="Shape 7"/>
          <p:cNvSpPr/>
          <p:nvPr/>
        </p:nvSpPr>
        <p:spPr>
          <a:xfrm>
            <a:off x="868680" y="2834640"/>
            <a:ext cx="457200" cy="457200"/>
          </a:xfrm>
          <a:prstGeom prst="ellipse">
            <a:avLst/>
          </a:prstGeom>
          <a:solidFill>
            <a:srgbClr val="B8863B"/>
          </a:solidFill>
          <a:ln/>
        </p:spPr>
      </p:sp>
      <p:sp>
        <p:nvSpPr>
          <p:cNvPr id="10" name="Text 8"/>
          <p:cNvSpPr/>
          <p:nvPr/>
        </p:nvSpPr>
        <p:spPr>
          <a:xfrm>
            <a:off x="868680" y="2834640"/>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9"/>
          <p:cNvSpPr/>
          <p:nvPr/>
        </p:nvSpPr>
        <p:spPr>
          <a:xfrm>
            <a:off x="1508760" y="2734056"/>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Cỡ mẫu đánh giá sinh văn bản (n=8) còn nhỏ, cần mở rộng để có ý nghĩa thống kê chặt hơn.</a:t>
            </a:r>
            <a:endParaRPr lang="en-US" sz="1200" dirty="0"/>
          </a:p>
        </p:txBody>
      </p:sp>
      <p:sp>
        <p:nvSpPr>
          <p:cNvPr id="12" name="Shape 10"/>
          <p:cNvSpPr/>
          <p:nvPr/>
        </p:nvSpPr>
        <p:spPr>
          <a:xfrm>
            <a:off x="640080" y="3502152"/>
            <a:ext cx="10881360" cy="658368"/>
          </a:xfrm>
          <a:prstGeom prst="roundRect">
            <a:avLst>
              <a:gd name="adj" fmla="val 8333"/>
            </a:avLst>
          </a:prstGeom>
          <a:solidFill>
            <a:srgbClr val="FFFFFF"/>
          </a:solidFill>
          <a:ln/>
        </p:spPr>
      </p:sp>
      <p:sp>
        <p:nvSpPr>
          <p:cNvPr id="13" name="Shape 11"/>
          <p:cNvSpPr/>
          <p:nvPr/>
        </p:nvSpPr>
        <p:spPr>
          <a:xfrm>
            <a:off x="868680" y="3602736"/>
            <a:ext cx="457200" cy="457200"/>
          </a:xfrm>
          <a:prstGeom prst="ellipse">
            <a:avLst/>
          </a:prstGeom>
          <a:solidFill>
            <a:srgbClr val="2B6E62"/>
          </a:solidFill>
          <a:ln/>
        </p:spPr>
      </p:sp>
      <p:sp>
        <p:nvSpPr>
          <p:cNvPr id="14" name="Text 12"/>
          <p:cNvSpPr/>
          <p:nvPr/>
        </p:nvSpPr>
        <p:spPr>
          <a:xfrm>
            <a:off x="868680" y="3602736"/>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3"/>
          <p:cNvSpPr/>
          <p:nvPr/>
        </p:nvSpPr>
        <p:spPr>
          <a:xfrm>
            <a:off x="1508760" y="3502152"/>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Sau khi sửa lỗi cắt âm thầm chunk, Recall@5 SAU rerank giảm nhẹ (0.804→0.761) trên tập 46 câu — 46 câu chưa đủ để phân biệt xu hướng thật với nhiễu thống kê, cần tập lớn hơn để đánh giá lại.</a:t>
            </a:r>
            <a:endParaRPr lang="en-US" sz="1200" dirty="0"/>
          </a:p>
        </p:txBody>
      </p:sp>
      <p:sp>
        <p:nvSpPr>
          <p:cNvPr id="16" name="Shape 14"/>
          <p:cNvSpPr/>
          <p:nvPr/>
        </p:nvSpPr>
        <p:spPr>
          <a:xfrm>
            <a:off x="640080" y="4270248"/>
            <a:ext cx="10881360" cy="658368"/>
          </a:xfrm>
          <a:prstGeom prst="roundRect">
            <a:avLst>
              <a:gd name="adj" fmla="val 8333"/>
            </a:avLst>
          </a:prstGeom>
          <a:solidFill>
            <a:srgbClr val="FFFFFF"/>
          </a:solidFill>
          <a:ln/>
        </p:spPr>
      </p:sp>
      <p:sp>
        <p:nvSpPr>
          <p:cNvPr id="17" name="Shape 15"/>
          <p:cNvSpPr/>
          <p:nvPr/>
        </p:nvSpPr>
        <p:spPr>
          <a:xfrm>
            <a:off x="868680" y="4370832"/>
            <a:ext cx="457200" cy="457200"/>
          </a:xfrm>
          <a:prstGeom prst="ellipse">
            <a:avLst/>
          </a:prstGeom>
          <a:solidFill>
            <a:srgbClr val="2B6E62"/>
          </a:solidFill>
          <a:ln/>
        </p:spPr>
      </p:sp>
      <p:sp>
        <p:nvSpPr>
          <p:cNvPr id="18" name="Text 16"/>
          <p:cNvSpPr/>
          <p:nvPr/>
        </p:nvSpPr>
        <p:spPr>
          <a:xfrm>
            <a:off x="868680" y="4370832"/>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7"/>
          <p:cNvSpPr/>
          <p:nvPr/>
        </p:nvSpPr>
        <p:spPr>
          <a:xfrm>
            <a:off x="1508760" y="4270248"/>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Chưa có HSMT thật đã phê duyệt trong kho tri thức — hệ thống mạng đấu thầu quốc gia yêu cầu đăng nhập + Client Agent chỉ chạy Windows.</a:t>
            </a:r>
            <a:endParaRPr lang="en-US" sz="1200" dirty="0"/>
          </a:p>
        </p:txBody>
      </p:sp>
      <p:sp>
        <p:nvSpPr>
          <p:cNvPr id="20" name="Shape 18"/>
          <p:cNvSpPr/>
          <p:nvPr/>
        </p:nvSpPr>
        <p:spPr>
          <a:xfrm>
            <a:off x="640080" y="5038344"/>
            <a:ext cx="10881360" cy="658368"/>
          </a:xfrm>
          <a:prstGeom prst="roundRect">
            <a:avLst>
              <a:gd name="adj" fmla="val 8333"/>
            </a:avLst>
          </a:prstGeom>
          <a:solidFill>
            <a:srgbClr val="FFFFFF"/>
          </a:solidFill>
          <a:ln/>
        </p:spPr>
      </p:sp>
      <p:sp>
        <p:nvSpPr>
          <p:cNvPr id="21" name="Shape 19"/>
          <p:cNvSpPr/>
          <p:nvPr/>
        </p:nvSpPr>
        <p:spPr>
          <a:xfrm>
            <a:off x="868680" y="5138928"/>
            <a:ext cx="457200" cy="457200"/>
          </a:xfrm>
          <a:prstGeom prst="ellipse">
            <a:avLst/>
          </a:prstGeom>
          <a:solidFill>
            <a:srgbClr val="2B6E62"/>
          </a:solidFill>
          <a:ln/>
        </p:spPr>
      </p:sp>
      <p:sp>
        <p:nvSpPr>
          <p:cNvPr id="22" name="Text 20"/>
          <p:cNvSpPr/>
          <p:nvPr/>
        </p:nvSpPr>
        <p:spPr>
          <a:xfrm>
            <a:off x="868680" y="5138928"/>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3" name="Text 21"/>
          <p:cNvSpPr/>
          <p:nvPr/>
        </p:nvSpPr>
        <p:spPr>
          <a:xfrm>
            <a:off x="1508760" y="5038344"/>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Mức 3 mới ghép được nội dung AI soạn, chưa lắp khung cố định (chỉ dẫn nhà thầu, bảng dữ liệu đấu thầu).</a:t>
            </a:r>
            <a:endParaRPr lang="en-US" sz="1200" dirty="0"/>
          </a:p>
        </p:txBody>
      </p:sp>
      <p:sp>
        <p:nvSpPr>
          <p:cNvPr id="24" name="Shape 22"/>
          <p:cNvSpPr/>
          <p:nvPr/>
        </p:nvSpPr>
        <p:spPr>
          <a:xfrm>
            <a:off x="640080" y="5806440"/>
            <a:ext cx="10881360" cy="658368"/>
          </a:xfrm>
          <a:prstGeom prst="roundRect">
            <a:avLst>
              <a:gd name="adj" fmla="val 8333"/>
            </a:avLst>
          </a:prstGeom>
          <a:solidFill>
            <a:srgbClr val="FFFFFF"/>
          </a:solidFill>
          <a:ln/>
        </p:spPr>
      </p:sp>
      <p:sp>
        <p:nvSpPr>
          <p:cNvPr id="25" name="Shape 23"/>
          <p:cNvSpPr/>
          <p:nvPr/>
        </p:nvSpPr>
        <p:spPr>
          <a:xfrm>
            <a:off x="868680" y="5907024"/>
            <a:ext cx="457200" cy="457200"/>
          </a:xfrm>
          <a:prstGeom prst="ellipse">
            <a:avLst/>
          </a:prstGeom>
          <a:solidFill>
            <a:srgbClr val="2B6E62"/>
          </a:solidFill>
          <a:ln/>
        </p:spPr>
      </p:sp>
      <p:sp>
        <p:nvSpPr>
          <p:cNvPr id="26" name="Text 24"/>
          <p:cNvSpPr/>
          <p:nvPr/>
        </p:nvSpPr>
        <p:spPr>
          <a:xfrm>
            <a:off x="868680" y="5907024"/>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p:nvPr/>
        </p:nvSpPr>
        <p:spPr>
          <a:xfrm>
            <a:off x="1508760" y="5806440"/>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Rerank cross-encoder vẫn còn độ trễ đáng kể (~7.6s/câu, đã giảm từ ~20s/câu) — cần cân nhắc cho luồng tương tác thời gian thực.</a:t>
            </a:r>
            <a:endParaRPr lang="en-US" sz="1200" dirty="0"/>
          </a:p>
        </p:txBody>
      </p:sp>
      <p:sp>
        <p:nvSpPr>
          <p:cNvPr id="28" name="Text 26"/>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KẾT LUẬN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Đóng góp Deep Learning nằm ở thiết kế, ghép nối và đánh giá — đúng đề cương</a:t>
            </a:r>
            <a:endParaRPr lang="en-US" sz="2800" dirty="0"/>
          </a:p>
        </p:txBody>
      </p:sp>
      <p:sp>
        <p:nvSpPr>
          <p:cNvPr id="4" name="Shape 2"/>
          <p:cNvSpPr/>
          <p:nvPr/>
        </p:nvSpPr>
        <p:spPr>
          <a:xfrm>
            <a:off x="822960" y="2441448"/>
            <a:ext cx="128016" cy="128016"/>
          </a:xfrm>
          <a:prstGeom prst="ellipse">
            <a:avLst/>
          </a:prstGeom>
          <a:solidFill>
            <a:srgbClr val="B8863B"/>
          </a:solidFill>
          <a:ln/>
        </p:spPr>
      </p:sp>
      <p:sp>
        <p:nvSpPr>
          <p:cNvPr id="5" name="Text 3"/>
          <p:cNvSpPr/>
          <p:nvPr/>
        </p:nvSpPr>
        <p:spPr>
          <a:xfrm>
            <a:off x="1143000" y="233172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Kho tri thức pháp luật thật 326 Điều — bao gồm 1 văn bản chuyên ngành CNTT khôi phục từ nguồn thay thế khi bản chính thức chỉ có scan ảnh.</a:t>
            </a:r>
            <a:endParaRPr lang="en-US" sz="1400" dirty="0"/>
          </a:p>
        </p:txBody>
      </p:sp>
      <p:sp>
        <p:nvSpPr>
          <p:cNvPr id="6" name="Shape 4"/>
          <p:cNvSpPr/>
          <p:nvPr/>
        </p:nvSpPr>
        <p:spPr>
          <a:xfrm>
            <a:off x="822960" y="3218688"/>
            <a:ext cx="128016" cy="128016"/>
          </a:xfrm>
          <a:prstGeom prst="ellipse">
            <a:avLst/>
          </a:prstGeom>
          <a:solidFill>
            <a:srgbClr val="B8863B"/>
          </a:solidFill>
          <a:ln/>
        </p:spPr>
      </p:sp>
      <p:sp>
        <p:nvSpPr>
          <p:cNvPr id="7" name="Text 5"/>
          <p:cNvSpPr/>
          <p:nvPr/>
        </p:nvSpPr>
        <p:spPr>
          <a:xfrm>
            <a:off x="1143000" y="310896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Truy hồi lai + rerank vượt trội mọi phương án đơn lẻ: Recall@5 = 0.761.</a:t>
            </a:r>
            <a:endParaRPr lang="en-US" sz="1400" dirty="0"/>
          </a:p>
        </p:txBody>
      </p:sp>
      <p:sp>
        <p:nvSpPr>
          <p:cNvPr id="8" name="Shape 6"/>
          <p:cNvSpPr/>
          <p:nvPr/>
        </p:nvSpPr>
        <p:spPr>
          <a:xfrm>
            <a:off x="822960" y="3995928"/>
            <a:ext cx="128016" cy="128016"/>
          </a:xfrm>
          <a:prstGeom prst="ellipse">
            <a:avLst/>
          </a:prstGeom>
          <a:solidFill>
            <a:srgbClr val="B8863B"/>
          </a:solidFill>
          <a:ln/>
        </p:spPr>
      </p:sp>
      <p:sp>
        <p:nvSpPr>
          <p:cNvPr id="9" name="Text 7"/>
          <p:cNvSpPr/>
          <p:nvPr/>
        </p:nvSpPr>
        <p:spPr>
          <a:xfrm>
            <a:off x="1143000" y="388620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RAG nâng độ bám căn cứ pháp lý từ 0.41 lên 0.94 — bằng chứng thực nghiệm trực tiếp cho cơ chế in-context learning.</a:t>
            </a:r>
            <a:endParaRPr lang="en-US" sz="1400" dirty="0"/>
          </a:p>
        </p:txBody>
      </p:sp>
      <p:sp>
        <p:nvSpPr>
          <p:cNvPr id="10" name="Shape 8"/>
          <p:cNvSpPr/>
          <p:nvPr/>
        </p:nvSpPr>
        <p:spPr>
          <a:xfrm>
            <a:off x="822960" y="4773168"/>
            <a:ext cx="128016" cy="128016"/>
          </a:xfrm>
          <a:prstGeom prst="ellipse">
            <a:avLst/>
          </a:prstGeom>
          <a:solidFill>
            <a:srgbClr val="B8863B"/>
          </a:solidFill>
          <a:ln/>
        </p:spPr>
      </p:sp>
      <p:sp>
        <p:nvSpPr>
          <p:cNvPr id="11" name="Text 9"/>
          <p:cNvSpPr/>
          <p:nvPr/>
        </p:nvSpPr>
        <p:spPr>
          <a:xfrm>
            <a:off x="1143000" y="466344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Rà soát pipeline bằng đo đạc thực tế (không suy đoán) tìm và sửa 3 lỗi thật, minh chứng giá trị kiểm chứng kỹ thuật độc lập.</a:t>
            </a:r>
            <a:endParaRPr lang="en-US" sz="1400" dirty="0"/>
          </a:p>
        </p:txBody>
      </p:sp>
      <p:sp>
        <p:nvSpPr>
          <p:cNvPr id="12" name="Shape 10"/>
          <p:cNvSpPr/>
          <p:nvPr/>
        </p:nvSpPr>
        <p:spPr>
          <a:xfrm>
            <a:off x="822960" y="5550408"/>
            <a:ext cx="128016" cy="128016"/>
          </a:xfrm>
          <a:prstGeom prst="ellipse">
            <a:avLst/>
          </a:prstGeom>
          <a:solidFill>
            <a:srgbClr val="B8863B"/>
          </a:solidFill>
          <a:ln/>
        </p:spPr>
      </p:sp>
      <p:sp>
        <p:nvSpPr>
          <p:cNvPr id="13" name="Text 11"/>
          <p:cNvSpPr/>
          <p:nvPr/>
        </p:nvSpPr>
        <p:spPr>
          <a:xfrm>
            <a:off x="1143000" y="544068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Phân tích kiến trúc biểu diễn + không gian embedding gắn liền với kết quả truy hồi đo được, không chỉ mô tả lý thuyết suông.</a:t>
            </a:r>
            <a:endParaRPr lang="en-US" sz="1400" dirty="0"/>
          </a:p>
        </p:txBody>
      </p:sp>
      <p:sp>
        <p:nvSpPr>
          <p:cNvPr id="14" name="Text 1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22960" y="2651760"/>
            <a:ext cx="105156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Cảm ơn quý Thầy/Cô</a:t>
            </a:r>
            <a:endParaRPr lang="en-US" sz="4000" dirty="0"/>
          </a:p>
        </p:txBody>
      </p:sp>
      <p:sp>
        <p:nvSpPr>
          <p:cNvPr id="3" name="Text 1"/>
          <p:cNvSpPr/>
          <p:nvPr/>
        </p:nvSpPr>
        <p:spPr>
          <a:xfrm>
            <a:off x="822960" y="3520440"/>
            <a:ext cx="10515600" cy="640080"/>
          </a:xfrm>
          <a:prstGeom prst="rect">
            <a:avLst/>
          </a:prstGeom>
          <a:noFill/>
          <a:ln/>
        </p:spPr>
        <p:txBody>
          <a:bodyPr wrap="square" rtlCol="0" anchor="ctr"/>
          <a:lstStyle/>
          <a:p>
            <a:pPr indent="0" marL="0">
              <a:buNone/>
            </a:pPr>
            <a:r>
              <a:rPr lang="en-US" sz="2000" dirty="0">
                <a:solidFill>
                  <a:srgbClr val="2B6E62"/>
                </a:solidFill>
                <a:latin typeface="Calibri" pitchFamily="34" charset="0"/>
                <a:ea typeface="Calibri" pitchFamily="34" charset="-122"/>
                <a:cs typeface="Calibri" pitchFamily="34" charset="-120"/>
              </a:rPr>
              <a:t>Hỏi &amp; Đáp</a:t>
            </a:r>
            <a:endParaRPr lang="en-US" sz="2000" dirty="0"/>
          </a:p>
        </p:txBody>
      </p:sp>
      <p:sp>
        <p:nvSpPr>
          <p:cNvPr id="4" name="Shape 2"/>
          <p:cNvSpPr/>
          <p:nvPr/>
        </p:nvSpPr>
        <p:spPr>
          <a:xfrm>
            <a:off x="822960" y="4343400"/>
            <a:ext cx="2926080" cy="0"/>
          </a:xfrm>
          <a:prstGeom prst="line">
            <a:avLst/>
          </a:prstGeom>
          <a:noFill/>
          <a:ln w="31750">
            <a:solidFill>
              <a:srgbClr val="2B6E62"/>
            </a:solidFill>
            <a:prstDash val="solid"/>
          </a:ln>
        </p:spPr>
      </p:sp>
      <p:sp>
        <p:nvSpPr>
          <p:cNvPr id="5" name="Text 3"/>
          <p:cNvSpPr/>
          <p:nvPr/>
        </p:nvSpPr>
        <p:spPr>
          <a:xfrm>
            <a:off x="822960" y="4572000"/>
            <a:ext cx="10515600" cy="457200"/>
          </a:xfrm>
          <a:prstGeom prst="rect">
            <a:avLst/>
          </a:prstGeom>
          <a:noFill/>
          <a:ln/>
        </p:spPr>
        <p:txBody>
          <a:bodyPr wrap="square" rtlCol="0" anchor="ctr"/>
          <a:lstStyle/>
          <a:p>
            <a:pPr indent="0" marL="0">
              <a:buNone/>
            </a:pPr>
            <a:r>
              <a:rPr lang="en-US" sz="1400" dirty="0">
                <a:solidFill>
                  <a:srgbClr val="9FB0AB"/>
                </a:solidFill>
                <a:latin typeface="Calibri" pitchFamily="34" charset="0"/>
                <a:ea typeface="Calibri" pitchFamily="34" charset="-122"/>
                <a:cs typeface="Calibri" pitchFamily="34" charset="-120"/>
              </a:rPr>
              <a:t>Nguyễn Đình Đán  •  Nguyễn Văn Vũ  •  Triệu Việt Hoa  •  Hoàng Xuân Sơn  •  Nguyễn Thái Thịnh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2026-08-08T06:31:12Z</dcterms:created>
  <dcterms:modified xsi:type="dcterms:W3CDTF">2026-08-08T06:31:12Z</dcterms:modified>
</cp:coreProperties>
</file>